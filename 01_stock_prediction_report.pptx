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presProps" Target="presProps.xml"  /><Relationship Id="rId2" Type="http://schemas.openxmlformats.org/officeDocument/2006/relationships/notesMaster" Target="notesMasters/notesMaster1.xml"  /><Relationship Id="rId20" Type="http://schemas.openxmlformats.org/officeDocument/2006/relationships/viewProps" Target="viewProps.xml"  /><Relationship Id="rId21" Type="http://schemas.openxmlformats.org/officeDocument/2006/relationships/theme" Target="theme/theme1.xml"  /><Relationship Id="rId22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image" Target="../media/image1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image" Target="../media/image2.jpeg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6.png"  /><Relationship Id="rId6" Type="http://schemas.openxmlformats.org/officeDocument/2006/relationships/slideLayout" Target="../slideLayouts/slideLayout1.xml"  /><Relationship Id="rId7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image" Target="../media/image7.jpeg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Relationship Id="rId6" Type="http://schemas.openxmlformats.org/officeDocument/2006/relationships/slideLayout" Target="../slideLayouts/slideLayout1.xml"  /><Relationship Id="rId7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Relationship Id="rId5" Type="http://schemas.openxmlformats.org/officeDocument/2006/relationships/image" Target="../media/image14.png"  /><Relationship Id="rId6" Type="http://schemas.openxmlformats.org/officeDocument/2006/relationships/image" Target="../media/image15.png"  /><Relationship Id="rId7" Type="http://schemas.openxmlformats.org/officeDocument/2006/relationships/image" Target="../media/image16.png"  /><Relationship Id="rId8" Type="http://schemas.openxmlformats.org/officeDocument/2006/relationships/slideLayout" Target="../slideLayouts/slideLayout1.xml"  /><Relationship Id="rId9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image" Target="../media/image17.jpeg"  /><Relationship Id="rId2" Type="http://schemas.openxmlformats.org/officeDocument/2006/relationships/image" Target="../media/image18.png"  /><Relationship Id="rId3" Type="http://schemas.openxmlformats.org/officeDocument/2006/relationships/image" Target="../media/image19.png"  /><Relationship Id="rId4" Type="http://schemas.openxmlformats.org/officeDocument/2006/relationships/slideLayout" Target="../slideLayouts/slideLayout1.xml"  /><Relationship Id="rId5" Type="http://schemas.openxmlformats.org/officeDocument/2006/relationships/notesSlide" Target="../notesSlides/notesSlide6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image" Target="../media/image20.jpeg"  /><Relationship Id="rId10" Type="http://schemas.openxmlformats.org/officeDocument/2006/relationships/slideLayout" Target="../slideLayouts/slideLayout1.xml"  /><Relationship Id="rId11" Type="http://schemas.openxmlformats.org/officeDocument/2006/relationships/notesSlide" Target="../notesSlides/notesSlide7.xml"  /><Relationship Id="rId2" Type="http://schemas.openxmlformats.org/officeDocument/2006/relationships/image" Target="../media/image21.png"  /><Relationship Id="rId3" Type="http://schemas.openxmlformats.org/officeDocument/2006/relationships/image" Target="../media/image22.png"  /><Relationship Id="rId4" Type="http://schemas.openxmlformats.org/officeDocument/2006/relationships/image" Target="../media/image23.png"  /><Relationship Id="rId5" Type="http://schemas.openxmlformats.org/officeDocument/2006/relationships/image" Target="../media/image24.png"  /><Relationship Id="rId6" Type="http://schemas.openxmlformats.org/officeDocument/2006/relationships/image" Target="../media/image25.png"  /><Relationship Id="rId7" Type="http://schemas.openxmlformats.org/officeDocument/2006/relationships/image" Target="../media/image26.png"  /><Relationship Id="rId8" Type="http://schemas.openxmlformats.org/officeDocument/2006/relationships/image" Target="../media/image27.png"  /><Relationship Id="rId9" Type="http://schemas.openxmlformats.org/officeDocument/2006/relationships/image" Target="../media/image28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image" Target="../media/image29.jpeg"  /><Relationship Id="rId10" Type="http://schemas.openxmlformats.org/officeDocument/2006/relationships/image" Target="../media/image38.png"  /><Relationship Id="rId11" Type="http://schemas.openxmlformats.org/officeDocument/2006/relationships/image" Target="../media/image39.png"  /><Relationship Id="rId12" Type="http://schemas.openxmlformats.org/officeDocument/2006/relationships/image" Target="../media/image40.png"  /><Relationship Id="rId13" Type="http://schemas.openxmlformats.org/officeDocument/2006/relationships/image" Target="../media/image41.png"  /><Relationship Id="rId14" Type="http://schemas.openxmlformats.org/officeDocument/2006/relationships/slideLayout" Target="../slideLayouts/slideLayout1.xml"  /><Relationship Id="rId15" Type="http://schemas.openxmlformats.org/officeDocument/2006/relationships/notesSlide" Target="../notesSlides/notesSlide8.xml"  /><Relationship Id="rId2" Type="http://schemas.openxmlformats.org/officeDocument/2006/relationships/image" Target="../media/image30.png"  /><Relationship Id="rId3" Type="http://schemas.openxmlformats.org/officeDocument/2006/relationships/image" Target="../media/image31.png"  /><Relationship Id="rId4" Type="http://schemas.openxmlformats.org/officeDocument/2006/relationships/image" Target="../media/image32.png"  /><Relationship Id="rId5" Type="http://schemas.openxmlformats.org/officeDocument/2006/relationships/image" Target="../media/image33.png"  /><Relationship Id="rId6" Type="http://schemas.openxmlformats.org/officeDocument/2006/relationships/image" Target="../media/image34.png"  /><Relationship Id="rId7" Type="http://schemas.openxmlformats.org/officeDocument/2006/relationships/image" Target="../media/image35.png"  /><Relationship Id="rId8" Type="http://schemas.openxmlformats.org/officeDocument/2006/relationships/image" Target="../media/image36.png"  /><Relationship Id="rId9" Type="http://schemas.openxmlformats.org/officeDocument/2006/relationships/image" Target="../media/image37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10" Type="http://schemas.openxmlformats.org/officeDocument/2006/relationships/image" Target="../media/image49.png"  /><Relationship Id="rId11" Type="http://schemas.openxmlformats.org/officeDocument/2006/relationships/image" Target="../media/image50.png"  /><Relationship Id="rId12" Type="http://schemas.openxmlformats.org/officeDocument/2006/relationships/image" Target="../media/image51.png"  /><Relationship Id="rId13" Type="http://schemas.openxmlformats.org/officeDocument/2006/relationships/image" Target="../media/image52.png"  /><Relationship Id="rId14" Type="http://schemas.openxmlformats.org/officeDocument/2006/relationships/slideLayout" Target="../slideLayouts/slideLayout1.xml"  /><Relationship Id="rId15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2.png"  /><Relationship Id="rId4" Type="http://schemas.openxmlformats.org/officeDocument/2006/relationships/image" Target="../media/image43.png"  /><Relationship Id="rId5" Type="http://schemas.openxmlformats.org/officeDocument/2006/relationships/image" Target="../media/image44.png"  /><Relationship Id="rId6" Type="http://schemas.openxmlformats.org/officeDocument/2006/relationships/image" Target="../media/image45.png"  /><Relationship Id="rId7" Type="http://schemas.openxmlformats.org/officeDocument/2006/relationships/image" Target="../media/image46.png"  /><Relationship Id="rId8" Type="http://schemas.openxmlformats.org/officeDocument/2006/relationships/image" Target="../media/image47.png"  /><Relationship Id="rId9" Type="http://schemas.openxmlformats.org/officeDocument/2006/relationships/image" Target="../media/image48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10" Type="http://schemas.openxmlformats.org/officeDocument/2006/relationships/image" Target="../media/image60.png"  /><Relationship Id="rId11" Type="http://schemas.openxmlformats.org/officeDocument/2006/relationships/slideLayout" Target="../slideLayouts/slideLayout1.xml"  /><Relationship Id="rId12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3.png"  /><Relationship Id="rId4" Type="http://schemas.openxmlformats.org/officeDocument/2006/relationships/image" Target="../media/image54.png"  /><Relationship Id="rId5" Type="http://schemas.openxmlformats.org/officeDocument/2006/relationships/image" Target="../media/image55.png"  /><Relationship Id="rId6" Type="http://schemas.openxmlformats.org/officeDocument/2006/relationships/image" Target="../media/image56.png"  /><Relationship Id="rId7" Type="http://schemas.openxmlformats.org/officeDocument/2006/relationships/image" Target="../media/image57.png"  /><Relationship Id="rId8" Type="http://schemas.openxmlformats.org/officeDocument/2006/relationships/image" Target="../media/image58.png"  /><Relationship Id="rId9" Type="http://schemas.openxmlformats.org/officeDocument/2006/relationships/image" Target="../media/image59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image" Target="../media/image61.jpeg"  /><Relationship Id="rId2" Type="http://schemas.openxmlformats.org/officeDocument/2006/relationships/image" Target="../media/image62.png"  /><Relationship Id="rId3" Type="http://schemas.openxmlformats.org/officeDocument/2006/relationships/image" Target="../media/image63.png"  /><Relationship Id="rId4" Type="http://schemas.openxmlformats.org/officeDocument/2006/relationships/image" Target="../media/image64.png"  /><Relationship Id="rId5" Type="http://schemas.openxmlformats.org/officeDocument/2006/relationships/image" Target="../media/image65.png"  /><Relationship Id="rId6" Type="http://schemas.openxmlformats.org/officeDocument/2006/relationships/slideLayout" Target="../slideLayouts/slideLayout1.xml"  /><Relationship Id="rId7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image" Target="../media/image66.jpeg"  /><Relationship Id="rId2" Type="http://schemas.openxmlformats.org/officeDocument/2006/relationships/image" Target="../media/image67.png"  /><Relationship Id="rId3" Type="http://schemas.openxmlformats.org/officeDocument/2006/relationships/image" Target="../media/image68.png"  /><Relationship Id="rId4" Type="http://schemas.openxmlformats.org/officeDocument/2006/relationships/image" Target="../media/image69.png"  /><Relationship Id="rId5" Type="http://schemas.openxmlformats.org/officeDocument/2006/relationships/image" Target="../media/image70.png"  /><Relationship Id="rId6" Type="http://schemas.openxmlformats.org/officeDocument/2006/relationships/image" Target="../media/image71.png"  /><Relationship Id="rId7" Type="http://schemas.openxmlformats.org/officeDocument/2006/relationships/slideLayout" Target="../slideLayouts/slideLayout1.xml"  /><Relationship Id="rId8" Type="http://schemas.openxmlformats.org/officeDocument/2006/relationships/notesSlide" Target="../notesSlides/notesSlide1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image" Target="../media/image72.jpeg"  /><Relationship Id="rId2" Type="http://schemas.openxmlformats.org/officeDocument/2006/relationships/image" Target="../media/image73.png"  /><Relationship Id="rId3" Type="http://schemas.openxmlformats.org/officeDocument/2006/relationships/image" Target="../media/image74.png"  /><Relationship Id="rId4" Type="http://schemas.openxmlformats.org/officeDocument/2006/relationships/image" Target="../media/image75.png"  /><Relationship Id="rId5" Type="http://schemas.openxmlformats.org/officeDocument/2006/relationships/image" Target="../media/image76.png"  /><Relationship Id="rId6" Type="http://schemas.openxmlformats.org/officeDocument/2006/relationships/image" Target="../media/image77.png"  /><Relationship Id="rId7" Type="http://schemas.openxmlformats.org/officeDocument/2006/relationships/image" Target="../media/image78.png"  /><Relationship Id="rId8" Type="http://schemas.openxmlformats.org/officeDocument/2006/relationships/slideLayout" Target="../slideLayouts/slideLayout1.xml"  /><Relationship Id="rId9" Type="http://schemas.openxmlformats.org/officeDocument/2006/relationships/notesSlide" Target="../notesSlides/notesSlide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image" Target="../media/image79.jpeg"  /><Relationship Id="rId2" Type="http://schemas.openxmlformats.org/officeDocument/2006/relationships/image" Target="../media/image80.png"  /><Relationship Id="rId3" Type="http://schemas.openxmlformats.org/officeDocument/2006/relationships/image" Target="../media/image81.png"  /><Relationship Id="rId4" Type="http://schemas.openxmlformats.org/officeDocument/2006/relationships/image" Target="../media/image82.png"  /><Relationship Id="rId5" Type="http://schemas.openxmlformats.org/officeDocument/2006/relationships/image" Target="../media/image83.png"  /><Relationship Id="rId6" Type="http://schemas.openxmlformats.org/officeDocument/2006/relationships/slideLayout" Target="../slideLayouts/slideLayout1.xml"  /><Relationship Id="rId7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image" Target="../media/image84.jpeg"  /><Relationship Id="rId10" Type="http://schemas.openxmlformats.org/officeDocument/2006/relationships/image" Target="../media/image93.png"  /><Relationship Id="rId11" Type="http://schemas.openxmlformats.org/officeDocument/2006/relationships/slideLayout" Target="../slideLayouts/slideLayout1.xml"  /><Relationship Id="rId12" Type="http://schemas.openxmlformats.org/officeDocument/2006/relationships/notesSlide" Target="../notesSlides/notesSlide15.xml"  /><Relationship Id="rId2" Type="http://schemas.openxmlformats.org/officeDocument/2006/relationships/image" Target="../media/image85.png"  /><Relationship Id="rId3" Type="http://schemas.openxmlformats.org/officeDocument/2006/relationships/image" Target="../media/image86.png"  /><Relationship Id="rId4" Type="http://schemas.openxmlformats.org/officeDocument/2006/relationships/image" Target="../media/image87.png"  /><Relationship Id="rId5" Type="http://schemas.openxmlformats.org/officeDocument/2006/relationships/image" Target="../media/image88.png"  /><Relationship Id="rId6" Type="http://schemas.openxmlformats.org/officeDocument/2006/relationships/image" Target="../media/image89.png"  /><Relationship Id="rId7" Type="http://schemas.openxmlformats.org/officeDocument/2006/relationships/image" Target="../media/image90.png"  /><Relationship Id="rId8" Type="http://schemas.openxmlformats.org/officeDocument/2006/relationships/image" Target="../media/image91.png"  /><Relationship Id="rId9" Type="http://schemas.openxmlformats.org/officeDocument/2006/relationships/image" Target="../media/image92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image" Target="../media/image94.jpeg"  /><Relationship Id="rId2" Type="http://schemas.openxmlformats.org/officeDocument/2006/relationships/image" Target="../media/image95.png"  /><Relationship Id="rId3" Type="http://schemas.openxmlformats.org/officeDocument/2006/relationships/image" Target="../media/image96.png"  /><Relationship Id="rId4" Type="http://schemas.openxmlformats.org/officeDocument/2006/relationships/image" Target="../media/image97.png"  /><Relationship Id="rId5" Type="http://schemas.openxmlformats.org/officeDocument/2006/relationships/image" Target="../media/image98.png"  /><Relationship Id="rId6" Type="http://schemas.openxmlformats.org/officeDocument/2006/relationships/image" Target="../media/image99.png"  /><Relationship Id="rId7" Type="http://schemas.openxmlformats.org/officeDocument/2006/relationships/slideLayout" Target="../slideLayouts/slideLayout1.xml"  /><Relationship Id="rId8" Type="http://schemas.openxmlformats.org/officeDocument/2006/relationships/notesSlide" Target="../notesSlides/notesSlide16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0125" y="1183909"/>
            <a:ext cx="7143750" cy="5486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주식 등락률 예측 AI 모델 개발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275452"/>
            <a:ext cx="714375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 / KOSDAQ 전 종목 대상</a:t>
            </a:r>
            <a:r>
              <a:rPr lang="en-US" sz="150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150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 · Random Forest · XGBoost 비교 분석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080617" y="3218427"/>
            <a:ext cx="923330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080617" y="3218427"/>
            <a:ext cx="923330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데이터 수집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111103" y="3218427"/>
            <a:ext cx="923330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111103" y="3218427"/>
            <a:ext cx="923330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기술적 지표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141589" y="3218427"/>
            <a:ext cx="653653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41589" y="3218427"/>
            <a:ext cx="653653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딥러닝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902398" y="3218427"/>
            <a:ext cx="771525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02398" y="3218427"/>
            <a:ext cx="771525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백테스팅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781080" y="3218427"/>
            <a:ext cx="1253728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81080" y="3218427"/>
            <a:ext cx="1253728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2025년 실전 검증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0" y="4702373"/>
            <a:ext cx="9144000" cy="12680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marL="0" indent="0" algn="ctr">
              <a:buNone/>
              <a:defRPr/>
            </a:pP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목차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571500" y="1032272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of Contents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71500" y="2578224"/>
            <a:ext cx="2571750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KOSPI / KOSDAQ 전 종목 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대상</a:t>
            </a:r>
            <a:r>
              <a:rPr lang="en-US" sz="150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AI 예측 모델 개발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의</a:t>
            </a:r>
            <a:r>
              <a:rPr lang="en-US" sz="150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전체 과정을 소개합니다.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429000" y="1826121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71913" y="1826121"/>
            <a:ext cx="1703784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71913" y="2086868"/>
            <a:ext cx="17037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연구 배경 · 목적 · 데이터 범위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115050" y="1826121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57963" y="1826121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기술 스택 &amp; 아키텍처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57963" y="2086868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수집 파이프라인 · 특성 공학 · 모델 구조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429000" y="2558355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871913" y="2558355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하이퍼파라미터 탐색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71913" y="2819102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 유닛 / RF 트리 수 / XGB 라운드 최적화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115050" y="2558355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57963" y="2558355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모델 성능 비교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57963" y="2819102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· RMSE · 방향 정확도 3-way 비교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3290590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871913" y="3290590"/>
            <a:ext cx="1978819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2025년 실전 검증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871913" y="3551337"/>
            <a:ext cx="19788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 외 데이터로 일반화 성능 측정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115050" y="3290590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57963" y="3290590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백테스팅 결과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57963" y="3551337"/>
            <a:ext cx="2014538" cy="32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신호 기반 전략 vs Buy-Hold · MDD · Sharpe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429000" y="4006751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871913" y="4006751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한계 및 개선 방향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3871913" y="4267498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· 데이터 편향 · 비정형 정보 부재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890147" y="4793456"/>
            <a:ext cx="1682353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2 / 17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 프로젝트 개요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Overview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344811"/>
            <a:ext cx="1214438" cy="9140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2,731개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전체 수집 종목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1928813" y="1344811"/>
            <a:ext cx="1214438" cy="9140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1928813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1" name="Text 8"/>
          <p:cNvSpPr/>
          <p:nvPr/>
        </p:nvSpPr>
        <p:spPr>
          <a:xfrm>
            <a:off x="2043113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200개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043113" y="1814513"/>
            <a:ext cx="9858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학습 종목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(층화 샘플링)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286125" y="1344811"/>
            <a:ext cx="1214438" cy="9140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286125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5" name="Text 12"/>
          <p:cNvSpPr/>
          <p:nvPr/>
        </p:nvSpPr>
        <p:spPr>
          <a:xfrm>
            <a:off x="3400425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4구간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00425" y="1814513"/>
            <a:ext cx="9858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시총 구간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(각 50종목)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643438" y="1344811"/>
            <a:ext cx="1214438" cy="892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4643438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9" name="Text 16"/>
          <p:cNvSpPr/>
          <p:nvPr/>
        </p:nvSpPr>
        <p:spPr>
          <a:xfrm>
            <a:off x="4757738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11개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757738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기술적 특성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6000750" y="1344811"/>
            <a:ext cx="1214438" cy="892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000750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3" name="Text 20"/>
          <p:cNvSpPr/>
          <p:nvPr/>
        </p:nvSpPr>
        <p:spPr>
          <a:xfrm>
            <a:off x="6115050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60일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15050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입력 시퀀스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7358063" y="1344811"/>
            <a:ext cx="1214438" cy="892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358063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7" name="Text 24"/>
          <p:cNvSpPr/>
          <p:nvPr/>
        </p:nvSpPr>
        <p:spPr>
          <a:xfrm>
            <a:off x="7472363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1년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472363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2025 실전 검증</a:t>
            </a:r>
            <a:endParaRPr lang="en-US" sz="7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79384"/>
            <a:ext cx="157163" cy="157163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85813" y="2451702"/>
            <a:ext cx="66794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연구 목적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71500" y="2778528"/>
            <a:ext cx="3857625" cy="36572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2,700여 종목 전체 수집 후 시총 구간별 층화 샘플링으로 200종목 선정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571500" y="3229980"/>
            <a:ext cx="3857625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종목 분석 한계 극복 → 규모별 다양한 패턴 학습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571500" y="3498568"/>
            <a:ext cx="3857625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 · RF · XGBoost 3개 모델을 동일 조건에서 비교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571500" y="3767156"/>
            <a:ext cx="3857625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2025년 Out-of-Sample 검증으로 일반화 성능 측정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571500" y="277852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71500" y="3229980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571500" y="349856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571500" y="3767156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5" y="2479384"/>
            <a:ext cx="176808" cy="157163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4948833" y="2451702"/>
            <a:ext cx="145375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프로젝트 파이프라인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4714875" y="2778528"/>
            <a:ext cx="3857625" cy="400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37"/>
          <p:cNvSpPr/>
          <p:nvPr/>
        </p:nvSpPr>
        <p:spPr>
          <a:xfrm>
            <a:off x="4857750" y="2864253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43" name="Text 38"/>
          <p:cNvSpPr/>
          <p:nvPr/>
        </p:nvSpPr>
        <p:spPr>
          <a:xfrm>
            <a:off x="4857750" y="286425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5200650" y="2900865"/>
            <a:ext cx="123229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데이터 수집 (2,731종목)</a:t>
            </a:r>
            <a:endParaRPr lang="en-US" sz="850" dirty="0"/>
          </a:p>
        </p:txBody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2114" y="2928547"/>
            <a:ext cx="87511" cy="100013"/>
          </a:xfrm>
          <a:prstGeom prst="rect">
            <a:avLst/>
          </a:prstGeom>
        </p:spPr>
      </p:pic>
      <p:sp>
        <p:nvSpPr>
          <p:cNvPr id="46" name="Shape 40"/>
          <p:cNvSpPr/>
          <p:nvPr/>
        </p:nvSpPr>
        <p:spPr>
          <a:xfrm>
            <a:off x="4714875" y="3264303"/>
            <a:ext cx="3857625" cy="400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1"/>
          <p:cNvSpPr/>
          <p:nvPr/>
        </p:nvSpPr>
        <p:spPr>
          <a:xfrm>
            <a:off x="4857750" y="3350028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48" name="Text 42"/>
          <p:cNvSpPr/>
          <p:nvPr/>
        </p:nvSpPr>
        <p:spPr>
          <a:xfrm>
            <a:off x="4857750" y="3350028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800" dirty="0"/>
          </a:p>
        </p:txBody>
      </p:sp>
      <p:sp>
        <p:nvSpPr>
          <p:cNvPr id="49" name="Text 43"/>
          <p:cNvSpPr/>
          <p:nvPr/>
        </p:nvSpPr>
        <p:spPr>
          <a:xfrm>
            <a:off x="5200650" y="3386640"/>
            <a:ext cx="142160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층화 샘플링 (200종목 선정)</a:t>
            </a:r>
            <a:endParaRPr lang="en-US" sz="850" dirty="0"/>
          </a:p>
        </p:txBody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2114" y="3414322"/>
            <a:ext cx="87511" cy="100013"/>
          </a:xfrm>
          <a:prstGeom prst="rect">
            <a:avLst/>
          </a:prstGeom>
        </p:spPr>
      </p:pic>
      <p:sp>
        <p:nvSpPr>
          <p:cNvPr id="51" name="Shape 44"/>
          <p:cNvSpPr/>
          <p:nvPr/>
        </p:nvSpPr>
        <p:spPr>
          <a:xfrm>
            <a:off x="4714875" y="3750078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5"/>
          <p:cNvSpPr/>
          <p:nvPr/>
        </p:nvSpPr>
        <p:spPr>
          <a:xfrm>
            <a:off x="4857750" y="3835803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53" name="Text 46"/>
          <p:cNvSpPr/>
          <p:nvPr/>
        </p:nvSpPr>
        <p:spPr>
          <a:xfrm>
            <a:off x="4857750" y="383580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800" dirty="0"/>
          </a:p>
        </p:txBody>
      </p:sp>
      <p:sp>
        <p:nvSpPr>
          <p:cNvPr id="54" name="Text 47"/>
          <p:cNvSpPr/>
          <p:nvPr/>
        </p:nvSpPr>
        <p:spPr>
          <a:xfrm>
            <a:off x="5200650" y="3872415"/>
            <a:ext cx="57507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LSTM 학습</a:t>
            </a:r>
            <a:endParaRPr lang="en-US" sz="850" dirty="0"/>
          </a:p>
        </p:txBody>
      </p:sp>
      <p:sp>
        <p:nvSpPr>
          <p:cNvPr id="55" name="Shape 48"/>
          <p:cNvSpPr/>
          <p:nvPr/>
        </p:nvSpPr>
        <p:spPr>
          <a:xfrm>
            <a:off x="6679406" y="3750078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49"/>
          <p:cNvSpPr/>
          <p:nvPr/>
        </p:nvSpPr>
        <p:spPr>
          <a:xfrm>
            <a:off x="6822281" y="3835803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57" name="Text 50"/>
          <p:cNvSpPr/>
          <p:nvPr/>
        </p:nvSpPr>
        <p:spPr>
          <a:xfrm>
            <a:off x="6822281" y="383580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800" dirty="0"/>
          </a:p>
        </p:txBody>
      </p:sp>
      <p:sp>
        <p:nvSpPr>
          <p:cNvPr id="58" name="Text 51"/>
          <p:cNvSpPr/>
          <p:nvPr/>
        </p:nvSpPr>
        <p:spPr>
          <a:xfrm>
            <a:off x="7165181" y="3872415"/>
            <a:ext cx="97869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RF / XGBoost 비교</a:t>
            </a:r>
            <a:endParaRPr lang="en-US" sz="850" dirty="0"/>
          </a:p>
        </p:txBody>
      </p:sp>
      <p:sp>
        <p:nvSpPr>
          <p:cNvPr id="59" name="Shape 52"/>
          <p:cNvSpPr/>
          <p:nvPr/>
        </p:nvSpPr>
        <p:spPr>
          <a:xfrm>
            <a:off x="4714875" y="4235853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3"/>
          <p:cNvSpPr/>
          <p:nvPr/>
        </p:nvSpPr>
        <p:spPr>
          <a:xfrm>
            <a:off x="4857750" y="4321578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61" name="Text 54"/>
          <p:cNvSpPr/>
          <p:nvPr/>
        </p:nvSpPr>
        <p:spPr>
          <a:xfrm>
            <a:off x="4857750" y="4321578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5200650" y="4358190"/>
            <a:ext cx="71616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백테스팅 검증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6679406" y="4235853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hape 57"/>
          <p:cNvSpPr/>
          <p:nvPr/>
        </p:nvSpPr>
        <p:spPr>
          <a:xfrm>
            <a:off x="6822281" y="4321578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65" name="Text 58"/>
          <p:cNvSpPr/>
          <p:nvPr/>
        </p:nvSpPr>
        <p:spPr>
          <a:xfrm>
            <a:off x="6822281" y="4321578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7165181" y="4358190"/>
            <a:ext cx="9144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2025년 실전 검증</a:t>
            </a:r>
            <a:endParaRPr lang="en-US" sz="850" dirty="0"/>
          </a:p>
        </p:txBody>
      </p:sp>
      <p:sp>
        <p:nvSpPr>
          <p:cNvPr id="67" name="Text 60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3 / 17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기술 스택 &amp; 아키텍처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 Stack &amp; Architecture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416248"/>
            <a:ext cx="1871663" cy="36861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416248"/>
            <a:ext cx="1871663" cy="28575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817" y="1655564"/>
            <a:ext cx="225028" cy="2571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2950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데이터 수집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42950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10" name="Text 6"/>
          <p:cNvSpPr/>
          <p:nvPr/>
        </p:nvSpPr>
        <p:spPr>
          <a:xfrm>
            <a:off x="857250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FinanceDataReader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857250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 / KOSDAQ 전 종목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857250" y="2973586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2019-01-01 ~ 2024-12-31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857250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857250" y="298787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15" name="Text 11"/>
          <p:cNvSpPr/>
          <p:nvPr/>
        </p:nvSpPr>
        <p:spPr>
          <a:xfrm>
            <a:off x="742950" y="326648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16" name="Text 12"/>
          <p:cNvSpPr/>
          <p:nvPr/>
        </p:nvSpPr>
        <p:spPr>
          <a:xfrm>
            <a:off x="857250" y="323790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ThreadPoolExecutor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857250" y="344150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병렬 다운로드로 속도 최적화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857250" y="3455789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19" name="Text 15"/>
          <p:cNvSpPr/>
          <p:nvPr/>
        </p:nvSpPr>
        <p:spPr>
          <a:xfrm>
            <a:off x="742950" y="3734395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20" name="Text 16"/>
          <p:cNvSpPr/>
          <p:nvPr/>
        </p:nvSpPr>
        <p:spPr>
          <a:xfrm>
            <a:off x="857250" y="3705820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Parquet 포맷 캐싱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857250" y="3909417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고속 I/O 및 용량 절감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2614613" y="1416248"/>
            <a:ext cx="1871663" cy="36861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19"/>
          <p:cNvSpPr/>
          <p:nvPr/>
        </p:nvSpPr>
        <p:spPr>
          <a:xfrm>
            <a:off x="2614613" y="1416248"/>
            <a:ext cx="1871663" cy="28575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0"/>
          <p:cNvSpPr/>
          <p:nvPr/>
        </p:nvSpPr>
        <p:spPr>
          <a:xfrm>
            <a:off x="857250" y="392370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856" y="1655564"/>
            <a:ext cx="257175" cy="25717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786063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종목 선정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2786063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28" name="Text 23"/>
          <p:cNvSpPr/>
          <p:nvPr/>
        </p:nvSpPr>
        <p:spPr>
          <a:xfrm>
            <a:off x="2900363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층화 샘플링 (Stratified)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900363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시총 기준 4분위 구간 분류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2900363" y="2973586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대형/중대형/중소형/소형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2900363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2" name="Text 27"/>
          <p:cNvSpPr/>
          <p:nvPr/>
        </p:nvSpPr>
        <p:spPr>
          <a:xfrm>
            <a:off x="2900363" y="298787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3" name="Text 28"/>
          <p:cNvSpPr/>
          <p:nvPr/>
        </p:nvSpPr>
        <p:spPr>
          <a:xfrm>
            <a:off x="2786063" y="326648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34" name="Text 29"/>
          <p:cNvSpPr/>
          <p:nvPr/>
        </p:nvSpPr>
        <p:spPr>
          <a:xfrm>
            <a:off x="2900363" y="323790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200종목 무작위 추출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2900363" y="344150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구간별 50종목 선택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2900363" y="3620095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random_state=42 고정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2900363" y="3455789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8" name="Text 33"/>
          <p:cNvSpPr/>
          <p:nvPr/>
        </p:nvSpPr>
        <p:spPr>
          <a:xfrm>
            <a:off x="2900363" y="363438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9" name="Text 34"/>
          <p:cNvSpPr/>
          <p:nvPr/>
        </p:nvSpPr>
        <p:spPr>
          <a:xfrm>
            <a:off x="2786063" y="3912989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40" name="Text 35"/>
          <p:cNvSpPr/>
          <p:nvPr/>
        </p:nvSpPr>
        <p:spPr>
          <a:xfrm>
            <a:off x="2900363" y="3884414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시장 대표성 확보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2900363" y="4088011"/>
            <a:ext cx="1414463" cy="300038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전체 시장 규모 분포 균등 반영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4657725" y="1416248"/>
            <a:ext cx="1871663" cy="36861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38"/>
          <p:cNvSpPr/>
          <p:nvPr/>
        </p:nvSpPr>
        <p:spPr>
          <a:xfrm>
            <a:off x="4657725" y="1416248"/>
            <a:ext cx="1871663" cy="28575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44" name="Text 39"/>
          <p:cNvSpPr/>
          <p:nvPr/>
        </p:nvSpPr>
        <p:spPr>
          <a:xfrm>
            <a:off x="2900363" y="4102298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4969" y="1655564"/>
            <a:ext cx="257175" cy="257175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4829175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모델</a:t>
            </a: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4829175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48" name="Text 42"/>
          <p:cNvSpPr/>
          <p:nvPr/>
        </p:nvSpPr>
        <p:spPr>
          <a:xfrm>
            <a:off x="4943475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(Deep Learning)</a:t>
            </a:r>
            <a:endParaRPr lang="en-US" sz="750" dirty="0"/>
          </a:p>
        </p:txBody>
      </p:sp>
      <p:sp>
        <p:nvSpPr>
          <p:cNvPr id="49" name="Text 43"/>
          <p:cNvSpPr/>
          <p:nvPr/>
        </p:nvSpPr>
        <p:spPr>
          <a:xfrm>
            <a:off x="4943475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3층 (128-64-32 유닛)</a:t>
            </a:r>
            <a:endParaRPr lang="en-US" sz="750" dirty="0"/>
          </a:p>
        </p:txBody>
      </p:sp>
      <p:sp>
        <p:nvSpPr>
          <p:cNvPr id="50" name="Text 44"/>
          <p:cNvSpPr/>
          <p:nvPr/>
        </p:nvSpPr>
        <p:spPr>
          <a:xfrm>
            <a:off x="4943475" y="2973586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 + Dropout</a:t>
            </a:r>
            <a:endParaRPr lang="en-US" sz="750" dirty="0"/>
          </a:p>
        </p:txBody>
      </p:sp>
      <p:sp>
        <p:nvSpPr>
          <p:cNvPr id="51" name="Text 45"/>
          <p:cNvSpPr/>
          <p:nvPr/>
        </p:nvSpPr>
        <p:spPr>
          <a:xfrm>
            <a:off x="4943475" y="3152180"/>
            <a:ext cx="1414463" cy="300038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Huber Loss · Adam(lr=0.001)</a:t>
            </a:r>
            <a:endParaRPr lang="en-US" sz="750" dirty="0"/>
          </a:p>
        </p:txBody>
      </p:sp>
      <p:sp>
        <p:nvSpPr>
          <p:cNvPr id="52" name="Text 46"/>
          <p:cNvSpPr/>
          <p:nvPr/>
        </p:nvSpPr>
        <p:spPr>
          <a:xfrm>
            <a:off x="4943475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53" name="Text 47"/>
          <p:cNvSpPr/>
          <p:nvPr/>
        </p:nvSpPr>
        <p:spPr>
          <a:xfrm>
            <a:off x="4943475" y="298787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54" name="Text 48"/>
          <p:cNvSpPr/>
          <p:nvPr/>
        </p:nvSpPr>
        <p:spPr>
          <a:xfrm>
            <a:off x="4943475" y="3166467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55" name="Text 49"/>
          <p:cNvSpPr/>
          <p:nvPr/>
        </p:nvSpPr>
        <p:spPr>
          <a:xfrm>
            <a:off x="4829175" y="3595092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6" name="Text 50"/>
          <p:cNvSpPr/>
          <p:nvPr/>
        </p:nvSpPr>
        <p:spPr>
          <a:xfrm>
            <a:off x="4943475" y="3566517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RandomForest</a:t>
            </a:r>
            <a:endParaRPr lang="en-US" sz="750" dirty="0"/>
          </a:p>
        </p:txBody>
      </p:sp>
      <p:sp>
        <p:nvSpPr>
          <p:cNvPr id="57" name="Text 51"/>
          <p:cNvSpPr/>
          <p:nvPr/>
        </p:nvSpPr>
        <p:spPr>
          <a:xfrm>
            <a:off x="4943475" y="3770114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n_estimators=300</a:t>
            </a:r>
            <a:endParaRPr lang="en-US" sz="750" dirty="0"/>
          </a:p>
        </p:txBody>
      </p:sp>
      <p:sp>
        <p:nvSpPr>
          <p:cNvPr id="58" name="Text 52"/>
          <p:cNvSpPr/>
          <p:nvPr/>
        </p:nvSpPr>
        <p:spPr>
          <a:xfrm>
            <a:off x="4943475" y="3948708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max_depth=8</a:t>
            </a:r>
            <a:endParaRPr lang="en-US" sz="750" dirty="0"/>
          </a:p>
        </p:txBody>
      </p:sp>
      <p:sp>
        <p:nvSpPr>
          <p:cNvPr id="59" name="Text 53"/>
          <p:cNvSpPr/>
          <p:nvPr/>
        </p:nvSpPr>
        <p:spPr>
          <a:xfrm>
            <a:off x="4943475" y="3784402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60" name="Text 54"/>
          <p:cNvSpPr/>
          <p:nvPr/>
        </p:nvSpPr>
        <p:spPr>
          <a:xfrm>
            <a:off x="4943475" y="396299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61" name="Text 55"/>
          <p:cNvSpPr/>
          <p:nvPr/>
        </p:nvSpPr>
        <p:spPr>
          <a:xfrm>
            <a:off x="4829175" y="4241602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62" name="Text 56"/>
          <p:cNvSpPr/>
          <p:nvPr/>
        </p:nvSpPr>
        <p:spPr>
          <a:xfrm>
            <a:off x="4943475" y="4213027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XGBoost</a:t>
            </a:r>
            <a:endParaRPr lang="en-US" sz="750" dirty="0"/>
          </a:p>
        </p:txBody>
      </p:sp>
      <p:sp>
        <p:nvSpPr>
          <p:cNvPr id="63" name="Text 57"/>
          <p:cNvSpPr/>
          <p:nvPr/>
        </p:nvSpPr>
        <p:spPr>
          <a:xfrm>
            <a:off x="4943475" y="4416623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n_estimators=500</a:t>
            </a:r>
            <a:endParaRPr lang="en-US" sz="750" dirty="0"/>
          </a:p>
        </p:txBody>
      </p:sp>
      <p:sp>
        <p:nvSpPr>
          <p:cNvPr id="64" name="Text 58"/>
          <p:cNvSpPr/>
          <p:nvPr/>
        </p:nvSpPr>
        <p:spPr>
          <a:xfrm>
            <a:off x="4943475" y="4595217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learning_rate=0.05</a:t>
            </a:r>
            <a:endParaRPr lang="en-US" sz="750" dirty="0"/>
          </a:p>
        </p:txBody>
      </p:sp>
      <p:sp>
        <p:nvSpPr>
          <p:cNvPr id="65" name="Shape 59"/>
          <p:cNvSpPr/>
          <p:nvPr/>
        </p:nvSpPr>
        <p:spPr>
          <a:xfrm>
            <a:off x="6700838" y="1416248"/>
            <a:ext cx="1871663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0"/>
          <p:cNvSpPr/>
          <p:nvPr/>
        </p:nvSpPr>
        <p:spPr>
          <a:xfrm>
            <a:off x="6700838" y="1416248"/>
            <a:ext cx="1871663" cy="28575"/>
          </a:xfrm>
          <a:prstGeom prst="rect">
            <a:avLst/>
          </a:prstGeom>
          <a:solidFill>
            <a:srgbClr val="8892B0"/>
          </a:solidFill>
          <a:ln/>
        </p:spPr>
      </p:sp>
      <p:sp>
        <p:nvSpPr>
          <p:cNvPr id="67" name="Text 61"/>
          <p:cNvSpPr/>
          <p:nvPr/>
        </p:nvSpPr>
        <p:spPr>
          <a:xfrm>
            <a:off x="4943475" y="4430911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68" name="Text 62"/>
          <p:cNvSpPr/>
          <p:nvPr/>
        </p:nvSpPr>
        <p:spPr>
          <a:xfrm>
            <a:off x="4943475" y="460950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pic>
        <p:nvPicPr>
          <p:cNvPr id="6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081" y="1655564"/>
            <a:ext cx="257175" cy="257175"/>
          </a:xfrm>
          <a:prstGeom prst="rect">
            <a:avLst/>
          </a:prstGeom>
        </p:spPr>
      </p:pic>
      <p:sp>
        <p:nvSpPr>
          <p:cNvPr id="70" name="Text 63"/>
          <p:cNvSpPr/>
          <p:nvPr/>
        </p:nvSpPr>
        <p:spPr>
          <a:xfrm>
            <a:off x="6872288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검증 &amp; 분석</a:t>
            </a:r>
            <a:endParaRPr lang="en-US" sz="1100" dirty="0"/>
          </a:p>
        </p:txBody>
      </p:sp>
      <p:sp>
        <p:nvSpPr>
          <p:cNvPr id="71" name="Text 64"/>
          <p:cNvSpPr/>
          <p:nvPr/>
        </p:nvSpPr>
        <p:spPr>
          <a:xfrm>
            <a:off x="6872288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72" name="Text 65"/>
          <p:cNvSpPr/>
          <p:nvPr/>
        </p:nvSpPr>
        <p:spPr>
          <a:xfrm>
            <a:off x="6986588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데이터 분리</a:t>
            </a:r>
            <a:endParaRPr lang="en-US" sz="750" dirty="0"/>
          </a:p>
        </p:txBody>
      </p:sp>
      <p:sp>
        <p:nvSpPr>
          <p:cNvPr id="73" name="Text 66"/>
          <p:cNvSpPr/>
          <p:nvPr/>
        </p:nvSpPr>
        <p:spPr>
          <a:xfrm>
            <a:off x="6986588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Train(2019-24) / Test(2025)</a:t>
            </a:r>
            <a:endParaRPr lang="en-US" sz="750" dirty="0"/>
          </a:p>
        </p:txBody>
      </p:sp>
      <p:sp>
        <p:nvSpPr>
          <p:cNvPr id="74" name="Text 67"/>
          <p:cNvSpPr/>
          <p:nvPr/>
        </p:nvSpPr>
        <p:spPr>
          <a:xfrm>
            <a:off x="6986588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75" name="Text 68"/>
          <p:cNvSpPr/>
          <p:nvPr/>
        </p:nvSpPr>
        <p:spPr>
          <a:xfrm>
            <a:off x="6872288" y="3087886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76" name="Text 69"/>
          <p:cNvSpPr/>
          <p:nvPr/>
        </p:nvSpPr>
        <p:spPr>
          <a:xfrm>
            <a:off x="6986588" y="3059311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평가 지표</a:t>
            </a:r>
            <a:endParaRPr lang="en-US" sz="750" dirty="0"/>
          </a:p>
        </p:txBody>
      </p:sp>
      <p:sp>
        <p:nvSpPr>
          <p:cNvPr id="77" name="Text 70"/>
          <p:cNvSpPr/>
          <p:nvPr/>
        </p:nvSpPr>
        <p:spPr>
          <a:xfrm>
            <a:off x="6986588" y="3262908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· RMSE · 방향 정확도</a:t>
            </a:r>
            <a:endParaRPr lang="en-US" sz="750" dirty="0"/>
          </a:p>
        </p:txBody>
      </p:sp>
      <p:sp>
        <p:nvSpPr>
          <p:cNvPr id="78" name="Text 71"/>
          <p:cNvSpPr/>
          <p:nvPr/>
        </p:nvSpPr>
        <p:spPr>
          <a:xfrm>
            <a:off x="6986588" y="327719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79" name="Text 72"/>
          <p:cNvSpPr/>
          <p:nvPr/>
        </p:nvSpPr>
        <p:spPr>
          <a:xfrm>
            <a:off x="6872288" y="3555802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80" name="Text 73"/>
          <p:cNvSpPr/>
          <p:nvPr/>
        </p:nvSpPr>
        <p:spPr>
          <a:xfrm>
            <a:off x="6986588" y="3527227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백테스팅 (Backtester)</a:t>
            </a:r>
            <a:endParaRPr lang="en-US" sz="750" dirty="0"/>
          </a:p>
        </p:txBody>
      </p:sp>
      <p:sp>
        <p:nvSpPr>
          <p:cNvPr id="81" name="Text 74"/>
          <p:cNvSpPr/>
          <p:nvPr/>
        </p:nvSpPr>
        <p:spPr>
          <a:xfrm>
            <a:off x="6986588" y="3730823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MDD · Sharpe · CAGR</a:t>
            </a:r>
            <a:endParaRPr lang="en-US" sz="750" dirty="0"/>
          </a:p>
        </p:txBody>
      </p:sp>
      <p:sp>
        <p:nvSpPr>
          <p:cNvPr id="82" name="Text 75"/>
          <p:cNvSpPr/>
          <p:nvPr/>
        </p:nvSpPr>
        <p:spPr>
          <a:xfrm>
            <a:off x="6986588" y="3745111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83" name="Text 76"/>
          <p:cNvSpPr/>
          <p:nvPr/>
        </p:nvSpPr>
        <p:spPr>
          <a:xfrm>
            <a:off x="6872288" y="4023717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84" name="Text 77"/>
          <p:cNvSpPr/>
          <p:nvPr/>
        </p:nvSpPr>
        <p:spPr>
          <a:xfrm>
            <a:off x="6986588" y="3995142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결과 활용</a:t>
            </a:r>
            <a:endParaRPr lang="en-US" sz="750" dirty="0"/>
          </a:p>
        </p:txBody>
      </p:sp>
      <p:sp>
        <p:nvSpPr>
          <p:cNvPr id="85" name="Text 78"/>
          <p:cNvSpPr/>
          <p:nvPr/>
        </p:nvSpPr>
        <p:spPr>
          <a:xfrm>
            <a:off x="6986588" y="4198739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 종목 5일 후 등락률 순위표</a:t>
            </a:r>
            <a:endParaRPr lang="en-US" sz="750" dirty="0"/>
          </a:p>
        </p:txBody>
      </p:sp>
      <p:sp>
        <p:nvSpPr>
          <p:cNvPr id="86" name="Text 79"/>
          <p:cNvSpPr/>
          <p:nvPr/>
        </p:nvSpPr>
        <p:spPr>
          <a:xfrm>
            <a:off x="6886575" y="4793456"/>
            <a:ext cx="1685925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4 / 17</a:t>
            </a:r>
            <a:endParaRPr lang="en-US" sz="750" dirty="0"/>
          </a:p>
        </p:txBody>
      </p:sp>
      <p:sp>
        <p:nvSpPr>
          <p:cNvPr id="87" name="Text 80"/>
          <p:cNvSpPr/>
          <p:nvPr/>
        </p:nvSpPr>
        <p:spPr>
          <a:xfrm>
            <a:off x="6986588" y="4213027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학습 종목 선정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Stratified Sampling by Market Cap Tier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86768"/>
            <a:ext cx="157163" cy="1571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85813" y="1259086"/>
            <a:ext cx="1298377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Why 층화 샘플링?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571500" y="1585913"/>
            <a:ext cx="4629150" cy="14073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571500" y="1585913"/>
            <a:ext cx="1620180" cy="346472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" y="1925241"/>
            <a:ext cx="162018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0" name="Text 6"/>
          <p:cNvSpPr/>
          <p:nvPr/>
        </p:nvSpPr>
        <p:spPr>
          <a:xfrm>
            <a:off x="571500" y="1585913"/>
            <a:ext cx="1620180" cy="34647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방식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2191680" y="1585913"/>
            <a:ext cx="3008970" cy="346472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2" name="Shape 8"/>
          <p:cNvSpPr/>
          <p:nvPr/>
        </p:nvSpPr>
        <p:spPr>
          <a:xfrm>
            <a:off x="2191680" y="1925241"/>
            <a:ext cx="300897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3" name="Text 9"/>
          <p:cNvSpPr/>
          <p:nvPr/>
        </p:nvSpPr>
        <p:spPr>
          <a:xfrm>
            <a:off x="2191680" y="1585913"/>
            <a:ext cx="3008970" cy="34647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문제점 및 특징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1500" y="1928813"/>
            <a:ext cx="1620180" cy="354520"/>
          </a:xfrm>
          <a:prstGeom prst="rect">
            <a:avLst/>
          </a:prstGeom>
          <a:noFill/>
          <a:ln/>
        </p:spPr>
        <p:txBody>
          <a:bodyPr wrap="square" lIns="136017" tIns="102108" rIns="136017" bIns="102108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대형주 20개</a:t>
            </a:r>
            <a:endParaRPr lang="en-US" sz="850"/>
          </a:p>
        </p:txBody>
      </p:sp>
      <p:sp>
        <p:nvSpPr>
          <p:cNvPr id="15" name="Text 11"/>
          <p:cNvSpPr/>
          <p:nvPr/>
        </p:nvSpPr>
        <p:spPr>
          <a:xfrm>
            <a:off x="2191680" y="1928813"/>
            <a:ext cx="3008970" cy="354520"/>
          </a:xfrm>
          <a:prstGeom prst="rect">
            <a:avLst/>
          </a:prstGeom>
          <a:noFill/>
          <a:ln/>
        </p:spPr>
        <p:txBody>
          <a:bodyPr wrap="square" lIns="136017" tIns="102108" rIns="136017" bIns="102108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495057"/>
                </a:solidFill>
                <a:latin typeface="Inter"/>
                <a:ea typeface="Inter"/>
                <a:cs typeface="Inter"/>
              </a:rPr>
              <a:t>소형주 패턴 전혀 학습 못함 → 적용 범위 극히 제한적</a:t>
            </a:r>
            <a:endParaRPr lang="en-US" sz="850"/>
          </a:p>
        </p:txBody>
      </p:sp>
      <p:sp>
        <p:nvSpPr>
          <p:cNvPr id="16" name="Text 12"/>
          <p:cNvSpPr/>
          <p:nvPr/>
        </p:nvSpPr>
        <p:spPr>
          <a:xfrm>
            <a:off x="571500" y="2275284"/>
            <a:ext cx="1620180" cy="350044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전 종목 2,731개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2191680" y="2275284"/>
            <a:ext cx="3008970" cy="350044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메모리 ~8 GB 필요 → 일반 PC 실행 불가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571500" y="2625328"/>
            <a:ext cx="4629150" cy="353616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19" name="Text 15"/>
          <p:cNvSpPr/>
          <p:nvPr/>
        </p:nvSpPr>
        <p:spPr>
          <a:xfrm>
            <a:off x="571500" y="2625328"/>
            <a:ext cx="1620180" cy="353616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층화 샘플링 200개 ★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2191680" y="2625328"/>
            <a:ext cx="3008970" cy="353616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규모별 균등 대표, 메모리 ~0.6 GB → 실행 가능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286768"/>
            <a:ext cx="157163" cy="15716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700713" y="1259086"/>
            <a:ext cx="66794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선택 근거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486400" y="1585913"/>
            <a:ext cx="3086100" cy="13715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19"/>
          <p:cNvSpPr/>
          <p:nvPr/>
        </p:nvSpPr>
        <p:spPr>
          <a:xfrm>
            <a:off x="5600700" y="1700213"/>
            <a:ext cx="2857500" cy="182863"/>
          </a:xfrm>
          <a:prstGeom prst="rect">
            <a:avLst/>
          </a:prstGeom>
          <a:noFill/>
          <a:ln/>
        </p:spPr>
        <p:txBody>
          <a:bodyPr wrap="non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통계적 대표성: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전체 시장 규모 분포를 고르게 반영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5600700" y="1997376"/>
            <a:ext cx="2857500" cy="365727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패턴 다양성: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대형주(외국인·지수 연동)와 소형주(수급·테마)는 주가 패턴이 근본적으로 다름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5600700" y="2477402"/>
            <a:ext cx="2857500" cy="365727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재현 가능성: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random_state=42 고정으로 일관된 결과 도출</a:t>
            </a:r>
            <a:endParaRPr lang="en-US" sz="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700" y="1714500"/>
            <a:ext cx="100013" cy="159981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0700" y="2011663"/>
            <a:ext cx="100013" cy="159981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2491690"/>
            <a:ext cx="100013" cy="159981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213795"/>
            <a:ext cx="157163" cy="157163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85813" y="3186113"/>
            <a:ext cx="1903809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4구간 샘플링 (총 200종목)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571500" y="3598664"/>
            <a:ext cx="1893094" cy="11555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24"/>
          <p:cNvSpPr/>
          <p:nvPr/>
        </p:nvSpPr>
        <p:spPr>
          <a:xfrm>
            <a:off x="571500" y="3598664"/>
            <a:ext cx="1893094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34" name="Text 25"/>
          <p:cNvSpPr/>
          <p:nvPr/>
        </p:nvSpPr>
        <p:spPr>
          <a:xfrm>
            <a:off x="685800" y="3712964"/>
            <a:ext cx="4286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대형주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1900238" y="3741539"/>
            <a:ext cx="4500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상위 25%</a:t>
            </a:r>
            <a:endParaRPr lang="en-US" sz="750" dirty="0"/>
          </a:p>
        </p:txBody>
      </p:sp>
      <p:sp>
        <p:nvSpPr>
          <p:cNvPr id="36" name="Text 27"/>
          <p:cNvSpPr/>
          <p:nvPr/>
        </p:nvSpPr>
        <p:spPr>
          <a:xfrm>
            <a:off x="685800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685800" y="4268391"/>
            <a:ext cx="166449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삼성전자, SK하이닉스, LG화학, 현대모비스</a:t>
            </a:r>
            <a:endParaRPr lang="en-US" sz="800" dirty="0"/>
          </a:p>
        </p:txBody>
      </p:sp>
      <p:sp>
        <p:nvSpPr>
          <p:cNvPr id="38" name="Shape 29"/>
          <p:cNvSpPr/>
          <p:nvPr/>
        </p:nvSpPr>
        <p:spPr>
          <a:xfrm>
            <a:off x="2607469" y="3598664"/>
            <a:ext cx="1893094" cy="11269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0"/>
          <p:cNvSpPr/>
          <p:nvPr/>
        </p:nvSpPr>
        <p:spPr>
          <a:xfrm>
            <a:off x="2607469" y="3598664"/>
            <a:ext cx="1893094" cy="28575"/>
          </a:xfrm>
          <a:prstGeom prst="rect">
            <a:avLst/>
          </a:prstGeom>
          <a:solidFill>
            <a:srgbClr val="4D7BDB"/>
          </a:solidFill>
          <a:ln/>
        </p:spPr>
      </p:sp>
      <p:sp>
        <p:nvSpPr>
          <p:cNvPr id="40" name="Text 31"/>
          <p:cNvSpPr/>
          <p:nvPr/>
        </p:nvSpPr>
        <p:spPr>
          <a:xfrm>
            <a:off x="2721769" y="3712964"/>
            <a:ext cx="5715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중대형주</a:t>
            </a:r>
            <a:endParaRPr lang="en-US" sz="1000" dirty="0"/>
          </a:p>
        </p:txBody>
      </p:sp>
      <p:sp>
        <p:nvSpPr>
          <p:cNvPr id="41" name="Text 32"/>
          <p:cNvSpPr/>
          <p:nvPr/>
        </p:nvSpPr>
        <p:spPr>
          <a:xfrm>
            <a:off x="3980855" y="3748683"/>
            <a:ext cx="40540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50~75%</a:t>
            </a:r>
            <a:endParaRPr lang="en-US" sz="750" dirty="0"/>
          </a:p>
        </p:txBody>
      </p:sp>
      <p:sp>
        <p:nvSpPr>
          <p:cNvPr id="42" name="Text 33"/>
          <p:cNvSpPr/>
          <p:nvPr/>
        </p:nvSpPr>
        <p:spPr>
          <a:xfrm>
            <a:off x="2721769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43" name="Text 34"/>
          <p:cNvSpPr/>
          <p:nvPr/>
        </p:nvSpPr>
        <p:spPr>
          <a:xfrm>
            <a:off x="2721769" y="4268391"/>
            <a:ext cx="16644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현대차, KB금융, 포스코홀딩스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643438" y="3598664"/>
            <a:ext cx="1893094" cy="11269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36"/>
          <p:cNvSpPr/>
          <p:nvPr/>
        </p:nvSpPr>
        <p:spPr>
          <a:xfrm>
            <a:off x="4643438" y="3598664"/>
            <a:ext cx="1893094" cy="28575"/>
          </a:xfrm>
          <a:prstGeom prst="rect">
            <a:avLst/>
          </a:prstGeom>
          <a:solidFill>
            <a:srgbClr val="668FEA"/>
          </a:solidFill>
          <a:ln/>
        </p:spPr>
      </p:sp>
      <p:sp>
        <p:nvSpPr>
          <p:cNvPr id="46" name="Text 37"/>
          <p:cNvSpPr/>
          <p:nvPr/>
        </p:nvSpPr>
        <p:spPr>
          <a:xfrm>
            <a:off x="4757738" y="3712964"/>
            <a:ext cx="5715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중소형주</a:t>
            </a:r>
            <a:endParaRPr lang="en-US" sz="1000" dirty="0"/>
          </a:p>
        </p:txBody>
      </p:sp>
      <p:sp>
        <p:nvSpPr>
          <p:cNvPr id="47" name="Text 38"/>
          <p:cNvSpPr/>
          <p:nvPr/>
        </p:nvSpPr>
        <p:spPr>
          <a:xfrm>
            <a:off x="6007894" y="3748683"/>
            <a:ext cx="4143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25~50%</a:t>
            </a:r>
            <a:endParaRPr lang="en-US" sz="750" dirty="0"/>
          </a:p>
        </p:txBody>
      </p:sp>
      <p:sp>
        <p:nvSpPr>
          <p:cNvPr id="48" name="Text 39"/>
          <p:cNvSpPr/>
          <p:nvPr/>
        </p:nvSpPr>
        <p:spPr>
          <a:xfrm>
            <a:off x="4757738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4757738" y="4268391"/>
            <a:ext cx="16644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대원제약, 율촌화학</a:t>
            </a:r>
            <a:endParaRPr lang="en-US" sz="800" dirty="0"/>
          </a:p>
        </p:txBody>
      </p:sp>
      <p:sp>
        <p:nvSpPr>
          <p:cNvPr id="50" name="Shape 41"/>
          <p:cNvSpPr/>
          <p:nvPr/>
        </p:nvSpPr>
        <p:spPr>
          <a:xfrm>
            <a:off x="6679406" y="3598664"/>
            <a:ext cx="1893094" cy="11269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2"/>
          <p:cNvSpPr/>
          <p:nvPr/>
        </p:nvSpPr>
        <p:spPr>
          <a:xfrm>
            <a:off x="6679406" y="3598664"/>
            <a:ext cx="1893094" cy="28575"/>
          </a:xfrm>
          <a:prstGeom prst="rect">
            <a:avLst/>
          </a:prstGeom>
          <a:solidFill>
            <a:srgbClr val="80A4F9"/>
          </a:solidFill>
          <a:ln/>
        </p:spPr>
      </p:sp>
      <p:sp>
        <p:nvSpPr>
          <p:cNvPr id="52" name="Text 43"/>
          <p:cNvSpPr/>
          <p:nvPr/>
        </p:nvSpPr>
        <p:spPr>
          <a:xfrm>
            <a:off x="6793706" y="3712964"/>
            <a:ext cx="4286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소형주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8008144" y="3741539"/>
            <a:ext cx="4500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하위 25%</a:t>
            </a:r>
            <a:endParaRPr lang="en-US" sz="750" dirty="0"/>
          </a:p>
        </p:txBody>
      </p:sp>
      <p:sp>
        <p:nvSpPr>
          <p:cNvPr id="54" name="Text 45"/>
          <p:cNvSpPr/>
          <p:nvPr/>
        </p:nvSpPr>
        <p:spPr>
          <a:xfrm>
            <a:off x="6793706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6793706" y="4268391"/>
            <a:ext cx="16644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KR모터스, 영흥</a:t>
            </a:r>
            <a:endParaRPr lang="en-US" sz="800" dirty="0"/>
          </a:p>
        </p:txBody>
      </p:sp>
      <p:sp>
        <p:nvSpPr>
          <p:cNvPr id="56" name="Text 47"/>
          <p:cNvSpPr/>
          <p:nvPr/>
        </p:nvSpPr>
        <p:spPr>
          <a:xfrm>
            <a:off x="6891933" y="4793456"/>
            <a:ext cx="1680567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5 / 17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입력 설계 근거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60 Days × 11 Features?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5172"/>
            <a:ext cx="150019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2956" y="1344811"/>
            <a:ext cx="1285875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시퀀스 길이 비교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71500" y="1719858"/>
            <a:ext cx="3857625" cy="146625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585788" y="1719858"/>
            <a:ext cx="1152990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9" name="Shape 5"/>
          <p:cNvSpPr/>
          <p:nvPr/>
        </p:nvSpPr>
        <p:spPr>
          <a:xfrm>
            <a:off x="585788" y="2071688"/>
            <a:ext cx="115299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0" name="Text 6"/>
          <p:cNvSpPr/>
          <p:nvPr/>
        </p:nvSpPr>
        <p:spPr>
          <a:xfrm>
            <a:off x="585788" y="1719858"/>
            <a:ext cx="1152990" cy="358973"/>
          </a:xfrm>
          <a:prstGeom prst="rect">
            <a:avLst/>
          </a:prstGeom>
          <a:noFill/>
          <a:ln/>
        </p:spPr>
        <p:txBody>
          <a:bodyPr wrap="non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기간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1738778" y="1719858"/>
            <a:ext cx="2690347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2" name="Shape 8"/>
          <p:cNvSpPr/>
          <p:nvPr/>
        </p:nvSpPr>
        <p:spPr>
          <a:xfrm>
            <a:off x="1738778" y="2071688"/>
            <a:ext cx="269034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3" name="Text 9"/>
          <p:cNvSpPr/>
          <p:nvPr/>
        </p:nvSpPr>
        <p:spPr>
          <a:xfrm>
            <a:off x="1738778" y="1719858"/>
            <a:ext cx="2690347" cy="35897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평가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788" y="2075259"/>
            <a:ext cx="1152990" cy="364331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20일 (1개월)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738778" y="2075259"/>
            <a:ext cx="2690347" cy="364331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노이즈 위주, 추세 파악 부족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585788" y="2439591"/>
            <a:ext cx="3843338" cy="367903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585788" y="2439591"/>
            <a:ext cx="28575" cy="367903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8" name="Text 14"/>
          <p:cNvSpPr/>
          <p:nvPr/>
        </p:nvSpPr>
        <p:spPr>
          <a:xfrm>
            <a:off x="571500" y="2439591"/>
            <a:ext cx="115728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60일 (3개월) ★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728788" y="2439591"/>
            <a:ext cx="270033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단기·중기 패턴 동시 포착 (선택)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571500" y="2807494"/>
            <a:ext cx="115728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120일 (6개월)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1728788" y="2807494"/>
            <a:ext cx="270033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오래된 정보 비중 증가, 샘플 수 감소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571500" y="3350419"/>
            <a:ext cx="3857625" cy="14233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19"/>
          <p:cNvSpPr/>
          <p:nvPr/>
        </p:nvSpPr>
        <p:spPr>
          <a:xfrm>
            <a:off x="571500" y="3350419"/>
            <a:ext cx="3857625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4" name="Text 20"/>
          <p:cNvSpPr/>
          <p:nvPr/>
        </p:nvSpPr>
        <p:spPr>
          <a:xfrm>
            <a:off x="714375" y="3493294"/>
            <a:ext cx="35718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선택 근거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714375" y="3750469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MA_60 형성 전 과정을 입력에 포함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중기 추세 직접 학습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714375" y="3993356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RSI·MACD 계산 윈도우(14~26일)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 충분히 수렴하는 구간 확보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714375" y="4236244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샘플 수 확보: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31,894개 시퀀스 생성 (데이터 양과 질의 균형)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714375" y="3764756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714375" y="4007644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30" name="Text 26"/>
          <p:cNvSpPr/>
          <p:nvPr/>
        </p:nvSpPr>
        <p:spPr>
          <a:xfrm>
            <a:off x="714375" y="4250531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5" y="1375172"/>
            <a:ext cx="171450" cy="17145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957763" y="1344811"/>
            <a:ext cx="1089422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11개 특성 구성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4714875" y="1719858"/>
            <a:ext cx="3857625" cy="30557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29"/>
          <p:cNvSpPr/>
          <p:nvPr/>
        </p:nvSpPr>
        <p:spPr>
          <a:xfrm>
            <a:off x="4714875" y="1719858"/>
            <a:ext cx="771525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5" name="Shape 30"/>
          <p:cNvSpPr/>
          <p:nvPr/>
        </p:nvSpPr>
        <p:spPr>
          <a:xfrm>
            <a:off x="4714875" y="2071688"/>
            <a:ext cx="771525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6" name="Text 31"/>
          <p:cNvSpPr/>
          <p:nvPr/>
        </p:nvSpPr>
        <p:spPr>
          <a:xfrm>
            <a:off x="4714875" y="1719858"/>
            <a:ext cx="771525" cy="358973"/>
          </a:xfrm>
          <a:prstGeom prst="rect">
            <a:avLst/>
          </a:prstGeom>
          <a:noFill/>
          <a:ln/>
        </p:spPr>
        <p:txBody>
          <a:bodyPr wrap="non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카테고리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5486400" y="1719858"/>
            <a:ext cx="1543050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8" name="Shape 33"/>
          <p:cNvSpPr/>
          <p:nvPr/>
        </p:nvSpPr>
        <p:spPr>
          <a:xfrm>
            <a:off x="5486400" y="2071688"/>
            <a:ext cx="154305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9" name="Text 34"/>
          <p:cNvSpPr/>
          <p:nvPr/>
        </p:nvSpPr>
        <p:spPr>
          <a:xfrm>
            <a:off x="5486400" y="1719858"/>
            <a:ext cx="1543050" cy="35897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특성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7029450" y="1719858"/>
            <a:ext cx="1543050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41" name="Shape 36"/>
          <p:cNvSpPr/>
          <p:nvPr/>
        </p:nvSpPr>
        <p:spPr>
          <a:xfrm>
            <a:off x="7029450" y="2071688"/>
            <a:ext cx="154305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2" name="Text 37"/>
          <p:cNvSpPr/>
          <p:nvPr/>
        </p:nvSpPr>
        <p:spPr>
          <a:xfrm>
            <a:off x="7029450" y="1719858"/>
            <a:ext cx="1543050" cy="35897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역할</a:t>
            </a:r>
            <a:endParaRPr lang="en-US" sz="800" dirty="0"/>
          </a:p>
        </p:txBody>
      </p:sp>
      <p:sp>
        <p:nvSpPr>
          <p:cNvPr id="43" name="Text 38"/>
          <p:cNvSpPr/>
          <p:nvPr/>
        </p:nvSpPr>
        <p:spPr>
          <a:xfrm>
            <a:off x="4829175" y="2214563"/>
            <a:ext cx="21431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가격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5600700" y="2175272"/>
            <a:ext cx="385763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5" name="Text 40"/>
          <p:cNvSpPr/>
          <p:nvPr/>
        </p:nvSpPr>
        <p:spPr>
          <a:xfrm>
            <a:off x="5600700" y="2175272"/>
            <a:ext cx="385763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Close</a:t>
            </a:r>
            <a:endParaRPr lang="en-US" sz="750" dirty="0"/>
          </a:p>
        </p:txBody>
      </p:sp>
      <p:sp>
        <p:nvSpPr>
          <p:cNvPr id="46" name="Text 41"/>
          <p:cNvSpPr/>
          <p:nvPr/>
        </p:nvSpPr>
        <p:spPr>
          <a:xfrm>
            <a:off x="7029450" y="2075259"/>
            <a:ext cx="1543050" cy="41076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절대 가격 수준 (정규화)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4829175" y="2732484"/>
            <a:ext cx="3214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거래량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5600700" y="2589609"/>
            <a:ext cx="475059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9" name="Text 44"/>
          <p:cNvSpPr/>
          <p:nvPr/>
        </p:nvSpPr>
        <p:spPr>
          <a:xfrm>
            <a:off x="5600700" y="2589609"/>
            <a:ext cx="475059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Volume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5600700" y="2796778"/>
            <a:ext cx="766167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1" name="Text 46"/>
          <p:cNvSpPr/>
          <p:nvPr/>
        </p:nvSpPr>
        <p:spPr>
          <a:xfrm>
            <a:off x="5600700" y="2796778"/>
            <a:ext cx="766167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Volume_Ratio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7029450" y="2486025"/>
            <a:ext cx="1543050" cy="62150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매매 참여도 / 이상 거래 감지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4829175" y="3353991"/>
            <a:ext cx="3214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모멘텀</a:t>
            </a:r>
            <a:endParaRPr lang="en-US" sz="750" dirty="0"/>
          </a:p>
        </p:txBody>
      </p:sp>
      <p:sp>
        <p:nvSpPr>
          <p:cNvPr id="54" name="Shape 49"/>
          <p:cNvSpPr/>
          <p:nvPr/>
        </p:nvSpPr>
        <p:spPr>
          <a:xfrm>
            <a:off x="5600700" y="3211116"/>
            <a:ext cx="269677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5" name="Text 50"/>
          <p:cNvSpPr/>
          <p:nvPr/>
        </p:nvSpPr>
        <p:spPr>
          <a:xfrm>
            <a:off x="5600700" y="3211116"/>
            <a:ext cx="269677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RSI</a:t>
            </a:r>
            <a:endParaRPr lang="en-US" sz="750" dirty="0"/>
          </a:p>
        </p:txBody>
      </p:sp>
      <p:sp>
        <p:nvSpPr>
          <p:cNvPr id="56" name="Shape 51"/>
          <p:cNvSpPr/>
          <p:nvPr/>
        </p:nvSpPr>
        <p:spPr>
          <a:xfrm>
            <a:off x="5929313" y="3211116"/>
            <a:ext cx="417909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7" name="Text 52"/>
          <p:cNvSpPr/>
          <p:nvPr/>
        </p:nvSpPr>
        <p:spPr>
          <a:xfrm>
            <a:off x="5929313" y="3211116"/>
            <a:ext cx="417909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MACD</a:t>
            </a:r>
            <a:endParaRPr lang="en-US" sz="750" dirty="0"/>
          </a:p>
        </p:txBody>
      </p:sp>
      <p:sp>
        <p:nvSpPr>
          <p:cNvPr id="58" name="Shape 53"/>
          <p:cNvSpPr/>
          <p:nvPr/>
        </p:nvSpPr>
        <p:spPr>
          <a:xfrm>
            <a:off x="5600700" y="3418284"/>
            <a:ext cx="755452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9" name="Text 54"/>
          <p:cNvSpPr/>
          <p:nvPr/>
        </p:nvSpPr>
        <p:spPr>
          <a:xfrm>
            <a:off x="5600700" y="3418284"/>
            <a:ext cx="755452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MACD_Signal</a:t>
            </a:r>
            <a:endParaRPr lang="en-US" sz="750" dirty="0"/>
          </a:p>
        </p:txBody>
      </p:sp>
      <p:sp>
        <p:nvSpPr>
          <p:cNvPr id="60" name="Text 55"/>
          <p:cNvSpPr/>
          <p:nvPr/>
        </p:nvSpPr>
        <p:spPr>
          <a:xfrm>
            <a:off x="7029450" y="3107531"/>
            <a:ext cx="1543050" cy="62150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추세 강도·방향·전환 타이밍</a:t>
            </a:r>
            <a:endParaRPr lang="en-US" sz="800" dirty="0"/>
          </a:p>
        </p:txBody>
      </p:sp>
      <p:sp>
        <p:nvSpPr>
          <p:cNvPr id="61" name="Text 56"/>
          <p:cNvSpPr/>
          <p:nvPr/>
        </p:nvSpPr>
        <p:spPr>
          <a:xfrm>
            <a:off x="4829175" y="3975497"/>
            <a:ext cx="3214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변동성</a:t>
            </a:r>
            <a:endParaRPr lang="en-US" sz="750" dirty="0"/>
          </a:p>
        </p:txBody>
      </p:sp>
      <p:sp>
        <p:nvSpPr>
          <p:cNvPr id="62" name="Shape 57"/>
          <p:cNvSpPr/>
          <p:nvPr/>
        </p:nvSpPr>
        <p:spPr>
          <a:xfrm>
            <a:off x="5600700" y="3832622"/>
            <a:ext cx="451842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3" name="Text 58"/>
          <p:cNvSpPr/>
          <p:nvPr/>
        </p:nvSpPr>
        <p:spPr>
          <a:xfrm>
            <a:off x="5600700" y="3832622"/>
            <a:ext cx="451842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BB_Pct</a:t>
            </a:r>
            <a:endParaRPr lang="en-US" sz="750" dirty="0"/>
          </a:p>
        </p:txBody>
      </p:sp>
      <p:sp>
        <p:nvSpPr>
          <p:cNvPr id="64" name="Shape 59"/>
          <p:cNvSpPr/>
          <p:nvPr/>
        </p:nvSpPr>
        <p:spPr>
          <a:xfrm>
            <a:off x="6111478" y="3832622"/>
            <a:ext cx="576858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5" name="Text 60"/>
          <p:cNvSpPr/>
          <p:nvPr/>
        </p:nvSpPr>
        <p:spPr>
          <a:xfrm>
            <a:off x="6111478" y="3832622"/>
            <a:ext cx="576858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BB_Width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5600700" y="4039791"/>
            <a:ext cx="307181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7" name="Text 62"/>
          <p:cNvSpPr/>
          <p:nvPr/>
        </p:nvSpPr>
        <p:spPr>
          <a:xfrm>
            <a:off x="5600700" y="4039791"/>
            <a:ext cx="307181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ATR</a:t>
            </a:r>
            <a:endParaRPr lang="en-US" sz="750" dirty="0"/>
          </a:p>
        </p:txBody>
      </p:sp>
      <p:sp>
        <p:nvSpPr>
          <p:cNvPr id="68" name="Text 63"/>
          <p:cNvSpPr/>
          <p:nvPr/>
        </p:nvSpPr>
        <p:spPr>
          <a:xfrm>
            <a:off x="7029450" y="3729038"/>
            <a:ext cx="1543050" cy="62150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밴드 위치 / 시장 변동성</a:t>
            </a:r>
            <a:endParaRPr lang="en-US" sz="800" dirty="0"/>
          </a:p>
        </p:txBody>
      </p:sp>
      <p:sp>
        <p:nvSpPr>
          <p:cNvPr id="69" name="Text 64"/>
          <p:cNvSpPr/>
          <p:nvPr/>
        </p:nvSpPr>
        <p:spPr>
          <a:xfrm>
            <a:off x="4829175" y="4493419"/>
            <a:ext cx="21431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추세</a:t>
            </a:r>
            <a:endParaRPr lang="en-US" sz="750" dirty="0"/>
          </a:p>
        </p:txBody>
      </p:sp>
      <p:sp>
        <p:nvSpPr>
          <p:cNvPr id="70" name="Shape 65"/>
          <p:cNvSpPr/>
          <p:nvPr/>
        </p:nvSpPr>
        <p:spPr>
          <a:xfrm>
            <a:off x="5600700" y="4454128"/>
            <a:ext cx="450056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71" name="Text 66"/>
          <p:cNvSpPr/>
          <p:nvPr/>
        </p:nvSpPr>
        <p:spPr>
          <a:xfrm>
            <a:off x="5600700" y="4454128"/>
            <a:ext cx="450056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MA_20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6109692" y="4454128"/>
            <a:ext cx="444698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73" name="Text 68"/>
          <p:cNvSpPr/>
          <p:nvPr/>
        </p:nvSpPr>
        <p:spPr>
          <a:xfrm>
            <a:off x="6109692" y="4454128"/>
            <a:ext cx="444698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MA_60</a:t>
            </a:r>
            <a:endParaRPr lang="en-US" sz="750" dirty="0"/>
          </a:p>
        </p:txBody>
      </p:sp>
      <p:sp>
        <p:nvSpPr>
          <p:cNvPr id="74" name="Text 69"/>
          <p:cNvSpPr/>
          <p:nvPr/>
        </p:nvSpPr>
        <p:spPr>
          <a:xfrm>
            <a:off x="7029450" y="4350544"/>
            <a:ext cx="1543050" cy="414338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단기·중기 추세 방향</a:t>
            </a:r>
            <a:endParaRPr lang="en-US" sz="800" dirty="0"/>
          </a:p>
        </p:txBody>
      </p:sp>
      <p:sp>
        <p:nvSpPr>
          <p:cNvPr id="75" name="Shape 70"/>
          <p:cNvSpPr/>
          <p:nvPr/>
        </p:nvSpPr>
        <p:spPr>
          <a:xfrm>
            <a:off x="4714875" y="4939903"/>
            <a:ext cx="3857625" cy="12215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Shape 71"/>
          <p:cNvSpPr/>
          <p:nvPr/>
        </p:nvSpPr>
        <p:spPr>
          <a:xfrm>
            <a:off x="4714875" y="4939903"/>
            <a:ext cx="3857625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77" name="Text 72"/>
          <p:cNvSpPr/>
          <p:nvPr/>
        </p:nvSpPr>
        <p:spPr>
          <a:xfrm>
            <a:off x="4857750" y="5082778"/>
            <a:ext cx="35718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특성 선별 원칙</a:t>
            </a:r>
            <a:endParaRPr lang="en-US" sz="900" dirty="0"/>
          </a:p>
        </p:txBody>
      </p:sp>
      <p:sp>
        <p:nvSpPr>
          <p:cNvPr id="78" name="Text 73"/>
          <p:cNvSpPr/>
          <p:nvPr/>
        </p:nvSpPr>
        <p:spPr>
          <a:xfrm>
            <a:off x="4857750" y="5339953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정보 중복 최소화 + 서로 다른 시장 국면 포착</a:t>
            </a:r>
            <a:endParaRPr lang="en-US" sz="750" dirty="0"/>
          </a:p>
        </p:txBody>
      </p:sp>
      <p:sp>
        <p:nvSpPr>
          <p:cNvPr id="79" name="Text 74"/>
          <p:cNvSpPr/>
          <p:nvPr/>
        </p:nvSpPr>
        <p:spPr>
          <a:xfrm>
            <a:off x="4857750" y="5582841"/>
            <a:ext cx="3571875" cy="34290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예: RSI(절대 과매수/과매도) ≠ MACD(추세 전환 타이밍) → 상호 보완적 역할 수행</a:t>
            </a:r>
            <a:endParaRPr lang="en-US" sz="800" dirty="0"/>
          </a:p>
        </p:txBody>
      </p:sp>
      <p:sp>
        <p:nvSpPr>
          <p:cNvPr id="80" name="Text 75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6 / 17</a:t>
            </a:r>
            <a:endParaRPr lang="en-US" sz="750" dirty="0"/>
          </a:p>
        </p:txBody>
      </p:sp>
      <p:sp>
        <p:nvSpPr>
          <p:cNvPr id="81" name="Text 76"/>
          <p:cNvSpPr/>
          <p:nvPr/>
        </p:nvSpPr>
        <p:spPr>
          <a:xfrm>
            <a:off x="4857750" y="5354241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82" name="Text 77"/>
          <p:cNvSpPr/>
          <p:nvPr/>
        </p:nvSpPr>
        <p:spPr>
          <a:xfrm>
            <a:off x="4857750" y="5597128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LSTM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9474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Short-Term Memory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275159"/>
            <a:ext cx="8001000" cy="421481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275159"/>
            <a:ext cx="28575" cy="421481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400175"/>
            <a:ext cx="128588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5838" y="1389459"/>
            <a:ext cx="50292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핵심 아이디어: 과거 60일의 흐름을 순서대로 기억하면서 시간 패턴을 학습한다.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71500" y="1868091"/>
            <a:ext cx="2552691" cy="12430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571500" y="1868091"/>
            <a:ext cx="2552691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043113"/>
            <a:ext cx="128588" cy="12858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0113" y="2010966"/>
            <a:ext cx="74830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망각 게이트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14375" y="2289572"/>
            <a:ext cx="226694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과거 기억 중 지금과 무관한 정보를 삭제하여 메모리를 효율적으로 관리합니다.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714375" y="2696766"/>
            <a:ext cx="2266941" cy="25003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5" name="Shape 10"/>
          <p:cNvSpPr/>
          <p:nvPr/>
        </p:nvSpPr>
        <p:spPr>
          <a:xfrm>
            <a:off x="714375" y="2696766"/>
            <a:ext cx="14288" cy="2500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6" name="Text 11"/>
          <p:cNvSpPr/>
          <p:nvPr/>
        </p:nvSpPr>
        <p:spPr>
          <a:xfrm>
            <a:off x="714375" y="2696766"/>
            <a:ext cx="2266941" cy="250031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"3달 전 급등은 오늘과 무관 → 잊기"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3295641" y="1868091"/>
            <a:ext cx="2552691" cy="12430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3"/>
          <p:cNvSpPr/>
          <p:nvPr/>
        </p:nvSpPr>
        <p:spPr>
          <a:xfrm>
            <a:off x="3295641" y="1868091"/>
            <a:ext cx="2552691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16" y="2043113"/>
            <a:ext cx="128588" cy="1285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624253" y="2010966"/>
            <a:ext cx="74830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입력 게이트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3438516" y="2289572"/>
            <a:ext cx="226694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현재 입력 중 중요한 정보를 선별하여 새로운 기억으로 저장합니다.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3438516" y="2696766"/>
            <a:ext cx="2266941" cy="25003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3" name="Shape 17"/>
          <p:cNvSpPr/>
          <p:nvPr/>
        </p:nvSpPr>
        <p:spPr>
          <a:xfrm>
            <a:off x="3438516" y="2696766"/>
            <a:ext cx="14288" cy="2500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4" name="Text 18"/>
          <p:cNvSpPr/>
          <p:nvPr/>
        </p:nvSpPr>
        <p:spPr>
          <a:xfrm>
            <a:off x="3438516" y="2696766"/>
            <a:ext cx="2266941" cy="250031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"RSI 30 돌파 → 과매도 신호 기억"</a:t>
            </a:r>
            <a:endParaRPr 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019781" y="1868091"/>
            <a:ext cx="2552691" cy="12430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0"/>
          <p:cNvSpPr/>
          <p:nvPr/>
        </p:nvSpPr>
        <p:spPr>
          <a:xfrm>
            <a:off x="6019781" y="1868091"/>
            <a:ext cx="2552691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2656" y="2043113"/>
            <a:ext cx="128588" cy="1285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348394" y="2010966"/>
            <a:ext cx="74830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출력 게이트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162656" y="2289572"/>
            <a:ext cx="226694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저장된 누적 기억을 바탕으로 현재 시점의 최종 예측값을 출력합니다.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6162656" y="2696766"/>
            <a:ext cx="2266941" cy="25003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1" name="Shape 24"/>
          <p:cNvSpPr/>
          <p:nvPr/>
        </p:nvSpPr>
        <p:spPr>
          <a:xfrm>
            <a:off x="6162656" y="2696766"/>
            <a:ext cx="14288" cy="2500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32" name="Text 25"/>
          <p:cNvSpPr/>
          <p:nvPr/>
        </p:nvSpPr>
        <p:spPr>
          <a:xfrm>
            <a:off x="6162656" y="2696766"/>
            <a:ext cx="2266941" cy="250031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"누적 기억 → 5일 후 등락률 예측"</a:t>
            </a:r>
            <a:endParaRPr lang="en-US" sz="750" dirty="0"/>
          </a:p>
        </p:txBody>
      </p:sp>
      <p:sp>
        <p:nvSpPr>
          <p:cNvPr id="33" name="Text 26"/>
          <p:cNvSpPr/>
          <p:nvPr/>
        </p:nvSpPr>
        <p:spPr>
          <a:xfrm>
            <a:off x="571500" y="3318272"/>
            <a:ext cx="46291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일반 신경망 vs LSTM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71500" y="3625453"/>
            <a:ext cx="4629150" cy="13215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28"/>
          <p:cNvSpPr/>
          <p:nvPr/>
        </p:nvSpPr>
        <p:spPr>
          <a:xfrm>
            <a:off x="571500" y="3625453"/>
            <a:ext cx="694367" cy="32861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6" name="Shape 29"/>
          <p:cNvSpPr/>
          <p:nvPr/>
        </p:nvSpPr>
        <p:spPr>
          <a:xfrm>
            <a:off x="571500" y="3939778"/>
            <a:ext cx="694367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7" name="Text 30"/>
          <p:cNvSpPr/>
          <p:nvPr/>
        </p:nvSpPr>
        <p:spPr>
          <a:xfrm>
            <a:off x="571500" y="3625453"/>
            <a:ext cx="694367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구분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1265867" y="3625453"/>
            <a:ext cx="1620738" cy="32861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9" name="Shape 32"/>
          <p:cNvSpPr/>
          <p:nvPr/>
        </p:nvSpPr>
        <p:spPr>
          <a:xfrm>
            <a:off x="1265867" y="3939778"/>
            <a:ext cx="1620738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0" name="Text 33"/>
          <p:cNvSpPr/>
          <p:nvPr/>
        </p:nvSpPr>
        <p:spPr>
          <a:xfrm>
            <a:off x="1265867" y="3625453"/>
            <a:ext cx="1620738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일반 신경망 (Dense)</a:t>
            </a:r>
            <a:endParaRPr lang="en-US" sz="750" dirty="0"/>
          </a:p>
        </p:txBody>
      </p:sp>
      <p:sp>
        <p:nvSpPr>
          <p:cNvPr id="41" name="Shape 34"/>
          <p:cNvSpPr/>
          <p:nvPr/>
        </p:nvSpPr>
        <p:spPr>
          <a:xfrm>
            <a:off x="2886605" y="3625453"/>
            <a:ext cx="2314045" cy="32861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42" name="Shape 35"/>
          <p:cNvSpPr/>
          <p:nvPr/>
        </p:nvSpPr>
        <p:spPr>
          <a:xfrm>
            <a:off x="2886605" y="3939778"/>
            <a:ext cx="2314045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3" name="Text 36"/>
          <p:cNvSpPr/>
          <p:nvPr/>
        </p:nvSpPr>
        <p:spPr>
          <a:xfrm>
            <a:off x="2886605" y="3625453"/>
            <a:ext cx="2314045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</a:t>
            </a:r>
            <a:endParaRPr lang="en-US" sz="750" dirty="0"/>
          </a:p>
        </p:txBody>
      </p:sp>
      <p:sp>
        <p:nvSpPr>
          <p:cNvPr id="44" name="Shape 37"/>
          <p:cNvSpPr/>
          <p:nvPr/>
        </p:nvSpPr>
        <p:spPr>
          <a:xfrm>
            <a:off x="571500" y="3946922"/>
            <a:ext cx="694367" cy="32504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5" name="Shape 38"/>
          <p:cNvSpPr/>
          <p:nvPr/>
        </p:nvSpPr>
        <p:spPr>
          <a:xfrm>
            <a:off x="571500" y="4264819"/>
            <a:ext cx="69436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6" name="Text 39"/>
          <p:cNvSpPr/>
          <p:nvPr/>
        </p:nvSpPr>
        <p:spPr>
          <a:xfrm>
            <a:off x="571500" y="3946922"/>
            <a:ext cx="694367" cy="325041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입력</a:t>
            </a:r>
            <a:endParaRPr lang="en-US" sz="750" dirty="0"/>
          </a:p>
        </p:txBody>
      </p:sp>
      <p:sp>
        <p:nvSpPr>
          <p:cNvPr id="47" name="Text 40"/>
          <p:cNvSpPr/>
          <p:nvPr/>
        </p:nvSpPr>
        <p:spPr>
          <a:xfrm>
            <a:off x="1265867" y="3946922"/>
            <a:ext cx="1620738" cy="325041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오늘 하루 데이터만</a:t>
            </a:r>
            <a:endParaRPr lang="en-US" sz="800" dirty="0"/>
          </a:p>
        </p:txBody>
      </p:sp>
      <p:sp>
        <p:nvSpPr>
          <p:cNvPr id="48" name="Text 41"/>
          <p:cNvSpPr/>
          <p:nvPr/>
        </p:nvSpPr>
        <p:spPr>
          <a:xfrm>
            <a:off x="3000905" y="4043363"/>
            <a:ext cx="126265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60일치 데이터를 순서대로</a:t>
            </a:r>
            <a:endParaRPr lang="en-US" sz="750" dirty="0"/>
          </a:p>
        </p:txBody>
      </p:sp>
      <p:sp>
        <p:nvSpPr>
          <p:cNvPr id="49" name="Shape 42"/>
          <p:cNvSpPr/>
          <p:nvPr/>
        </p:nvSpPr>
        <p:spPr>
          <a:xfrm>
            <a:off x="571500" y="4271963"/>
            <a:ext cx="694367" cy="32861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0" name="Shape 43"/>
          <p:cNvSpPr/>
          <p:nvPr/>
        </p:nvSpPr>
        <p:spPr>
          <a:xfrm>
            <a:off x="571500" y="4593431"/>
            <a:ext cx="69436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51" name="Text 44"/>
          <p:cNvSpPr/>
          <p:nvPr/>
        </p:nvSpPr>
        <p:spPr>
          <a:xfrm>
            <a:off x="571500" y="4271963"/>
            <a:ext cx="694367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기억</a:t>
            </a:r>
            <a:endParaRPr lang="en-US" sz="750" dirty="0"/>
          </a:p>
        </p:txBody>
      </p:sp>
      <p:sp>
        <p:nvSpPr>
          <p:cNvPr id="52" name="Text 45"/>
          <p:cNvSpPr/>
          <p:nvPr/>
        </p:nvSpPr>
        <p:spPr>
          <a:xfrm>
            <a:off x="1265867" y="4271963"/>
            <a:ext cx="1620738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이전 흐름 무시</a:t>
            </a:r>
            <a:endParaRPr lang="en-US" sz="800" dirty="0"/>
          </a:p>
        </p:txBody>
      </p:sp>
      <p:sp>
        <p:nvSpPr>
          <p:cNvPr id="53" name="Text 46"/>
          <p:cNvSpPr/>
          <p:nvPr/>
        </p:nvSpPr>
        <p:spPr>
          <a:xfrm>
            <a:off x="3000905" y="4371975"/>
            <a:ext cx="15180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이전 날의 기억을 다음 날로 전달</a:t>
            </a:r>
            <a:endParaRPr lang="en-US" sz="750" dirty="0"/>
          </a:p>
        </p:txBody>
      </p:sp>
      <p:sp>
        <p:nvSpPr>
          <p:cNvPr id="54" name="Shape 47"/>
          <p:cNvSpPr/>
          <p:nvPr/>
        </p:nvSpPr>
        <p:spPr>
          <a:xfrm>
            <a:off x="571500" y="4600575"/>
            <a:ext cx="694367" cy="32861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5" name="Shape 48"/>
          <p:cNvSpPr/>
          <p:nvPr/>
        </p:nvSpPr>
        <p:spPr>
          <a:xfrm>
            <a:off x="571500" y="4922044"/>
            <a:ext cx="69436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56" name="Text 49"/>
          <p:cNvSpPr/>
          <p:nvPr/>
        </p:nvSpPr>
        <p:spPr>
          <a:xfrm>
            <a:off x="571500" y="4600575"/>
            <a:ext cx="694367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판단</a:t>
            </a:r>
            <a:endParaRPr lang="en-US" sz="750" dirty="0"/>
          </a:p>
        </p:txBody>
      </p:sp>
      <p:sp>
        <p:nvSpPr>
          <p:cNvPr id="57" name="Text 50"/>
          <p:cNvSpPr/>
          <p:nvPr/>
        </p:nvSpPr>
        <p:spPr>
          <a:xfrm>
            <a:off x="1265867" y="4600575"/>
            <a:ext cx="1620738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'지금 이 순간'만</a:t>
            </a:r>
            <a:endParaRPr lang="en-US" sz="800" dirty="0"/>
          </a:p>
        </p:txBody>
      </p:sp>
      <p:sp>
        <p:nvSpPr>
          <p:cNvPr id="58" name="Text 51"/>
          <p:cNvSpPr/>
          <p:nvPr/>
        </p:nvSpPr>
        <p:spPr>
          <a:xfrm>
            <a:off x="3000905" y="4700588"/>
            <a:ext cx="111085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'흐름 전체'를 보고 판단</a:t>
            </a:r>
            <a:endParaRPr lang="en-US" sz="750" dirty="0"/>
          </a:p>
        </p:txBody>
      </p:sp>
      <p:sp>
        <p:nvSpPr>
          <p:cNvPr id="59" name="Text 52"/>
          <p:cNvSpPr/>
          <p:nvPr/>
        </p:nvSpPr>
        <p:spPr>
          <a:xfrm>
            <a:off x="5486400" y="3318272"/>
            <a:ext cx="30861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장단점 분석</a:t>
            </a:r>
            <a:endParaRPr lang="en-US" sz="1000" dirty="0"/>
          </a:p>
        </p:txBody>
      </p:sp>
      <p:sp>
        <p:nvSpPr>
          <p:cNvPr id="60" name="Shape 53"/>
          <p:cNvSpPr/>
          <p:nvPr/>
        </p:nvSpPr>
        <p:spPr>
          <a:xfrm>
            <a:off x="5486400" y="3625453"/>
            <a:ext cx="3086100" cy="12715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4"/>
          <p:cNvSpPr/>
          <p:nvPr/>
        </p:nvSpPr>
        <p:spPr>
          <a:xfrm>
            <a:off x="5629275" y="3768328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시간 순서 반영 → 단기·중기 패턴 학습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5629275" y="4043363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비선형 패턴 포착 가능</a:t>
            </a:r>
            <a:endParaRPr lang="en-US" sz="800" dirty="0"/>
          </a:p>
        </p:txBody>
      </p:sp>
      <p:sp>
        <p:nvSpPr>
          <p:cNvPr id="63" name="Text 56"/>
          <p:cNvSpPr/>
          <p:nvPr/>
        </p:nvSpPr>
        <p:spPr>
          <a:xfrm>
            <a:off x="5629275" y="4318397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 시간 길고 블랙박스 (해석 어려움)</a:t>
            </a:r>
            <a:endParaRPr lang="en-US" sz="800" dirty="0"/>
          </a:p>
        </p:txBody>
      </p:sp>
      <p:sp>
        <p:nvSpPr>
          <p:cNvPr id="64" name="Text 57"/>
          <p:cNvSpPr/>
          <p:nvPr/>
        </p:nvSpPr>
        <p:spPr>
          <a:xfrm>
            <a:off x="5629275" y="4593431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하이퍼파라미터 설정이 중요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6893719" y="4793456"/>
            <a:ext cx="167878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7 / 17</a:t>
            </a:r>
            <a:endParaRPr lang="en-US" sz="750" dirty="0"/>
          </a:p>
        </p:txBody>
      </p:sp>
      <p:pic>
        <p:nvPicPr>
          <p:cNvPr id="6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9275" y="3782616"/>
            <a:ext cx="107156" cy="160734"/>
          </a:xfrm>
          <a:prstGeom prst="rect">
            <a:avLst/>
          </a:prstGeom>
        </p:spPr>
      </p:pic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9275" y="4057650"/>
            <a:ext cx="107156" cy="160734"/>
          </a:xfrm>
          <a:prstGeom prst="rect">
            <a:avLst/>
          </a:prstGeom>
        </p:spPr>
      </p:pic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9275" y="4332684"/>
            <a:ext cx="107156" cy="160734"/>
          </a:xfrm>
          <a:prstGeom prst="rect">
            <a:avLst/>
          </a:prstGeom>
        </p:spPr>
      </p:pic>
      <p:pic>
        <p:nvPicPr>
          <p:cNvPr id="6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9275" y="4607719"/>
            <a:ext cx="107156" cy="1607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Random Forest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9474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Ensemble Learning via Bagging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428625" y="1218009"/>
            <a:ext cx="8286750" cy="3429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1218009"/>
            <a:ext cx="28575" cy="342900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289447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8669" y="1293019"/>
            <a:ext cx="5441752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핵심 비유: 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300명의 분석가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가 각자 다른 데이터를 보고 예측한 뒤, 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평균(다수결)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을 낸다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28625" y="1646634"/>
            <a:ext cx="8286750" cy="8715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807244" y="1732359"/>
            <a:ext cx="328613" cy="328613"/>
          </a:xfrm>
          <a:prstGeom prst="ellipse">
            <a:avLst/>
          </a:prstGeom>
          <a:solidFill>
            <a:srgbClr val="F8F9FA"/>
          </a:solidFill>
          <a:ln w="18288">
            <a:solidFill>
              <a:srgbClr val="DEE2E6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42" y="1825228"/>
            <a:ext cx="125016" cy="1428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0265" y="2132409"/>
            <a:ext cx="56257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데이터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전체</a:t>
            </a:r>
            <a:endParaRPr lang="en-US" sz="7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155" y="2010966"/>
            <a:ext cx="125016" cy="142875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2607469" y="1732359"/>
            <a:ext cx="328613" cy="328613"/>
          </a:xfrm>
          <a:prstGeom prst="ellipse">
            <a:avLst/>
          </a:prstGeom>
          <a:solidFill>
            <a:srgbClr val="F8F9FA"/>
          </a:solidFill>
          <a:ln w="18288">
            <a:solidFill>
              <a:srgbClr val="DEE2E6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0338" y="1825228"/>
            <a:ext cx="142875" cy="14287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470845" y="2132409"/>
            <a:ext cx="601861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랜덤 샘플링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(배깅) ×300</a:t>
            </a:r>
            <a:endParaRPr lang="en-US" sz="7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9380" y="2010966"/>
            <a:ext cx="125016" cy="142875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407694" y="1732359"/>
            <a:ext cx="328613" cy="328613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9492" y="1825228"/>
            <a:ext cx="125016" cy="14287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4292501" y="2132409"/>
            <a:ext cx="558998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결정 트리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300개 학습</a:t>
            </a:r>
            <a:endParaRPr lang="en-US" sz="75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605" y="2010966"/>
            <a:ext cx="125016" cy="142875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6207919" y="1732359"/>
            <a:ext cx="328613" cy="328613"/>
          </a:xfrm>
          <a:prstGeom prst="ellipse">
            <a:avLst/>
          </a:prstGeom>
          <a:solidFill>
            <a:srgbClr val="F8F9FA"/>
          </a:solidFill>
          <a:ln w="18288">
            <a:solidFill>
              <a:srgbClr val="DEE2E6"/>
            </a:solidFill>
            <a:prstDash val="solid"/>
          </a:ln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0788" y="1825228"/>
            <a:ext cx="142875" cy="142875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6265069" y="2132409"/>
            <a:ext cx="214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각자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예측</a:t>
            </a:r>
            <a:endParaRPr lang="en-US" sz="7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9830" y="2010966"/>
            <a:ext cx="125016" cy="142875"/>
          </a:xfrm>
          <a:prstGeom prst="rect">
            <a:avLst/>
          </a:prstGeom>
        </p:spPr>
      </p:pic>
      <p:sp>
        <p:nvSpPr>
          <p:cNvPr id="26" name="Shape 14"/>
          <p:cNvSpPr/>
          <p:nvPr/>
        </p:nvSpPr>
        <p:spPr>
          <a:xfrm>
            <a:off x="8008144" y="1732359"/>
            <a:ext cx="328613" cy="328613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9942" y="1825228"/>
            <a:ext cx="125016" cy="142875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7877770" y="2132409"/>
            <a:ext cx="589359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평균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→ 최종 예측</a:t>
            </a:r>
            <a:endParaRPr lang="en-US" sz="7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8625" y="2688729"/>
            <a:ext cx="196453" cy="157163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82228" y="2661047"/>
            <a:ext cx="232886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결정 트리 1개 vs Random Forest</a:t>
            </a:r>
            <a:endParaRPr lang="en-US" sz="1100" dirty="0"/>
          </a:p>
        </p:txBody>
      </p:sp>
      <p:sp>
        <p:nvSpPr>
          <p:cNvPr id="31" name="Shape 17"/>
          <p:cNvSpPr/>
          <p:nvPr/>
        </p:nvSpPr>
        <p:spPr>
          <a:xfrm>
            <a:off x="428625" y="2959298"/>
            <a:ext cx="4442101" cy="9929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18"/>
          <p:cNvSpPr/>
          <p:nvPr/>
        </p:nvSpPr>
        <p:spPr>
          <a:xfrm>
            <a:off x="428625" y="2959298"/>
            <a:ext cx="1110518" cy="496491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3" name="Shape 19"/>
          <p:cNvSpPr/>
          <p:nvPr/>
        </p:nvSpPr>
        <p:spPr>
          <a:xfrm>
            <a:off x="428625" y="3448645"/>
            <a:ext cx="1110518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4" name="Text 20"/>
          <p:cNvSpPr/>
          <p:nvPr/>
        </p:nvSpPr>
        <p:spPr>
          <a:xfrm>
            <a:off x="428625" y="2959298"/>
            <a:ext cx="1110518" cy="49649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결정 트리 1개</a:t>
            </a:r>
            <a:endParaRPr lang="en-US" sz="800" dirty="0"/>
          </a:p>
        </p:txBody>
      </p:sp>
      <p:sp>
        <p:nvSpPr>
          <p:cNvPr id="35" name="Text 21"/>
          <p:cNvSpPr/>
          <p:nvPr/>
        </p:nvSpPr>
        <p:spPr>
          <a:xfrm>
            <a:off x="1624868" y="3061097"/>
            <a:ext cx="15144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훈련 데이터를 완전히 외워버림</a:t>
            </a:r>
            <a:endParaRPr lang="en-US" sz="800" dirty="0"/>
          </a:p>
        </p:txBody>
      </p:sp>
      <p:sp>
        <p:nvSpPr>
          <p:cNvPr id="36" name="Text 22"/>
          <p:cNvSpPr/>
          <p:nvPr/>
        </p:nvSpPr>
        <p:spPr>
          <a:xfrm>
            <a:off x="3139343" y="3061097"/>
            <a:ext cx="40362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(과적합)</a:t>
            </a:r>
            <a:endParaRPr lang="en-US" sz="750" dirty="0"/>
          </a:p>
        </p:txBody>
      </p:sp>
      <p:sp>
        <p:nvSpPr>
          <p:cNvPr id="37" name="Text 23"/>
          <p:cNvSpPr/>
          <p:nvPr/>
        </p:nvSpPr>
        <p:spPr>
          <a:xfrm>
            <a:off x="1624868" y="3221831"/>
            <a:ext cx="151626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새 데이터에 취약 (응용 불가)</a:t>
            </a:r>
            <a:endParaRPr lang="en-US" sz="800" dirty="0"/>
          </a:p>
        </p:txBody>
      </p:sp>
      <p:sp>
        <p:nvSpPr>
          <p:cNvPr id="38" name="Shape 24"/>
          <p:cNvSpPr/>
          <p:nvPr/>
        </p:nvSpPr>
        <p:spPr>
          <a:xfrm>
            <a:off x="428625" y="3455789"/>
            <a:ext cx="1110518" cy="496491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39" name="Text 25"/>
          <p:cNvSpPr/>
          <p:nvPr/>
        </p:nvSpPr>
        <p:spPr>
          <a:xfrm>
            <a:off x="428625" y="3455789"/>
            <a:ext cx="1110518" cy="49649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1539143" y="3455789"/>
            <a:ext cx="3331583" cy="496491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41" name="Text 27"/>
          <p:cNvSpPr/>
          <p:nvPr/>
        </p:nvSpPr>
        <p:spPr>
          <a:xfrm>
            <a:off x="1624868" y="3561159"/>
            <a:ext cx="16519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각 트리가 서로 다른 데이터로 학습</a:t>
            </a:r>
            <a:endParaRPr lang="en-US" sz="800" dirty="0"/>
          </a:p>
        </p:txBody>
      </p:sp>
      <p:sp>
        <p:nvSpPr>
          <p:cNvPr id="42" name="Text 28"/>
          <p:cNvSpPr/>
          <p:nvPr/>
        </p:nvSpPr>
        <p:spPr>
          <a:xfrm>
            <a:off x="1624868" y="3721894"/>
            <a:ext cx="13751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3" name="Text 29"/>
          <p:cNvSpPr/>
          <p:nvPr/>
        </p:nvSpPr>
        <p:spPr>
          <a:xfrm>
            <a:off x="1762385" y="3721894"/>
            <a:ext cx="4286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집단지성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2191010" y="3721894"/>
            <a:ext cx="94833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으로 개인 실수 상쇄</a:t>
            </a:r>
            <a:endParaRPr lang="en-US" sz="800" dirty="0"/>
          </a:p>
        </p:txBody>
      </p:sp>
      <p:pic>
        <p:nvPicPr>
          <p:cNvPr id="4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13601" y="2688729"/>
            <a:ext cx="157163" cy="157163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5227913" y="2661047"/>
            <a:ext cx="145375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주요 하이퍼파라미터</a:t>
            </a:r>
            <a:endParaRPr lang="en-US" sz="1100" dirty="0"/>
          </a:p>
        </p:txBody>
      </p:sp>
      <p:sp>
        <p:nvSpPr>
          <p:cNvPr id="47" name="Shape 32"/>
          <p:cNvSpPr/>
          <p:nvPr/>
        </p:nvSpPr>
        <p:spPr>
          <a:xfrm>
            <a:off x="5013601" y="2959298"/>
            <a:ext cx="1808011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33"/>
          <p:cNvSpPr/>
          <p:nvPr/>
        </p:nvSpPr>
        <p:spPr>
          <a:xfrm>
            <a:off x="5013601" y="2959298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9" name="Text 34"/>
          <p:cNvSpPr/>
          <p:nvPr/>
        </p:nvSpPr>
        <p:spPr>
          <a:xfrm>
            <a:off x="5099326" y="3030736"/>
            <a:ext cx="1636561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 = 300</a:t>
            </a:r>
            <a:endParaRPr lang="en-US" sz="800" dirty="0"/>
          </a:p>
        </p:txBody>
      </p:sp>
      <p:sp>
        <p:nvSpPr>
          <p:cNvPr id="50" name="Text 35"/>
          <p:cNvSpPr/>
          <p:nvPr/>
        </p:nvSpPr>
        <p:spPr>
          <a:xfrm>
            <a:off x="5099326" y="3187898"/>
            <a:ext cx="163656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트리 300개 (탐색 시 elbow point 확인)</a:t>
            </a:r>
            <a:endParaRPr lang="en-US" sz="750" dirty="0"/>
          </a:p>
        </p:txBody>
      </p:sp>
      <p:sp>
        <p:nvSpPr>
          <p:cNvPr id="51" name="Shape 36"/>
          <p:cNvSpPr/>
          <p:nvPr/>
        </p:nvSpPr>
        <p:spPr>
          <a:xfrm>
            <a:off x="6907337" y="2959298"/>
            <a:ext cx="1808038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37"/>
          <p:cNvSpPr/>
          <p:nvPr/>
        </p:nvSpPr>
        <p:spPr>
          <a:xfrm>
            <a:off x="6907337" y="2959298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3" name="Text 38"/>
          <p:cNvSpPr/>
          <p:nvPr/>
        </p:nvSpPr>
        <p:spPr>
          <a:xfrm>
            <a:off x="6993062" y="3030736"/>
            <a:ext cx="163658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 = 8</a:t>
            </a:r>
            <a:endParaRPr lang="en-US" sz="800" dirty="0"/>
          </a:p>
        </p:txBody>
      </p:sp>
      <p:sp>
        <p:nvSpPr>
          <p:cNvPr id="54" name="Text 39"/>
          <p:cNvSpPr/>
          <p:nvPr/>
        </p:nvSpPr>
        <p:spPr>
          <a:xfrm>
            <a:off x="6993062" y="3187898"/>
            <a:ext cx="163658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트리 깊이 제한 (너무 깊으면 과적합)</a:t>
            </a:r>
            <a:endParaRPr lang="en-US" sz="750" dirty="0"/>
          </a:p>
        </p:txBody>
      </p:sp>
      <p:sp>
        <p:nvSpPr>
          <p:cNvPr id="55" name="Shape 40"/>
          <p:cNvSpPr/>
          <p:nvPr/>
        </p:nvSpPr>
        <p:spPr>
          <a:xfrm>
            <a:off x="5013601" y="3625062"/>
            <a:ext cx="1808011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41"/>
          <p:cNvSpPr/>
          <p:nvPr/>
        </p:nvSpPr>
        <p:spPr>
          <a:xfrm>
            <a:off x="5013601" y="3625062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7" name="Text 42"/>
          <p:cNvSpPr/>
          <p:nvPr/>
        </p:nvSpPr>
        <p:spPr>
          <a:xfrm>
            <a:off x="5099326" y="3696500"/>
            <a:ext cx="1636561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min_samples_leaf = 20</a:t>
            </a:r>
            <a:endParaRPr lang="en-US" sz="800" dirty="0"/>
          </a:p>
        </p:txBody>
      </p:sp>
      <p:sp>
        <p:nvSpPr>
          <p:cNvPr id="58" name="Text 43"/>
          <p:cNvSpPr/>
          <p:nvPr/>
        </p:nvSpPr>
        <p:spPr>
          <a:xfrm>
            <a:off x="5099326" y="3853662"/>
            <a:ext cx="163656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리프 노드 최소 20샘플 (섣부른 예측 방지)</a:t>
            </a:r>
            <a:endParaRPr lang="en-US" sz="750" dirty="0"/>
          </a:p>
        </p:txBody>
      </p:sp>
      <p:sp>
        <p:nvSpPr>
          <p:cNvPr id="59" name="Shape 44"/>
          <p:cNvSpPr/>
          <p:nvPr/>
        </p:nvSpPr>
        <p:spPr>
          <a:xfrm>
            <a:off x="6907337" y="3625062"/>
            <a:ext cx="1808038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45"/>
          <p:cNvSpPr/>
          <p:nvPr/>
        </p:nvSpPr>
        <p:spPr>
          <a:xfrm>
            <a:off x="6907337" y="3625062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1" name="Text 46"/>
          <p:cNvSpPr/>
          <p:nvPr/>
        </p:nvSpPr>
        <p:spPr>
          <a:xfrm>
            <a:off x="6993062" y="3696500"/>
            <a:ext cx="163658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n_jobs = -1</a:t>
            </a:r>
            <a:endParaRPr lang="en-US" sz="800" dirty="0"/>
          </a:p>
        </p:txBody>
      </p:sp>
      <p:sp>
        <p:nvSpPr>
          <p:cNvPr id="62" name="Text 47"/>
          <p:cNvSpPr/>
          <p:nvPr/>
        </p:nvSpPr>
        <p:spPr>
          <a:xfrm>
            <a:off x="6993062" y="3853662"/>
            <a:ext cx="163658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CPU 전체 코어 사용 (병렬 학습으로 속도 향상)</a:t>
            </a:r>
            <a:endParaRPr lang="en-US" sz="750" dirty="0"/>
          </a:p>
        </p:txBody>
      </p:sp>
      <p:sp>
        <p:nvSpPr>
          <p:cNvPr id="63" name="Text 48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8 / 17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XGBoost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9474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eXtreme Gradient Boosting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160859"/>
            <a:ext cx="8001000" cy="371475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160859"/>
            <a:ext cx="28575" cy="371475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246584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0119" y="1250156"/>
            <a:ext cx="5439966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핵심 비유: 이전 모델이 틀린 부분을 다음 모델이 집중적으로 보완한다 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(오답 노트 학습)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71500" y="1660922"/>
            <a:ext cx="8001000" cy="9229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1028700" y="1760934"/>
            <a:ext cx="357188" cy="357188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786" y="1868091"/>
            <a:ext cx="125016" cy="1428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4767" y="2203847"/>
            <a:ext cx="425053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1번 트리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전체 예측</a:t>
            </a:r>
            <a:endParaRPr lang="en-US" sz="7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5963" y="2050954"/>
            <a:ext cx="125016" cy="142875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2711053" y="1760934"/>
            <a:ext cx="357188" cy="357188"/>
          </a:xfrm>
          <a:prstGeom prst="ellipse">
            <a:avLst/>
          </a:prstGeom>
          <a:solidFill>
            <a:srgbClr val="FFF3CD"/>
          </a:solidFill>
          <a:ln w="18288">
            <a:solidFill>
              <a:srgbClr val="FF9900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8209" y="1868091"/>
            <a:ext cx="142875" cy="14287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628900" y="2203847"/>
            <a:ext cx="5214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오차 계산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(실제-예측)</a:t>
            </a:r>
            <a:endParaRPr lang="en-US" sz="7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8316" y="2050954"/>
            <a:ext cx="125016" cy="142875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393406" y="1760934"/>
            <a:ext cx="357188" cy="357188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9492" y="1868091"/>
            <a:ext cx="125016" cy="14287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4246959" y="2203847"/>
            <a:ext cx="65008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2번 트리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오차 타깃 학습</a:t>
            </a:r>
            <a:endParaRPr lang="en-US" sz="7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50669" y="2050954"/>
            <a:ext cx="125016" cy="142875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6075759" y="1760934"/>
            <a:ext cx="357188" cy="357188"/>
          </a:xfrm>
          <a:prstGeom prst="ellipse">
            <a:avLst/>
          </a:prstGeom>
          <a:solidFill>
            <a:srgbClr val="FFF3CD"/>
          </a:solidFill>
          <a:ln w="18288">
            <a:solidFill>
              <a:srgbClr val="FF9900"/>
            </a:solidFill>
            <a:prstDash val="solid"/>
          </a:ln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2916" y="1868091"/>
            <a:ext cx="142875" cy="142875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6041827" y="2203847"/>
            <a:ext cx="425053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남은 오차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계산</a:t>
            </a:r>
            <a:endParaRPr lang="en-US" sz="7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33022" y="2050954"/>
            <a:ext cx="125016" cy="142875"/>
          </a:xfrm>
          <a:prstGeom prst="rect">
            <a:avLst/>
          </a:prstGeom>
        </p:spPr>
      </p:pic>
      <p:sp>
        <p:nvSpPr>
          <p:cNvPr id="26" name="Shape 14"/>
          <p:cNvSpPr/>
          <p:nvPr/>
        </p:nvSpPr>
        <p:spPr>
          <a:xfrm>
            <a:off x="7758113" y="1760934"/>
            <a:ext cx="357188" cy="357188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5269" y="1868091"/>
            <a:ext cx="142875" cy="142875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7677745" y="2203847"/>
            <a:ext cx="517922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500번 반복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최종 합산</a:t>
            </a:r>
            <a:endParaRPr lang="en-US" sz="70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782993"/>
            <a:ext cx="196453" cy="157163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25103" y="2755311"/>
            <a:ext cx="2134195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RF(배깅) vs XGBoost(부스팅)</a:t>
            </a:r>
            <a:endParaRPr lang="en-US" sz="1100" dirty="0"/>
          </a:p>
        </p:txBody>
      </p:sp>
      <p:sp>
        <p:nvSpPr>
          <p:cNvPr id="31" name="Shape 17"/>
          <p:cNvSpPr/>
          <p:nvPr/>
        </p:nvSpPr>
        <p:spPr>
          <a:xfrm>
            <a:off x="571500" y="3053562"/>
            <a:ext cx="4286250" cy="123586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18"/>
          <p:cNvSpPr/>
          <p:nvPr/>
        </p:nvSpPr>
        <p:spPr>
          <a:xfrm>
            <a:off x="571500" y="3053562"/>
            <a:ext cx="1071563" cy="617934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3" name="Shape 19"/>
          <p:cNvSpPr/>
          <p:nvPr/>
        </p:nvSpPr>
        <p:spPr>
          <a:xfrm>
            <a:off x="571500" y="3664353"/>
            <a:ext cx="1071563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4" name="Text 20"/>
          <p:cNvSpPr/>
          <p:nvPr/>
        </p:nvSpPr>
        <p:spPr>
          <a:xfrm>
            <a:off x="657225" y="3216083"/>
            <a:ext cx="83224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35" name="Text 21"/>
          <p:cNvSpPr/>
          <p:nvPr/>
        </p:nvSpPr>
        <p:spPr>
          <a:xfrm>
            <a:off x="657225" y="3358958"/>
            <a:ext cx="3143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(배깅)</a:t>
            </a:r>
            <a:endParaRPr lang="en-US" sz="800" dirty="0"/>
          </a:p>
        </p:txBody>
      </p:sp>
      <p:sp>
        <p:nvSpPr>
          <p:cNvPr id="36" name="Text 22"/>
          <p:cNvSpPr/>
          <p:nvPr/>
        </p:nvSpPr>
        <p:spPr>
          <a:xfrm>
            <a:off x="1728788" y="3139287"/>
            <a:ext cx="170199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300개 트리를 독립적으로 만들고 평균</a:t>
            </a:r>
            <a:endParaRPr lang="en-US" sz="750" dirty="0"/>
          </a:p>
        </p:txBody>
      </p:sp>
      <p:sp>
        <p:nvSpPr>
          <p:cNvPr id="37" name="Text 23"/>
          <p:cNvSpPr/>
          <p:nvPr/>
        </p:nvSpPr>
        <p:spPr>
          <a:xfrm>
            <a:off x="1728788" y="3317881"/>
            <a:ext cx="304323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00C9A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장점: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병렬 처리 → 빠름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650" dirty="0">
                <a:solidFill>
                  <a:srgbClr val="FF6B6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오차를 체계적으로 줄이지 못함</a:t>
            </a:r>
            <a:endParaRPr lang="en-US" sz="650" dirty="0"/>
          </a:p>
        </p:txBody>
      </p:sp>
      <p:sp>
        <p:nvSpPr>
          <p:cNvPr id="38" name="Shape 24"/>
          <p:cNvSpPr/>
          <p:nvPr/>
        </p:nvSpPr>
        <p:spPr>
          <a:xfrm>
            <a:off x="571500" y="3671497"/>
            <a:ext cx="1071563" cy="617934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39" name="Text 25"/>
          <p:cNvSpPr/>
          <p:nvPr/>
        </p:nvSpPr>
        <p:spPr>
          <a:xfrm>
            <a:off x="657225" y="3834017"/>
            <a:ext cx="48041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XGBoost</a:t>
            </a:r>
            <a:endParaRPr lang="en-US" sz="800" dirty="0"/>
          </a:p>
        </p:txBody>
      </p:sp>
      <p:sp>
        <p:nvSpPr>
          <p:cNvPr id="40" name="Text 26"/>
          <p:cNvSpPr/>
          <p:nvPr/>
        </p:nvSpPr>
        <p:spPr>
          <a:xfrm>
            <a:off x="657225" y="3976892"/>
            <a:ext cx="4286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(부스팅)</a:t>
            </a:r>
            <a:endParaRPr lang="en-US" sz="800" dirty="0"/>
          </a:p>
        </p:txBody>
      </p:sp>
      <p:sp>
        <p:nvSpPr>
          <p:cNvPr id="41" name="Shape 27"/>
          <p:cNvSpPr/>
          <p:nvPr/>
        </p:nvSpPr>
        <p:spPr>
          <a:xfrm>
            <a:off x="1643063" y="3671497"/>
            <a:ext cx="3214688" cy="617934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42" name="Text 28"/>
          <p:cNvSpPr/>
          <p:nvPr/>
        </p:nvSpPr>
        <p:spPr>
          <a:xfrm>
            <a:off x="1728788" y="3760794"/>
            <a:ext cx="187166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트리를 순서대로 만들며 앞 트리 오차 보정</a:t>
            </a:r>
            <a:endParaRPr lang="en-US" sz="750" dirty="0"/>
          </a:p>
        </p:txBody>
      </p:sp>
      <p:sp>
        <p:nvSpPr>
          <p:cNvPr id="43" name="Text 29"/>
          <p:cNvSpPr/>
          <p:nvPr/>
        </p:nvSpPr>
        <p:spPr>
          <a:xfrm>
            <a:off x="1728788" y="3939387"/>
            <a:ext cx="304323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00C9A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장점: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오차를 단계적으로 줄임 → 높은 정확도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650" dirty="0">
                <a:solidFill>
                  <a:srgbClr val="FF6B6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순차 처리 → 약간 느림, 파라미터 민감</a:t>
            </a:r>
            <a:endParaRPr lang="en-US" sz="65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00625" y="2782993"/>
            <a:ext cx="157163" cy="157163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5214938" y="2755311"/>
            <a:ext cx="145375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주요 하이퍼파라미터</a:t>
            </a:r>
            <a:endParaRPr lang="en-US" sz="1100" dirty="0"/>
          </a:p>
        </p:txBody>
      </p:sp>
      <p:sp>
        <p:nvSpPr>
          <p:cNvPr id="46" name="Shape 31"/>
          <p:cNvSpPr/>
          <p:nvPr/>
        </p:nvSpPr>
        <p:spPr>
          <a:xfrm>
            <a:off x="5000625" y="3053562"/>
            <a:ext cx="3571875" cy="422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32"/>
          <p:cNvSpPr/>
          <p:nvPr/>
        </p:nvSpPr>
        <p:spPr>
          <a:xfrm>
            <a:off x="5000625" y="3053562"/>
            <a:ext cx="21431" cy="4229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8" name="Text 33"/>
          <p:cNvSpPr/>
          <p:nvPr/>
        </p:nvSpPr>
        <p:spPr>
          <a:xfrm>
            <a:off x="5086350" y="3125000"/>
            <a:ext cx="34004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 = 500</a:t>
            </a:r>
            <a:endParaRPr lang="en-US" sz="750" dirty="0"/>
          </a:p>
        </p:txBody>
      </p:sp>
      <p:sp>
        <p:nvSpPr>
          <p:cNvPr id="49" name="Text 34"/>
          <p:cNvSpPr/>
          <p:nvPr/>
        </p:nvSpPr>
        <p:spPr>
          <a:xfrm>
            <a:off x="5086350" y="3275019"/>
            <a:ext cx="3400425" cy="130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Stopping으로 최적 라운드 자동 탐색 (실사용 ~350)</a:t>
            </a:r>
            <a:endParaRPr lang="en-US" sz="650" dirty="0"/>
          </a:p>
        </p:txBody>
      </p:sp>
      <p:sp>
        <p:nvSpPr>
          <p:cNvPr id="50" name="Shape 35"/>
          <p:cNvSpPr/>
          <p:nvPr/>
        </p:nvSpPr>
        <p:spPr>
          <a:xfrm>
            <a:off x="5000625" y="3547904"/>
            <a:ext cx="3571875" cy="422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36"/>
          <p:cNvSpPr/>
          <p:nvPr/>
        </p:nvSpPr>
        <p:spPr>
          <a:xfrm>
            <a:off x="5000625" y="3547904"/>
            <a:ext cx="21431" cy="4229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2" name="Text 37"/>
          <p:cNvSpPr/>
          <p:nvPr/>
        </p:nvSpPr>
        <p:spPr>
          <a:xfrm>
            <a:off x="5086350" y="3619342"/>
            <a:ext cx="34004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 = 0.05</a:t>
            </a:r>
            <a:endParaRPr lang="en-US" sz="750" dirty="0"/>
          </a:p>
        </p:txBody>
      </p:sp>
      <p:sp>
        <p:nvSpPr>
          <p:cNvPr id="53" name="Text 38"/>
          <p:cNvSpPr/>
          <p:nvPr/>
        </p:nvSpPr>
        <p:spPr>
          <a:xfrm>
            <a:off x="5086350" y="3769361"/>
            <a:ext cx="3400425" cy="130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각 트리 기여도 5% (작을수록 신중, 클수록 빠름)</a:t>
            </a:r>
            <a:endParaRPr lang="en-US" sz="650" dirty="0"/>
          </a:p>
        </p:txBody>
      </p:sp>
      <p:sp>
        <p:nvSpPr>
          <p:cNvPr id="54" name="Shape 39"/>
          <p:cNvSpPr/>
          <p:nvPr/>
        </p:nvSpPr>
        <p:spPr>
          <a:xfrm>
            <a:off x="5000625" y="4042246"/>
            <a:ext cx="3571875" cy="422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40"/>
          <p:cNvSpPr/>
          <p:nvPr/>
        </p:nvSpPr>
        <p:spPr>
          <a:xfrm>
            <a:off x="5000625" y="4042246"/>
            <a:ext cx="21431" cy="4229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6" name="Text 41"/>
          <p:cNvSpPr/>
          <p:nvPr/>
        </p:nvSpPr>
        <p:spPr>
          <a:xfrm>
            <a:off x="5086350" y="4113684"/>
            <a:ext cx="34004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 = 0.8</a:t>
            </a:r>
            <a:endParaRPr lang="en-US" sz="750" dirty="0"/>
          </a:p>
        </p:txBody>
      </p:sp>
      <p:sp>
        <p:nvSpPr>
          <p:cNvPr id="57" name="Text 42"/>
          <p:cNvSpPr/>
          <p:nvPr/>
        </p:nvSpPr>
        <p:spPr>
          <a:xfrm>
            <a:off x="5086350" y="4263703"/>
            <a:ext cx="3400425" cy="130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라운드마다 데이터 80%만 사용 (과적합 방지)</a:t>
            </a:r>
            <a:endParaRPr lang="en-US" sz="650" dirty="0"/>
          </a:p>
        </p:txBody>
      </p:sp>
      <p:sp>
        <p:nvSpPr>
          <p:cNvPr id="58" name="Text 43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9 / 17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LSTM 모델 아키텍처 상세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 Architecture Detail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344811"/>
            <a:ext cx="3228975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344811"/>
            <a:ext cx="3228975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7" name="Text 4"/>
          <p:cNvSpPr/>
          <p:nvPr/>
        </p:nvSpPr>
        <p:spPr>
          <a:xfrm>
            <a:off x="714375" y="1487686"/>
            <a:ext cx="2943225" cy="233958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Top-Down Flow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935106" y="1835944"/>
            <a:ext cx="2501736" cy="360759"/>
          </a:xfrm>
          <a:prstGeom prst="rect">
            <a:avLst/>
          </a:prstGeom>
          <a:solidFill>
            <a:srgbClr val="E9ECEF"/>
          </a:solidFill>
          <a:ln w="9144">
            <a:solidFill>
              <a:srgbClr val="CED4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0831" y="1893094"/>
            <a:ext cx="233028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INPUT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20831" y="2035969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(N, 60, 11)</a:t>
            </a:r>
            <a:endParaRPr lang="en-US" sz="5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483" y="2225278"/>
            <a:ext cx="75009" cy="100013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35106" y="2368153"/>
            <a:ext cx="2501736" cy="376833"/>
          </a:xfrm>
          <a:prstGeom prst="rect">
            <a:avLst/>
          </a:prstGeom>
          <a:solidFill>
            <a:srgbClr val="E8F0FE"/>
          </a:solidFill>
          <a:ln w="9144">
            <a:solidFill>
              <a:srgbClr val="AECBF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20831" y="2425303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967D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128유닛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020831" y="2584252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return_sequences=True</a:t>
            </a:r>
            <a:endParaRPr lang="en-US" sz="5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483" y="2773561"/>
            <a:ext cx="75009" cy="10001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1082278" y="2916436"/>
            <a:ext cx="2207419" cy="200025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dash"/>
          </a:ln>
        </p:spPr>
      </p:sp>
      <p:sp>
        <p:nvSpPr>
          <p:cNvPr id="17" name="Text 12"/>
          <p:cNvSpPr/>
          <p:nvPr/>
        </p:nvSpPr>
        <p:spPr>
          <a:xfrm>
            <a:off x="1139428" y="2945011"/>
            <a:ext cx="209311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 + Dropout 0.2</a:t>
            </a:r>
            <a:endParaRPr lang="en-US" sz="8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483" y="3145036"/>
            <a:ext cx="75009" cy="100013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35106" y="3287911"/>
            <a:ext cx="2501736" cy="376833"/>
          </a:xfrm>
          <a:prstGeom prst="rect">
            <a:avLst/>
          </a:prstGeom>
          <a:solidFill>
            <a:srgbClr val="E8F0FE"/>
          </a:solidFill>
          <a:ln w="9144">
            <a:solidFill>
              <a:srgbClr val="AECBFA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020831" y="3345061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967D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64유닛</a:t>
            </a:r>
            <a:endParaRPr lang="en-US" sz="750" dirty="0"/>
          </a:p>
        </p:txBody>
      </p:sp>
      <p:sp>
        <p:nvSpPr>
          <p:cNvPr id="21" name="Text 15"/>
          <p:cNvSpPr/>
          <p:nvPr/>
        </p:nvSpPr>
        <p:spPr>
          <a:xfrm>
            <a:off x="1020831" y="3504009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return_sequences=True</a:t>
            </a:r>
            <a:endParaRPr lang="en-US" sz="5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8483" y="3693319"/>
            <a:ext cx="75009" cy="100013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082278" y="3836194"/>
            <a:ext cx="2207419" cy="200025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dash"/>
          </a:ln>
        </p:spPr>
      </p:sp>
      <p:sp>
        <p:nvSpPr>
          <p:cNvPr id="24" name="Text 17"/>
          <p:cNvSpPr/>
          <p:nvPr/>
        </p:nvSpPr>
        <p:spPr>
          <a:xfrm>
            <a:off x="1139428" y="3864769"/>
            <a:ext cx="209311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 + Dropout 0.2</a:t>
            </a:r>
            <a:endParaRPr lang="en-US" sz="8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8483" y="4064794"/>
            <a:ext cx="75009" cy="100013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35106" y="4207669"/>
            <a:ext cx="2501736" cy="376833"/>
          </a:xfrm>
          <a:prstGeom prst="rect">
            <a:avLst/>
          </a:prstGeom>
          <a:solidFill>
            <a:srgbClr val="E8F0FE"/>
          </a:solidFill>
          <a:ln w="9144">
            <a:solidFill>
              <a:srgbClr val="AECBFA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1020831" y="4264819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967D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32유닛</a:t>
            </a:r>
            <a:endParaRPr lang="en-US" sz="750" dirty="0"/>
          </a:p>
        </p:txBody>
      </p:sp>
      <p:sp>
        <p:nvSpPr>
          <p:cNvPr id="28" name="Text 20"/>
          <p:cNvSpPr/>
          <p:nvPr/>
        </p:nvSpPr>
        <p:spPr>
          <a:xfrm>
            <a:off x="1020831" y="4423767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return_sequences=False</a:t>
            </a:r>
            <a:endParaRPr lang="en-US" sz="55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483" y="4613077"/>
            <a:ext cx="75009" cy="100013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1082278" y="4755952"/>
            <a:ext cx="2207419" cy="200025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dash"/>
          </a:ln>
        </p:spPr>
      </p:sp>
      <p:sp>
        <p:nvSpPr>
          <p:cNvPr id="31" name="Text 22"/>
          <p:cNvSpPr/>
          <p:nvPr/>
        </p:nvSpPr>
        <p:spPr>
          <a:xfrm>
            <a:off x="1139428" y="4784527"/>
            <a:ext cx="209311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Dropout 0.1</a:t>
            </a:r>
            <a:endParaRPr lang="en-US" sz="8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8483" y="4984552"/>
            <a:ext cx="75009" cy="100013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35106" y="5127427"/>
            <a:ext cx="2501736" cy="360759"/>
          </a:xfrm>
          <a:prstGeom prst="rect">
            <a:avLst/>
          </a:prstGeom>
          <a:solidFill>
            <a:srgbClr val="FEF3E8"/>
          </a:solidFill>
          <a:ln w="9144">
            <a:solidFill>
              <a:srgbClr val="FCE8D5"/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1020831" y="5184577"/>
            <a:ext cx="233028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E67C7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Dense 16</a:t>
            </a:r>
            <a:endParaRPr lang="en-US" sz="750" dirty="0"/>
          </a:p>
        </p:txBody>
      </p:sp>
      <p:sp>
        <p:nvSpPr>
          <p:cNvPr id="35" name="Text 25"/>
          <p:cNvSpPr/>
          <p:nvPr/>
        </p:nvSpPr>
        <p:spPr>
          <a:xfrm>
            <a:off x="1020831" y="5327452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Activation: ReLU</a:t>
            </a:r>
            <a:endParaRPr lang="en-US" sz="5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8483" y="5516761"/>
            <a:ext cx="75009" cy="100013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935106" y="5659636"/>
            <a:ext cx="2501736" cy="392906"/>
          </a:xfrm>
          <a:prstGeom prst="rect">
            <a:avLst/>
          </a:prstGeom>
          <a:solidFill>
            <a:srgbClr val="E9ECEF"/>
          </a:solidFill>
          <a:ln w="9144">
            <a:solidFill>
              <a:srgbClr val="CED4DA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1020831" y="5716786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Dense 1 (출력)</a:t>
            </a:r>
            <a:endParaRPr lang="en-US" sz="750" dirty="0"/>
          </a:p>
        </p:txBody>
      </p:sp>
      <p:sp>
        <p:nvSpPr>
          <p:cNvPr id="39" name="Text 28"/>
          <p:cNvSpPr/>
          <p:nvPr/>
        </p:nvSpPr>
        <p:spPr>
          <a:xfrm>
            <a:off x="1020831" y="5875734"/>
            <a:ext cx="2330286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5일 후 등락률</a:t>
            </a:r>
            <a:endParaRPr lang="en-US" sz="550" dirty="0"/>
          </a:p>
        </p:txBody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57663" y="1375172"/>
            <a:ext cx="214313" cy="17145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4443413" y="1344811"/>
            <a:ext cx="728663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설계 근거</a:t>
            </a:r>
            <a:endParaRPr lang="en-US" sz="1200" dirty="0"/>
          </a:p>
        </p:txBody>
      </p:sp>
      <p:sp>
        <p:nvSpPr>
          <p:cNvPr id="42" name="Shape 30"/>
          <p:cNvSpPr/>
          <p:nvPr/>
        </p:nvSpPr>
        <p:spPr>
          <a:xfrm>
            <a:off x="4157663" y="1719858"/>
            <a:ext cx="4414838" cy="370037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31"/>
          <p:cNvSpPr/>
          <p:nvPr/>
        </p:nvSpPr>
        <p:spPr>
          <a:xfrm>
            <a:off x="4371975" y="1919883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44" name="Text 32"/>
          <p:cNvSpPr/>
          <p:nvPr/>
        </p:nvSpPr>
        <p:spPr>
          <a:xfrm>
            <a:off x="4543425" y="1912739"/>
            <a:ext cx="8858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입력 및 출력 구조</a:t>
            </a:r>
            <a:endParaRPr lang="en-US" sz="800" dirty="0"/>
          </a:p>
        </p:txBody>
      </p:sp>
      <p:sp>
        <p:nvSpPr>
          <p:cNvPr id="45" name="Text 33"/>
          <p:cNvSpPr/>
          <p:nvPr/>
        </p:nvSpPr>
        <p:spPr>
          <a:xfrm>
            <a:off x="4543425" y="2117034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입력: 과거 60거래일 × 11개 기술적 지표</a:t>
            </a:r>
            <a:endParaRPr lang="en-US" sz="800" dirty="0"/>
          </a:p>
        </p:txBody>
      </p:sp>
      <p:sp>
        <p:nvSpPr>
          <p:cNvPr id="46" name="Text 34"/>
          <p:cNvSpPr/>
          <p:nvPr/>
        </p:nvSpPr>
        <p:spPr>
          <a:xfrm>
            <a:off x="4543425" y="2331346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출력: 5거래일 후 예상 등락률 (회귀 문제)</a:t>
            </a:r>
            <a:endParaRPr lang="en-US" sz="800" dirty="0"/>
          </a:p>
        </p:txBody>
      </p:sp>
      <p:sp>
        <p:nvSpPr>
          <p:cNvPr id="47" name="Text 35"/>
          <p:cNvSpPr/>
          <p:nvPr/>
        </p:nvSpPr>
        <p:spPr>
          <a:xfrm>
            <a:off x="4543425" y="2117034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8" name="Text 36"/>
          <p:cNvSpPr/>
          <p:nvPr/>
        </p:nvSpPr>
        <p:spPr>
          <a:xfrm>
            <a:off x="4543425" y="2331346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9" name="Text 37"/>
          <p:cNvSpPr/>
          <p:nvPr/>
        </p:nvSpPr>
        <p:spPr>
          <a:xfrm>
            <a:off x="4371975" y="2659959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50" name="Text 38"/>
          <p:cNvSpPr/>
          <p:nvPr/>
        </p:nvSpPr>
        <p:spPr>
          <a:xfrm>
            <a:off x="4543425" y="2652815"/>
            <a:ext cx="102155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3층 LSTM 아키텍처</a:t>
            </a:r>
            <a:endParaRPr lang="en-US" sz="800" dirty="0"/>
          </a:p>
        </p:txBody>
      </p:sp>
      <p:sp>
        <p:nvSpPr>
          <p:cNvPr id="51" name="Text 39"/>
          <p:cNvSpPr/>
          <p:nvPr/>
        </p:nvSpPr>
        <p:spPr>
          <a:xfrm>
            <a:off x="4543425" y="2857109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패턴에서 중기 패턴으로 계층적(Hierarchical) 학습 유도</a:t>
            </a:r>
            <a:endParaRPr lang="en-US" sz="800" dirty="0"/>
          </a:p>
        </p:txBody>
      </p:sp>
      <p:sp>
        <p:nvSpPr>
          <p:cNvPr id="52" name="Text 40"/>
          <p:cNvSpPr/>
          <p:nvPr/>
        </p:nvSpPr>
        <p:spPr>
          <a:xfrm>
            <a:off x="4543425" y="2857109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53" name="Text 41"/>
          <p:cNvSpPr/>
          <p:nvPr/>
        </p:nvSpPr>
        <p:spPr>
          <a:xfrm>
            <a:off x="4371975" y="3185722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54" name="Text 42"/>
          <p:cNvSpPr/>
          <p:nvPr/>
        </p:nvSpPr>
        <p:spPr>
          <a:xfrm>
            <a:off x="4543425" y="3178578"/>
            <a:ext cx="11144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정규화 및 과적합 방지</a:t>
            </a:r>
            <a:endParaRPr lang="en-US" sz="800" dirty="0"/>
          </a:p>
        </p:txBody>
      </p:sp>
      <p:sp>
        <p:nvSpPr>
          <p:cNvPr id="55" name="Text 43"/>
          <p:cNvSpPr/>
          <p:nvPr/>
        </p:nvSpPr>
        <p:spPr>
          <a:xfrm>
            <a:off x="4543425" y="3382873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BatchNorm: 배치 간 데이터 분포 안정화로 학습 속도 향상</a:t>
            </a:r>
            <a:endParaRPr lang="en-US" sz="800" dirty="0"/>
          </a:p>
        </p:txBody>
      </p:sp>
      <p:sp>
        <p:nvSpPr>
          <p:cNvPr id="56" name="Text 44"/>
          <p:cNvSpPr/>
          <p:nvPr/>
        </p:nvSpPr>
        <p:spPr>
          <a:xfrm>
            <a:off x="4543425" y="3597185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Dropout: 과적합 억제 (0.1~0.2 비율 적용)</a:t>
            </a:r>
            <a:endParaRPr lang="en-US" sz="800" dirty="0"/>
          </a:p>
        </p:txBody>
      </p:sp>
      <p:sp>
        <p:nvSpPr>
          <p:cNvPr id="57" name="Text 45"/>
          <p:cNvSpPr/>
          <p:nvPr/>
        </p:nvSpPr>
        <p:spPr>
          <a:xfrm>
            <a:off x="4543425" y="3382873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58" name="Text 46"/>
          <p:cNvSpPr/>
          <p:nvPr/>
        </p:nvSpPr>
        <p:spPr>
          <a:xfrm>
            <a:off x="4543425" y="3597185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59" name="Text 47"/>
          <p:cNvSpPr/>
          <p:nvPr/>
        </p:nvSpPr>
        <p:spPr>
          <a:xfrm>
            <a:off x="4371975" y="3925798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60" name="Text 48"/>
          <p:cNvSpPr/>
          <p:nvPr/>
        </p:nvSpPr>
        <p:spPr>
          <a:xfrm>
            <a:off x="4543425" y="3918654"/>
            <a:ext cx="136802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손실 함수 (Loss Function)</a:t>
            </a:r>
            <a:endParaRPr lang="en-US" sz="800" dirty="0"/>
          </a:p>
        </p:txBody>
      </p:sp>
      <p:sp>
        <p:nvSpPr>
          <p:cNvPr id="61" name="Text 49"/>
          <p:cNvSpPr/>
          <p:nvPr/>
        </p:nvSpPr>
        <p:spPr>
          <a:xfrm>
            <a:off x="4543425" y="4122948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Huber Loss (δ=1.0): 이상치(Outlier)에 강건한 특성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4543425" y="4337261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MSE와 MAE의 절충안으로 주가 급등락 노이즈 완화</a:t>
            </a:r>
            <a:endParaRPr lang="en-US" sz="800" dirty="0"/>
          </a:p>
        </p:txBody>
      </p:sp>
      <p:sp>
        <p:nvSpPr>
          <p:cNvPr id="63" name="Text 51"/>
          <p:cNvSpPr/>
          <p:nvPr/>
        </p:nvSpPr>
        <p:spPr>
          <a:xfrm>
            <a:off x="4543425" y="4122948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64" name="Text 52"/>
          <p:cNvSpPr/>
          <p:nvPr/>
        </p:nvSpPr>
        <p:spPr>
          <a:xfrm>
            <a:off x="4543425" y="4337261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65" name="Text 53"/>
          <p:cNvSpPr/>
          <p:nvPr/>
        </p:nvSpPr>
        <p:spPr>
          <a:xfrm>
            <a:off x="4371975" y="4665873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66" name="Text 54"/>
          <p:cNvSpPr/>
          <p:nvPr/>
        </p:nvSpPr>
        <p:spPr>
          <a:xfrm>
            <a:off x="4543425" y="4658730"/>
            <a:ext cx="60007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최적화</a:t>
            </a:r>
            <a:endParaRPr lang="en-US" sz="800" dirty="0"/>
          </a:p>
        </p:txBody>
      </p:sp>
      <p:sp>
        <p:nvSpPr>
          <p:cNvPr id="67" name="Text 55"/>
          <p:cNvSpPr/>
          <p:nvPr/>
        </p:nvSpPr>
        <p:spPr>
          <a:xfrm>
            <a:off x="4543425" y="4863024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총 파라미터: 134,817개</a:t>
            </a:r>
            <a:endParaRPr lang="en-US" sz="800" dirty="0"/>
          </a:p>
        </p:txBody>
      </p:sp>
      <p:sp>
        <p:nvSpPr>
          <p:cNvPr id="68" name="Text 56"/>
          <p:cNvSpPr/>
          <p:nvPr/>
        </p:nvSpPr>
        <p:spPr>
          <a:xfrm>
            <a:off x="4543425" y="5077337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Stopping (patience=7) 적용으로 최적 에포크 탐색</a:t>
            </a:r>
            <a:endParaRPr lang="en-US" sz="800" dirty="0"/>
          </a:p>
        </p:txBody>
      </p:sp>
      <p:sp>
        <p:nvSpPr>
          <p:cNvPr id="69" name="Text 57"/>
          <p:cNvSpPr/>
          <p:nvPr/>
        </p:nvSpPr>
        <p:spPr>
          <a:xfrm>
            <a:off x="6847284" y="4793456"/>
            <a:ext cx="17252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10 / 17</a:t>
            </a:r>
            <a:endParaRPr lang="en-US" sz="750" dirty="0"/>
          </a:p>
        </p:txBody>
      </p:sp>
      <p:sp>
        <p:nvSpPr>
          <p:cNvPr id="70" name="Text 58"/>
          <p:cNvSpPr/>
          <p:nvPr/>
        </p:nvSpPr>
        <p:spPr>
          <a:xfrm>
            <a:off x="4543425" y="4863024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71" name="Text 59"/>
          <p:cNvSpPr/>
          <p:nvPr/>
        </p:nvSpPr>
        <p:spPr>
          <a:xfrm>
            <a:off x="4543425" y="5077337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하이퍼파라미터 탐색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Hyperparameter Search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294805"/>
            <a:ext cx="128588" cy="12858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1525" y="1273373"/>
            <a:ext cx="25181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각 모델의 최적 파라미터를 실험을 통해 결정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71500" y="1659136"/>
            <a:ext cx="2552691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571500" y="1659136"/>
            <a:ext cx="2552691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" y="1659136"/>
            <a:ext cx="2552691" cy="67329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Shape 6"/>
          <p:cNvSpPr/>
          <p:nvPr/>
        </p:nvSpPr>
        <p:spPr>
          <a:xfrm>
            <a:off x="571500" y="2325291"/>
            <a:ext cx="2552691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1" name="Text 7"/>
          <p:cNvSpPr/>
          <p:nvPr/>
        </p:nvSpPr>
        <p:spPr>
          <a:xfrm>
            <a:off x="714375" y="1802011"/>
            <a:ext cx="2266941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LSTM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14375" y="2037755"/>
            <a:ext cx="226694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은닉 유닛 수 (Hidden Units)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685800" y="2439591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4" name="Shape 10"/>
          <p:cNvSpPr/>
          <p:nvPr/>
        </p:nvSpPr>
        <p:spPr>
          <a:xfrm>
            <a:off x="685800" y="2439591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5" name="Text 11"/>
          <p:cNvSpPr/>
          <p:nvPr/>
        </p:nvSpPr>
        <p:spPr>
          <a:xfrm>
            <a:off x="800100" y="2525316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유닛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00100" y="2739628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val_loss 수렴 느림, 과소적합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85800" y="3051079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8" name="Shape 14"/>
          <p:cNvSpPr/>
          <p:nvPr/>
        </p:nvSpPr>
        <p:spPr>
          <a:xfrm>
            <a:off x="685800" y="3051079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9" name="Text 15"/>
          <p:cNvSpPr/>
          <p:nvPr/>
        </p:nvSpPr>
        <p:spPr>
          <a:xfrm>
            <a:off x="800100" y="3136804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유닛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00100" y="3351116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안정적이나 표현력 제한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85800" y="3662567"/>
            <a:ext cx="2324091" cy="525763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85800" y="3662567"/>
            <a:ext cx="21431" cy="525763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3" name="Text 19"/>
          <p:cNvSpPr/>
          <p:nvPr/>
        </p:nvSpPr>
        <p:spPr>
          <a:xfrm>
            <a:off x="800100" y="3769723"/>
            <a:ext cx="64302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유닛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271" y="3789369"/>
            <a:ext cx="112514" cy="10001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00100" y="3962605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최소 val_loss 달성 (선택)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685800" y="4274055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7" name="Shape 22"/>
          <p:cNvSpPr/>
          <p:nvPr/>
        </p:nvSpPr>
        <p:spPr>
          <a:xfrm>
            <a:off x="685800" y="4274055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28" name="Text 23"/>
          <p:cNvSpPr/>
          <p:nvPr/>
        </p:nvSpPr>
        <p:spPr>
          <a:xfrm>
            <a:off x="800100" y="4359780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256 유닛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800100" y="4574093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경향, 학습 시간 2×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3295641" y="1659136"/>
            <a:ext cx="2552691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6"/>
          <p:cNvSpPr/>
          <p:nvPr/>
        </p:nvSpPr>
        <p:spPr>
          <a:xfrm>
            <a:off x="3295641" y="1659136"/>
            <a:ext cx="2552691" cy="28575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Shape 27"/>
          <p:cNvSpPr/>
          <p:nvPr/>
        </p:nvSpPr>
        <p:spPr>
          <a:xfrm>
            <a:off x="3295641" y="1659136"/>
            <a:ext cx="2552691" cy="67329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3" name="Shape 28"/>
          <p:cNvSpPr/>
          <p:nvPr/>
        </p:nvSpPr>
        <p:spPr>
          <a:xfrm>
            <a:off x="3295641" y="2325291"/>
            <a:ext cx="2552691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4" name="Text 29"/>
          <p:cNvSpPr/>
          <p:nvPr/>
        </p:nvSpPr>
        <p:spPr>
          <a:xfrm>
            <a:off x="3438516" y="1802011"/>
            <a:ext cx="2266941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3438516" y="2037755"/>
            <a:ext cx="226694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트리 수 (n_estimators)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3409941" y="2439591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7" name="Shape 32"/>
          <p:cNvSpPr/>
          <p:nvPr/>
        </p:nvSpPr>
        <p:spPr>
          <a:xfrm>
            <a:off x="3409941" y="2439591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8" name="Text 33"/>
          <p:cNvSpPr/>
          <p:nvPr/>
        </p:nvSpPr>
        <p:spPr>
          <a:xfrm>
            <a:off x="3524241" y="2525316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그루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3524241" y="2739628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높음, 분산 큼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3409941" y="3051079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1" name="Shape 36"/>
          <p:cNvSpPr/>
          <p:nvPr/>
        </p:nvSpPr>
        <p:spPr>
          <a:xfrm>
            <a:off x="3409941" y="3051079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2" name="Text 37"/>
          <p:cNvSpPr/>
          <p:nvPr/>
        </p:nvSpPr>
        <p:spPr>
          <a:xfrm>
            <a:off x="3524241" y="3136804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그루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3524241" y="3351116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감소 뚜렷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3409941" y="3662567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5" name="Shape 40"/>
          <p:cNvSpPr/>
          <p:nvPr/>
        </p:nvSpPr>
        <p:spPr>
          <a:xfrm>
            <a:off x="3409941" y="3662567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6" name="Text 41"/>
          <p:cNvSpPr/>
          <p:nvPr/>
        </p:nvSpPr>
        <p:spPr>
          <a:xfrm>
            <a:off x="3524241" y="3748292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그루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3524241" y="3962605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elbow point 도달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3409941" y="4274055"/>
            <a:ext cx="2324091" cy="525763"/>
          </a:xfrm>
          <a:prstGeom prst="rect">
            <a:avLst/>
          </a:prstGeom>
          <a:solidFill>
            <a:srgbClr val="FF9900">
              <a:alpha val="5000"/>
            </a:srgbClr>
          </a:solidFill>
          <a:ln/>
        </p:spPr>
      </p:sp>
      <p:sp>
        <p:nvSpPr>
          <p:cNvPr id="49" name="Shape 44"/>
          <p:cNvSpPr/>
          <p:nvPr/>
        </p:nvSpPr>
        <p:spPr>
          <a:xfrm>
            <a:off x="3409941" y="4274055"/>
            <a:ext cx="21431" cy="525763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0" name="Text 45"/>
          <p:cNvSpPr/>
          <p:nvPr/>
        </p:nvSpPr>
        <p:spPr>
          <a:xfrm>
            <a:off x="3524241" y="4381212"/>
            <a:ext cx="64302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그루</a:t>
            </a:r>
            <a:endParaRPr lang="en-US" sz="900" dirty="0"/>
          </a:p>
        </p:txBody>
      </p:sp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412" y="4400857"/>
            <a:ext cx="112514" cy="100013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3524241" y="4574093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MAE 포화, 시간 효율 최적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3409941" y="4885544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4" name="Shape 48"/>
          <p:cNvSpPr/>
          <p:nvPr/>
        </p:nvSpPr>
        <p:spPr>
          <a:xfrm>
            <a:off x="3409941" y="4885544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55" name="Text 49"/>
          <p:cNvSpPr/>
          <p:nvPr/>
        </p:nvSpPr>
        <p:spPr>
          <a:xfrm>
            <a:off x="3524241" y="4971269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그루</a:t>
            </a:r>
            <a:endParaRPr lang="en-US" sz="900" dirty="0"/>
          </a:p>
        </p:txBody>
      </p:sp>
      <p:sp>
        <p:nvSpPr>
          <p:cNvPr id="56" name="Text 50"/>
          <p:cNvSpPr/>
          <p:nvPr/>
        </p:nvSpPr>
        <p:spPr>
          <a:xfrm>
            <a:off x="3524241" y="5185581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성능 미미한 개선 (+0.1%), 시간 2×</a:t>
            </a:r>
            <a:endParaRPr lang="en-US" sz="750" dirty="0"/>
          </a:p>
        </p:txBody>
      </p:sp>
      <p:sp>
        <p:nvSpPr>
          <p:cNvPr id="57" name="Shape 51"/>
          <p:cNvSpPr/>
          <p:nvPr/>
        </p:nvSpPr>
        <p:spPr>
          <a:xfrm>
            <a:off x="6019781" y="1659136"/>
            <a:ext cx="2552691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2"/>
          <p:cNvSpPr/>
          <p:nvPr/>
        </p:nvSpPr>
        <p:spPr>
          <a:xfrm>
            <a:off x="6019781" y="1659136"/>
            <a:ext cx="2552691" cy="28575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59" name="Shape 53"/>
          <p:cNvSpPr/>
          <p:nvPr/>
        </p:nvSpPr>
        <p:spPr>
          <a:xfrm>
            <a:off x="6019781" y="1659136"/>
            <a:ext cx="2552691" cy="67329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0" name="Shape 54"/>
          <p:cNvSpPr/>
          <p:nvPr/>
        </p:nvSpPr>
        <p:spPr>
          <a:xfrm>
            <a:off x="6019781" y="2325291"/>
            <a:ext cx="2552691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61" name="Text 55"/>
          <p:cNvSpPr/>
          <p:nvPr/>
        </p:nvSpPr>
        <p:spPr>
          <a:xfrm>
            <a:off x="6162656" y="1802011"/>
            <a:ext cx="2266941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XGBoost</a:t>
            </a:r>
            <a:endParaRPr lang="en-US" sz="1200" dirty="0"/>
          </a:p>
        </p:txBody>
      </p:sp>
      <p:sp>
        <p:nvSpPr>
          <p:cNvPr id="62" name="Text 56"/>
          <p:cNvSpPr/>
          <p:nvPr/>
        </p:nvSpPr>
        <p:spPr>
          <a:xfrm>
            <a:off x="6162656" y="2037755"/>
            <a:ext cx="226694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부스팅 라운드 (n_estimators)</a:t>
            </a:r>
            <a:endParaRPr lang="en-US" sz="800" dirty="0"/>
          </a:p>
        </p:txBody>
      </p:sp>
      <p:sp>
        <p:nvSpPr>
          <p:cNvPr id="63" name="Shape 57"/>
          <p:cNvSpPr/>
          <p:nvPr/>
        </p:nvSpPr>
        <p:spPr>
          <a:xfrm>
            <a:off x="6134081" y="2439591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4" name="Shape 58"/>
          <p:cNvSpPr/>
          <p:nvPr/>
        </p:nvSpPr>
        <p:spPr>
          <a:xfrm>
            <a:off x="6134081" y="2439591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65" name="Text 59"/>
          <p:cNvSpPr/>
          <p:nvPr/>
        </p:nvSpPr>
        <p:spPr>
          <a:xfrm>
            <a:off x="6248381" y="2525316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라운드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6248381" y="2739628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조기종료 없음, 과소학습</a:t>
            </a:r>
            <a:endParaRPr lang="en-US" sz="750" dirty="0"/>
          </a:p>
        </p:txBody>
      </p:sp>
      <p:sp>
        <p:nvSpPr>
          <p:cNvPr id="67" name="Shape 61"/>
          <p:cNvSpPr/>
          <p:nvPr/>
        </p:nvSpPr>
        <p:spPr>
          <a:xfrm>
            <a:off x="6134081" y="3051079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8" name="Shape 62"/>
          <p:cNvSpPr/>
          <p:nvPr/>
        </p:nvSpPr>
        <p:spPr>
          <a:xfrm>
            <a:off x="6134081" y="3051079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69" name="Text 63"/>
          <p:cNvSpPr/>
          <p:nvPr/>
        </p:nvSpPr>
        <p:spPr>
          <a:xfrm>
            <a:off x="6248381" y="3136804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라운드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6248381" y="3351116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Stopping 작동</a:t>
            </a:r>
            <a:endParaRPr lang="en-US" sz="750" dirty="0"/>
          </a:p>
        </p:txBody>
      </p:sp>
      <p:sp>
        <p:nvSpPr>
          <p:cNvPr id="71" name="Shape 65"/>
          <p:cNvSpPr/>
          <p:nvPr/>
        </p:nvSpPr>
        <p:spPr>
          <a:xfrm>
            <a:off x="6134081" y="3662567"/>
            <a:ext cx="2324091" cy="525763"/>
          </a:xfrm>
          <a:prstGeom prst="rect">
            <a:avLst/>
          </a:prstGeom>
          <a:solidFill>
            <a:srgbClr val="00C9A7">
              <a:alpha val="5000"/>
            </a:srgbClr>
          </a:solidFill>
          <a:ln/>
        </p:spPr>
      </p:sp>
      <p:sp>
        <p:nvSpPr>
          <p:cNvPr id="72" name="Shape 66"/>
          <p:cNvSpPr/>
          <p:nvPr/>
        </p:nvSpPr>
        <p:spPr>
          <a:xfrm>
            <a:off x="6134081" y="3662567"/>
            <a:ext cx="21431" cy="525763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3" name="Text 67"/>
          <p:cNvSpPr/>
          <p:nvPr/>
        </p:nvSpPr>
        <p:spPr>
          <a:xfrm>
            <a:off x="6248381" y="3769723"/>
            <a:ext cx="771609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라운드</a:t>
            </a:r>
            <a:endParaRPr lang="en-US" sz="900" dirty="0"/>
          </a:p>
        </p:txBody>
      </p:sp>
      <p:pic>
        <p:nvPicPr>
          <p:cNvPr id="7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140" y="3789369"/>
            <a:ext cx="112514" cy="100013"/>
          </a:xfrm>
          <a:prstGeom prst="rect">
            <a:avLst/>
          </a:prstGeom>
        </p:spPr>
      </p:pic>
      <p:sp>
        <p:nvSpPr>
          <p:cNvPr id="75" name="Text 68"/>
          <p:cNvSpPr/>
          <p:nvPr/>
        </p:nvSpPr>
        <p:spPr>
          <a:xfrm>
            <a:off x="6248381" y="3962605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최적 라운드 ~350에서 수렴</a:t>
            </a:r>
            <a:endParaRPr lang="en-US" sz="700" dirty="0"/>
          </a:p>
        </p:txBody>
      </p:sp>
      <p:sp>
        <p:nvSpPr>
          <p:cNvPr id="76" name="Shape 69"/>
          <p:cNvSpPr/>
          <p:nvPr/>
        </p:nvSpPr>
        <p:spPr>
          <a:xfrm>
            <a:off x="6134081" y="4274055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7" name="Shape 70"/>
          <p:cNvSpPr/>
          <p:nvPr/>
        </p:nvSpPr>
        <p:spPr>
          <a:xfrm>
            <a:off x="6134081" y="4274055"/>
            <a:ext cx="21431" cy="525763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78" name="Text 71"/>
          <p:cNvSpPr/>
          <p:nvPr/>
        </p:nvSpPr>
        <p:spPr>
          <a:xfrm>
            <a:off x="6248381" y="4359780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700 라운드</a:t>
            </a:r>
            <a:endParaRPr lang="en-US" sz="900" dirty="0"/>
          </a:p>
        </p:txBody>
      </p:sp>
      <p:sp>
        <p:nvSpPr>
          <p:cNvPr id="79" name="Text 72"/>
          <p:cNvSpPr/>
          <p:nvPr/>
        </p:nvSpPr>
        <p:spPr>
          <a:xfrm>
            <a:off x="6248381" y="4574093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조기종료 → 실사용 350라운드</a:t>
            </a:r>
            <a:endParaRPr lang="en-US" sz="750" dirty="0"/>
          </a:p>
        </p:txBody>
      </p:sp>
      <p:sp>
        <p:nvSpPr>
          <p:cNvPr id="80" name="Text 73"/>
          <p:cNvSpPr/>
          <p:nvPr/>
        </p:nvSpPr>
        <p:spPr>
          <a:xfrm>
            <a:off x="6868716" y="4793456"/>
            <a:ext cx="1703784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11 / 17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 모델 성능 비교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Performance Comparison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259086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학습 데이터(2019-2024) 기반 테스트셋 평가 결과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71500" y="1473398"/>
            <a:ext cx="8001000" cy="12930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585788" y="1473398"/>
            <a:ext cx="1996678" cy="321469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8" name="Shape 5"/>
          <p:cNvSpPr/>
          <p:nvPr/>
        </p:nvSpPr>
        <p:spPr>
          <a:xfrm>
            <a:off x="585788" y="1780580"/>
            <a:ext cx="1996678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9" name="Text 6"/>
          <p:cNvSpPr/>
          <p:nvPr/>
        </p:nvSpPr>
        <p:spPr>
          <a:xfrm>
            <a:off x="585788" y="1473398"/>
            <a:ext cx="1996678" cy="321469"/>
          </a:xfrm>
          <a:prstGeom prst="rect">
            <a:avLst/>
          </a:prstGeom>
          <a:noFill/>
          <a:ln/>
        </p:spPr>
        <p:txBody>
          <a:bodyPr wrap="square" lIns="170053" tIns="8509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모델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82466" y="1473398"/>
            <a:ext cx="1597326" cy="321469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1" name="Shape 8"/>
          <p:cNvSpPr/>
          <p:nvPr/>
        </p:nvSpPr>
        <p:spPr>
          <a:xfrm>
            <a:off x="2582466" y="1780580"/>
            <a:ext cx="1597326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2" name="Text 9"/>
          <p:cNvSpPr/>
          <p:nvPr/>
        </p:nvSpPr>
        <p:spPr>
          <a:xfrm>
            <a:off x="2582466" y="1473398"/>
            <a:ext cx="1597326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MAE (%)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79791" y="1473398"/>
            <a:ext cx="1597326" cy="321469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179791" y="1780580"/>
            <a:ext cx="1597326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5" name="Text 12"/>
          <p:cNvSpPr/>
          <p:nvPr/>
        </p:nvSpPr>
        <p:spPr>
          <a:xfrm>
            <a:off x="4179791" y="1473398"/>
            <a:ext cx="1597326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RMSE (%)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77117" y="1473398"/>
            <a:ext cx="1597326" cy="321469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7" name="Shape 14"/>
          <p:cNvSpPr/>
          <p:nvPr/>
        </p:nvSpPr>
        <p:spPr>
          <a:xfrm>
            <a:off x="5777117" y="1780580"/>
            <a:ext cx="1597326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8" name="Text 15"/>
          <p:cNvSpPr/>
          <p:nvPr/>
        </p:nvSpPr>
        <p:spPr>
          <a:xfrm>
            <a:off x="5777117" y="1473398"/>
            <a:ext cx="1597326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방향 정확도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374443" y="1473398"/>
            <a:ext cx="1198057" cy="321469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20" name="Shape 17"/>
          <p:cNvSpPr/>
          <p:nvPr/>
        </p:nvSpPr>
        <p:spPr>
          <a:xfrm>
            <a:off x="7374443" y="1780580"/>
            <a:ext cx="1198057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21" name="Text 18"/>
          <p:cNvSpPr/>
          <p:nvPr/>
        </p:nvSpPr>
        <p:spPr>
          <a:xfrm>
            <a:off x="7374443" y="1473398"/>
            <a:ext cx="1198057" cy="321469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시간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5788" y="1787723"/>
            <a:ext cx="7986713" cy="317897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585788" y="1787723"/>
            <a:ext cx="28575" cy="317897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4" name="Text 21"/>
          <p:cNvSpPr/>
          <p:nvPr/>
        </p:nvSpPr>
        <p:spPr>
          <a:xfrm>
            <a:off x="714375" y="1866444"/>
            <a:ext cx="39112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LSTM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162645" y="1889382"/>
            <a:ext cx="303609" cy="133945"/>
          </a:xfrm>
          <a:prstGeom prst="roundRect">
            <a:avLst/>
          </a:prstGeom>
          <a:solidFill>
            <a:srgbClr val="3366CC"/>
          </a:solidFill>
          <a:ln/>
        </p:spPr>
      </p:sp>
      <p:sp>
        <p:nvSpPr>
          <p:cNvPr id="26" name="Text 23"/>
          <p:cNvSpPr/>
          <p:nvPr/>
        </p:nvSpPr>
        <p:spPr>
          <a:xfrm>
            <a:off x="1162645" y="1889382"/>
            <a:ext cx="303609" cy="13394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Best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2571750" y="1787723"/>
            <a:ext cx="1600200" cy="317897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 ~ 3.5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171950" y="1787723"/>
            <a:ext cx="1600200" cy="317897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 ~ 5.2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772150" y="1787723"/>
            <a:ext cx="1600200" cy="317897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~ 54 %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372350" y="1787723"/>
            <a:ext cx="1200150" cy="317897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~15분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1500" y="2105620"/>
            <a:ext cx="2000250" cy="321469"/>
          </a:xfrm>
          <a:prstGeom prst="rect">
            <a:avLst/>
          </a:prstGeom>
          <a:noFill/>
          <a:ln/>
        </p:spPr>
        <p:txBody>
          <a:bodyPr wrap="square" lIns="170053" tIns="8509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571750" y="2105620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3.1 ~ 3.8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171950" y="2105620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 ~ 5.5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772150" y="2105620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~ 53 %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372350" y="2105620"/>
            <a:ext cx="1200150" cy="321469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~30초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71500" y="2427089"/>
            <a:ext cx="2000250" cy="321469"/>
          </a:xfrm>
          <a:prstGeom prst="rect">
            <a:avLst/>
          </a:prstGeom>
          <a:noFill/>
          <a:ln/>
        </p:spPr>
        <p:txBody>
          <a:bodyPr wrap="square" lIns="170053" tIns="8509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XGBoost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2571750" y="2427089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~ 3.7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4171950" y="2427089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 ~ 5.3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772150" y="2427089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~ 53 %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372350" y="2427089"/>
            <a:ext cx="1200150" cy="321469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~45초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71500" y="2837855"/>
            <a:ext cx="8001000" cy="149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39"/>
          <p:cNvSpPr/>
          <p:nvPr/>
        </p:nvSpPr>
        <p:spPr>
          <a:xfrm>
            <a:off x="571500" y="2837855"/>
            <a:ext cx="8001000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4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979837"/>
            <a:ext cx="117872" cy="157163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903684" y="2952155"/>
            <a:ext cx="980480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주요 인사이트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714375" y="3250406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방향 정확도 50~54%: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세 모델 모두 랜덤(50%) 대비 소폭 우위 → </a:t>
            </a: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단기 주가 예측의 근본적 어려움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을 시사</a:t>
            </a:r>
            <a:endParaRPr lang="en-US" sz="850" dirty="0"/>
          </a:p>
        </p:txBody>
      </p:sp>
      <p:sp>
        <p:nvSpPr>
          <p:cNvPr id="46" name="Text 42"/>
          <p:cNvSpPr/>
          <p:nvPr/>
        </p:nvSpPr>
        <p:spPr>
          <a:xfrm>
            <a:off x="714375" y="3504707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LSTM의 우위: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시퀀스 전체를 활용해 가장 낮은 MAE를 기록하여 </a:t>
            </a: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시간적 패턴 학습 효과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를 입증</a:t>
            </a:r>
            <a:endParaRPr lang="en-US" sz="850" dirty="0"/>
          </a:p>
        </p:txBody>
      </p:sp>
      <p:sp>
        <p:nvSpPr>
          <p:cNvPr id="47" name="Text 43"/>
          <p:cNvSpPr/>
          <p:nvPr/>
        </p:nvSpPr>
        <p:spPr>
          <a:xfrm>
            <a:off x="714375" y="3759008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트리 기반 모델의 효율성: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RF와 XGB는 학습이 수십 초로 빠르며 특성 중요도 해석이 가능하여 빠른 실험·탐색에 유리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714375" y="4013309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주요 특성: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XGBoost 특성 중요도 상위 3개는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거래량 비율(Volume_Ratio), RSI, MACD_Signal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로 나타남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6849070" y="4793456"/>
            <a:ext cx="1723430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12 / 17</a:t>
            </a:r>
            <a:endParaRPr lang="en-US" sz="75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3264694"/>
            <a:ext cx="85725" cy="182863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3518995"/>
            <a:ext cx="85725" cy="182863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3773295"/>
            <a:ext cx="85725" cy="182863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4027596"/>
            <a:ext cx="85725" cy="1828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 2025년 실전 검증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Out-of-Sample Validation (2025)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187648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학습에 사용되지 않은 2025년 데이터로 일반화 성능 측정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71500" y="1501973"/>
            <a:ext cx="8001000" cy="10412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571500" y="1501973"/>
            <a:ext cx="8001000" cy="21431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641277"/>
            <a:ext cx="107156" cy="1428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78681" y="1616273"/>
            <a:ext cx="60543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검증 설계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14375" y="1866305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기간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1300163" y="1866305"/>
            <a:ext cx="130373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2019-01-02 ~ 2024-12-31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614863" y="1866305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검증 기간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5200650" y="1866305"/>
            <a:ext cx="95547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2025-01-02 ~ 현재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14375" y="2107406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검증 종목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300163" y="2107406"/>
            <a:ext cx="143768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학습에 사용된 20개 대형주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6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(삼성전자, SK하이닉스, 현대차 등)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614863" y="2107406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입력/타깃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5200650" y="2107406"/>
            <a:ext cx="189666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입력: 2025년 각 거래일 기준 직전 60일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타깃: 5거래일 후 실제 등락률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571500" y="2636044"/>
            <a:ext cx="3800475" cy="146089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571500" y="2636044"/>
            <a:ext cx="850748" cy="457200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20" name="Shape 16"/>
          <p:cNvSpPr/>
          <p:nvPr/>
        </p:nvSpPr>
        <p:spPr>
          <a:xfrm>
            <a:off x="571500" y="3086100"/>
            <a:ext cx="850748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21" name="Text 17"/>
          <p:cNvSpPr/>
          <p:nvPr/>
        </p:nvSpPr>
        <p:spPr>
          <a:xfrm>
            <a:off x="571500" y="2636044"/>
            <a:ext cx="850748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MAE 비교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1422248" y="2636044"/>
            <a:ext cx="903126" cy="457200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23" name="Shape 19"/>
          <p:cNvSpPr/>
          <p:nvPr/>
        </p:nvSpPr>
        <p:spPr>
          <a:xfrm>
            <a:off x="1422248" y="3086100"/>
            <a:ext cx="903126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24" name="Text 20"/>
          <p:cNvSpPr/>
          <p:nvPr/>
        </p:nvSpPr>
        <p:spPr>
          <a:xfrm>
            <a:off x="1422248" y="2636044"/>
            <a:ext cx="903126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학습셋 (2019-2024)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2325374" y="2636044"/>
            <a:ext cx="1156925" cy="457200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26" name="Shape 22"/>
          <p:cNvSpPr/>
          <p:nvPr/>
        </p:nvSpPr>
        <p:spPr>
          <a:xfrm>
            <a:off x="2325374" y="3086100"/>
            <a:ext cx="1156925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27" name="Text 23"/>
          <p:cNvSpPr/>
          <p:nvPr/>
        </p:nvSpPr>
        <p:spPr>
          <a:xfrm>
            <a:off x="2325374" y="2636044"/>
            <a:ext cx="1156925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2025 실전 (Out-of-Sample)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3482299" y="2636044"/>
            <a:ext cx="889676" cy="457200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29" name="Shape 25"/>
          <p:cNvSpPr/>
          <p:nvPr/>
        </p:nvSpPr>
        <p:spPr>
          <a:xfrm>
            <a:off x="3482299" y="3086100"/>
            <a:ext cx="889676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0" name="Text 26"/>
          <p:cNvSpPr/>
          <p:nvPr/>
        </p:nvSpPr>
        <p:spPr>
          <a:xfrm>
            <a:off x="3482299" y="2636044"/>
            <a:ext cx="889676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차이 (과적합 지표)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571500" y="3089672"/>
            <a:ext cx="850748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1422248" y="3089672"/>
            <a:ext cx="903126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2325374" y="3089672"/>
            <a:ext cx="1156925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3482299" y="3089672"/>
            <a:ext cx="889676" cy="283964"/>
          </a:xfrm>
          <a:prstGeom prst="rect">
            <a:avLst/>
          </a:prstGeom>
          <a:solidFill>
            <a:srgbClr val="E67C73">
              <a:alpha val="5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3482299" y="3366492"/>
            <a:ext cx="889676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6" name="Text 32"/>
          <p:cNvSpPr/>
          <p:nvPr/>
        </p:nvSpPr>
        <p:spPr>
          <a:xfrm>
            <a:off x="3482299" y="3089672"/>
            <a:ext cx="889676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571500" y="3373636"/>
            <a:ext cx="850748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1422248" y="3373636"/>
            <a:ext cx="903126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3.5%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2325374" y="3373636"/>
            <a:ext cx="1156925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3482299" y="3373636"/>
            <a:ext cx="889676" cy="425053"/>
          </a:xfrm>
          <a:prstGeom prst="rect">
            <a:avLst/>
          </a:prstGeom>
          <a:solidFill>
            <a:srgbClr val="E67C73">
              <a:alpha val="5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3482299" y="3791545"/>
            <a:ext cx="889676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2" name="Text 38"/>
          <p:cNvSpPr/>
          <p:nvPr/>
        </p:nvSpPr>
        <p:spPr>
          <a:xfrm>
            <a:off x="3482299" y="3373636"/>
            <a:ext cx="889676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571500" y="3798689"/>
            <a:ext cx="850748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XGBoost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1422248" y="3798689"/>
            <a:ext cx="903126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3.3%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2325374" y="3798689"/>
            <a:ext cx="1156925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3.8%</a:t>
            </a:r>
            <a:endParaRPr lang="en-US" sz="850" dirty="0"/>
          </a:p>
        </p:txBody>
      </p:sp>
      <p:sp>
        <p:nvSpPr>
          <p:cNvPr id="46" name="Shape 42"/>
          <p:cNvSpPr/>
          <p:nvPr/>
        </p:nvSpPr>
        <p:spPr>
          <a:xfrm>
            <a:off x="3482299" y="3798689"/>
            <a:ext cx="889676" cy="287536"/>
          </a:xfrm>
          <a:prstGeom prst="rect">
            <a:avLst/>
          </a:prstGeom>
          <a:solidFill>
            <a:srgbClr val="E67C73">
              <a:alpha val="5000"/>
            </a:srgbClr>
          </a:solidFill>
          <a:ln/>
        </p:spPr>
      </p:sp>
      <p:sp>
        <p:nvSpPr>
          <p:cNvPr id="47" name="Shape 43"/>
          <p:cNvSpPr/>
          <p:nvPr/>
        </p:nvSpPr>
        <p:spPr>
          <a:xfrm>
            <a:off x="3482299" y="4079081"/>
            <a:ext cx="889676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8" name="Text 44"/>
          <p:cNvSpPr/>
          <p:nvPr/>
        </p:nvSpPr>
        <p:spPr>
          <a:xfrm>
            <a:off x="3482299" y="3798689"/>
            <a:ext cx="889676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+0.5%p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4486275" y="2636044"/>
            <a:ext cx="4086225" cy="16323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6"/>
          <p:cNvSpPr/>
          <p:nvPr/>
        </p:nvSpPr>
        <p:spPr>
          <a:xfrm>
            <a:off x="4486275" y="2636044"/>
            <a:ext cx="4086225" cy="21431"/>
          </a:xfrm>
          <a:prstGeom prst="rect">
            <a:avLst/>
          </a:prstGeom>
          <a:solidFill>
            <a:srgbClr val="00C9A7"/>
          </a:solidFill>
          <a:ln/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150" y="2775347"/>
            <a:ext cx="142875" cy="142875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4829175" y="2750344"/>
            <a:ext cx="60543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핵심 발견</a:t>
            </a:r>
            <a:endParaRPr lang="en-US" sz="1000" dirty="0"/>
          </a:p>
        </p:txBody>
      </p:sp>
      <p:sp>
        <p:nvSpPr>
          <p:cNvPr id="53" name="Text 48"/>
          <p:cNvSpPr/>
          <p:nvPr/>
        </p:nvSpPr>
        <p:spPr>
          <a:xfrm>
            <a:off x="4629150" y="3028950"/>
            <a:ext cx="3800475" cy="31075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월별 방향 정확도: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2025년 1~4월 평균 50.3~52.8% 유지 → 학습 외 기간에서도 안정적 성능</a:t>
            </a:r>
            <a:endParaRPr lang="en-US" sz="750" dirty="0"/>
          </a:p>
        </p:txBody>
      </p:sp>
      <p:sp>
        <p:nvSpPr>
          <p:cNvPr id="54" name="Text 49"/>
          <p:cNvSpPr/>
          <p:nvPr/>
        </p:nvSpPr>
        <p:spPr>
          <a:xfrm>
            <a:off x="4629150" y="3396853"/>
            <a:ext cx="3800475" cy="155377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과적합 수준: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학습셋 대비 MAE 증가폭 0.4~0.5%p → 과적합 크지 않음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4629150" y="3609380"/>
            <a:ext cx="3800475" cy="31075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외생 이벤트 취약성: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급변 구간에서 방향 정확도 일시 하락 → 구조적 이벤트에 취약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4629150" y="3977283"/>
            <a:ext cx="3800475" cy="155377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종목별 편차: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삼성전자(LSTM 53.1%) / SK하이닉스(52.4%) 등 편차 존재</a:t>
            </a:r>
            <a:endParaRPr lang="en-US" sz="750" dirty="0"/>
          </a:p>
        </p:txBody>
      </p:sp>
      <p:sp>
        <p:nvSpPr>
          <p:cNvPr id="57" name="Text 52"/>
          <p:cNvSpPr/>
          <p:nvPr/>
        </p:nvSpPr>
        <p:spPr>
          <a:xfrm>
            <a:off x="6847284" y="4793456"/>
            <a:ext cx="17252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13 / 17</a:t>
            </a:r>
            <a:endParaRPr lang="en-US" sz="750" dirty="0"/>
          </a:p>
        </p:txBody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3043238"/>
            <a:ext cx="107156" cy="155377"/>
          </a:xfrm>
          <a:prstGeom prst="rect">
            <a:avLst/>
          </a:prstGeom>
        </p:spPr>
      </p:pic>
      <p:pic>
        <p:nvPicPr>
          <p:cNvPr id="5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9150" y="3411141"/>
            <a:ext cx="107156" cy="155377"/>
          </a:xfrm>
          <a:prstGeom prst="rect">
            <a:avLst/>
          </a:prstGeom>
        </p:spPr>
      </p:pic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9150" y="3623667"/>
            <a:ext cx="107156" cy="155377"/>
          </a:xfrm>
          <a:prstGeom prst="rect">
            <a:avLst/>
          </a:prstGeom>
        </p:spPr>
      </p:pic>
      <p:pic>
        <p:nvPicPr>
          <p:cNvPr id="6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9150" y="3991570"/>
            <a:ext cx="107156" cy="1553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 백테스팅 결과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Backtesting Results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159073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기술적 지표 기반 매수/매도 신호 전략 성과 (2019-2024)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71500" y="1459111"/>
            <a:ext cx="1914525" cy="7108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571500" y="1459111"/>
            <a:ext cx="1914525" cy="28575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8" name="Text 5"/>
          <p:cNvSpPr/>
          <p:nvPr/>
        </p:nvSpPr>
        <p:spPr>
          <a:xfrm>
            <a:off x="657225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+8.2%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57225" y="1900238"/>
            <a:ext cx="17430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연평균 전략 수익률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600325" y="1459111"/>
            <a:ext cx="1914525" cy="7108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2600325" y="1459111"/>
            <a:ext cx="1914525" cy="28575"/>
          </a:xfrm>
          <a:prstGeom prst="rect">
            <a:avLst/>
          </a:prstGeom>
          <a:solidFill>
            <a:srgbClr val="8892B0"/>
          </a:solidFill>
          <a:ln/>
        </p:spPr>
      </p:sp>
      <p:sp>
        <p:nvSpPr>
          <p:cNvPr id="12" name="Text 9"/>
          <p:cNvSpPr/>
          <p:nvPr/>
        </p:nvSpPr>
        <p:spPr>
          <a:xfrm>
            <a:off x="2686050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+6.1%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686050" y="1900238"/>
            <a:ext cx="17430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Buy-Hold 수익률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29150" y="1459111"/>
            <a:ext cx="1914525" cy="7108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4629150" y="1459111"/>
            <a:ext cx="1914525" cy="28575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6" name="Text 13"/>
          <p:cNvSpPr/>
          <p:nvPr/>
        </p:nvSpPr>
        <p:spPr>
          <a:xfrm>
            <a:off x="4714875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-18.4%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714875" y="1900238"/>
            <a:ext cx="17430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최대 낙폭 (MDD)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57975" y="1459111"/>
            <a:ext cx="1914525" cy="692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57975" y="1459111"/>
            <a:ext cx="1914525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0" name="Text 17"/>
          <p:cNvSpPr/>
          <p:nvPr/>
        </p:nvSpPr>
        <p:spPr>
          <a:xfrm>
            <a:off x="6743700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0.71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743700" y="1900238"/>
            <a:ext cx="1743075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Sharpe Ratio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71500" y="2269927"/>
            <a:ext cx="3914775" cy="2327077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83334"/>
            <a:ext cx="196453" cy="157163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53691" y="2355652"/>
            <a:ext cx="1017984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신호 생성 로직</a:t>
            </a:r>
            <a:endParaRPr lang="en-US" sz="11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96766"/>
            <a:ext cx="96441" cy="1285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9391" y="2675334"/>
            <a:ext cx="1620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C9A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매수 조건 (Total_Score ≥ 2)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771525" y="2903934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 &lt; 30 (과매도 구간 진입)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771525" y="3096816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MACD 시그널 상향 돌파 (골든크로스)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771525" y="3289697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볼린저밴드 하단 근접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71525" y="3482578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20일 이동평균선 위에 위치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771525" y="2903934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771525" y="3096816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771525" y="3289697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771525" y="3482578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25466"/>
            <a:ext cx="96441" cy="12858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9391" y="3704034"/>
            <a:ext cx="16779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6B6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매도 조건 (Total_Score ≤ -2)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771525" y="3932634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 &gt; 70 (과매수 구간 진입)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71525" y="4125516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MACD 시그널 하향 돌파 (데드크로스)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771525" y="4318397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볼린저밴드 상단 근접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4657725" y="2269927"/>
            <a:ext cx="3914775" cy="25574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5"/>
          <p:cNvSpPr/>
          <p:nvPr/>
        </p:nvSpPr>
        <p:spPr>
          <a:xfrm>
            <a:off x="771525" y="3932634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771525" y="4125516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771525" y="4318397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025" y="2383334"/>
            <a:ext cx="176808" cy="157163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20270" y="2355652"/>
            <a:ext cx="980480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스크리닝 결과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4772025" y="2675334"/>
            <a:ext cx="3686175" cy="2411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7" name="Shape 40"/>
          <p:cNvSpPr/>
          <p:nvPr/>
        </p:nvSpPr>
        <p:spPr>
          <a:xfrm>
            <a:off x="4772025" y="2675334"/>
            <a:ext cx="21431" cy="241102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48" name="Text 41"/>
          <p:cNvSpPr/>
          <p:nvPr/>
        </p:nvSpPr>
        <p:spPr>
          <a:xfrm>
            <a:off x="4772025" y="2675334"/>
            <a:ext cx="3686175" cy="241102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전체 2,700여 종목 신호 집계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4857750" y="2959298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매수 신호: 약 58개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(2.2%)</a:t>
            </a:r>
            <a:endParaRPr lang="en-US" sz="800" dirty="0"/>
          </a:p>
        </p:txBody>
      </p:sp>
      <p:sp>
        <p:nvSpPr>
          <p:cNvPr id="50" name="Text 43"/>
          <p:cNvSpPr/>
          <p:nvPr/>
        </p:nvSpPr>
        <p:spPr>
          <a:xfrm>
            <a:off x="4857750" y="3152180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매도 신호: 약 43개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(1.6%)</a:t>
            </a:r>
            <a:endParaRPr lang="en-US" sz="800" dirty="0"/>
          </a:p>
        </p:txBody>
      </p:sp>
      <p:sp>
        <p:nvSpPr>
          <p:cNvPr id="51" name="Text 44"/>
          <p:cNvSpPr/>
          <p:nvPr/>
        </p:nvSpPr>
        <p:spPr>
          <a:xfrm>
            <a:off x="4857750" y="3345061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중립: 나머지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96.2%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4857750" y="2987873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3" name="Text 46"/>
          <p:cNvSpPr/>
          <p:nvPr/>
        </p:nvSpPr>
        <p:spPr>
          <a:xfrm>
            <a:off x="4857750" y="3180755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4" name="Text 47"/>
          <p:cNvSpPr/>
          <p:nvPr/>
        </p:nvSpPr>
        <p:spPr>
          <a:xfrm>
            <a:off x="4857750" y="3373636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5" name="Shape 48"/>
          <p:cNvSpPr/>
          <p:nvPr/>
        </p:nvSpPr>
        <p:spPr>
          <a:xfrm>
            <a:off x="4772025" y="3566517"/>
            <a:ext cx="3686175" cy="2411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6" name="Shape 49"/>
          <p:cNvSpPr/>
          <p:nvPr/>
        </p:nvSpPr>
        <p:spPr>
          <a:xfrm>
            <a:off x="4772025" y="3566517"/>
            <a:ext cx="21431" cy="241102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57" name="Text 50"/>
          <p:cNvSpPr/>
          <p:nvPr/>
        </p:nvSpPr>
        <p:spPr>
          <a:xfrm>
            <a:off x="4772025" y="3566517"/>
            <a:ext cx="3686175" cy="241102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단일 종목 (삼성전자) 백테스팅</a:t>
            </a:r>
            <a:endParaRPr lang="en-US" sz="800" dirty="0"/>
          </a:p>
        </p:txBody>
      </p:sp>
      <p:sp>
        <p:nvSpPr>
          <p:cNvPr id="58" name="Text 51"/>
          <p:cNvSpPr/>
          <p:nvPr/>
        </p:nvSpPr>
        <p:spPr>
          <a:xfrm>
            <a:off x="4857750" y="3850481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누적 수익: Buy-Hold 대비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+2.1%p</a:t>
            </a:r>
            <a:endParaRPr lang="en-US" sz="800" dirty="0"/>
          </a:p>
        </p:txBody>
      </p:sp>
      <p:sp>
        <p:nvSpPr>
          <p:cNvPr id="59" name="Text 52"/>
          <p:cNvSpPr/>
          <p:nvPr/>
        </p:nvSpPr>
        <p:spPr>
          <a:xfrm>
            <a:off x="4857750" y="4043363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승률: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54.3%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(총 거래 건수 47건)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4857750" y="3879056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61" name="Text 54"/>
          <p:cNvSpPr/>
          <p:nvPr/>
        </p:nvSpPr>
        <p:spPr>
          <a:xfrm>
            <a:off x="4857750" y="4071938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62" name="Shape 55"/>
          <p:cNvSpPr/>
          <p:nvPr/>
        </p:nvSpPr>
        <p:spPr>
          <a:xfrm>
            <a:off x="4772025" y="4264819"/>
            <a:ext cx="3686175" cy="2411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3" name="Shape 56"/>
          <p:cNvSpPr/>
          <p:nvPr/>
        </p:nvSpPr>
        <p:spPr>
          <a:xfrm>
            <a:off x="4772025" y="4264819"/>
            <a:ext cx="21431" cy="241102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64" name="Text 57"/>
          <p:cNvSpPr/>
          <p:nvPr/>
        </p:nvSpPr>
        <p:spPr>
          <a:xfrm>
            <a:off x="4772025" y="4264819"/>
            <a:ext cx="3686175" cy="241102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300종목 샘플 포트폴리오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4857750" y="4548783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 지수 대비 초과수익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+1.8%p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달성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6845498" y="4864894"/>
            <a:ext cx="1727002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14 / 17</a:t>
            </a:r>
            <a:endParaRPr lang="en-US" sz="750" dirty="0"/>
          </a:p>
        </p:txBody>
      </p:sp>
      <p:sp>
        <p:nvSpPr>
          <p:cNvPr id="67" name="Text 60"/>
          <p:cNvSpPr/>
          <p:nvPr/>
        </p:nvSpPr>
        <p:spPr>
          <a:xfrm>
            <a:off x="4857750" y="4577358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 한계 및 개선 방향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Limitations &amp; Future Work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344811"/>
            <a:ext cx="8001000" cy="1001520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71500" y="1344811"/>
            <a:ext cx="3644010" cy="987233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8366" y="1344811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3" y="1541264"/>
            <a:ext cx="142875" cy="1428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0125" y="1516261"/>
            <a:ext cx="88939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2A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 과적합 위험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85813" y="1794867"/>
            <a:ext cx="32114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 가격 및 거래량 데이터에만 의존하여 특정 시장 국면(상승장/하락장)의 패턴에 과적합될 위험이 존재함.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4211575" y="1344811"/>
            <a:ext cx="713649" cy="98723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89" y="1738415"/>
            <a:ext cx="175022" cy="20002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925225" y="1344811"/>
            <a:ext cx="3647219" cy="987233"/>
          </a:xfrm>
          <a:prstGeom prst="rect">
            <a:avLst/>
          </a:prstGeom>
          <a:solidFill>
            <a:srgbClr val="F1F8FF"/>
          </a:solidFill>
          <a:ln/>
        </p:spPr>
      </p:sp>
      <p:sp>
        <p:nvSpPr>
          <p:cNvPr id="14" name="Shape 9"/>
          <p:cNvSpPr/>
          <p:nvPr/>
        </p:nvSpPr>
        <p:spPr>
          <a:xfrm>
            <a:off x="4925225" y="1344811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1541264"/>
            <a:ext cx="142875" cy="14287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357813" y="1516261"/>
            <a:ext cx="106799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7D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다양한 피처 추가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5143500" y="1794867"/>
            <a:ext cx="321468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거시경제 지표(금리, 환율), 산업별 인덱스, 글로벌 증시 동향 등 외부 변수를 모델 입력에 추가하여 강건성 확보.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571500" y="2503494"/>
            <a:ext cx="8001000" cy="1001520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571500" y="2503494"/>
            <a:ext cx="3644010" cy="987233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0" name="Shape 14"/>
          <p:cNvSpPr/>
          <p:nvPr/>
        </p:nvSpPr>
        <p:spPr>
          <a:xfrm>
            <a:off x="4208366" y="2503494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813" y="2699947"/>
            <a:ext cx="107156" cy="14287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64406" y="2674944"/>
            <a:ext cx="77331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2A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2. 정보 부재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785813" y="2953550"/>
            <a:ext cx="32114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재무제표(실적 발표), 기업 공시, 뉴스 등 주가에 결정적 영향을 미치는 펀더멘털 및 정성적 데이터가 누락됨.</a:t>
            </a:r>
            <a:endParaRPr lang="en-US" sz="850" dirty="0"/>
          </a:p>
        </p:txBody>
      </p:sp>
      <p:sp>
        <p:nvSpPr>
          <p:cNvPr id="24" name="Shape 17"/>
          <p:cNvSpPr/>
          <p:nvPr/>
        </p:nvSpPr>
        <p:spPr>
          <a:xfrm>
            <a:off x="4211575" y="2503494"/>
            <a:ext cx="713649" cy="98723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889" y="2897098"/>
            <a:ext cx="175022" cy="200025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925225" y="2503494"/>
            <a:ext cx="3647219" cy="987233"/>
          </a:xfrm>
          <a:prstGeom prst="rect">
            <a:avLst/>
          </a:prstGeom>
          <a:solidFill>
            <a:srgbClr val="F1F8FF"/>
          </a:solidFill>
          <a:ln/>
        </p:spPr>
      </p:sp>
      <p:sp>
        <p:nvSpPr>
          <p:cNvPr id="27" name="Shape 19"/>
          <p:cNvSpPr/>
          <p:nvPr/>
        </p:nvSpPr>
        <p:spPr>
          <a:xfrm>
            <a:off x="4925225" y="2503494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2699947"/>
            <a:ext cx="142875" cy="142875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357813" y="2674944"/>
            <a:ext cx="1296591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7D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멀티모달 / NLP 도입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5143500" y="2953550"/>
            <a:ext cx="321468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뉴스 기사 감성 분석(Sentiment Analysis) 및 분기별 재무 데이터를 시계열 데이터와 결합하는 하이브리드 모델 구축.</a:t>
            </a:r>
            <a:endParaRPr lang="en-US" sz="850" dirty="0"/>
          </a:p>
        </p:txBody>
      </p:sp>
      <p:sp>
        <p:nvSpPr>
          <p:cNvPr id="31" name="Shape 22"/>
          <p:cNvSpPr/>
          <p:nvPr/>
        </p:nvSpPr>
        <p:spPr>
          <a:xfrm>
            <a:off x="571500" y="3662176"/>
            <a:ext cx="8001000" cy="1001520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571500" y="3662176"/>
            <a:ext cx="3644010" cy="987233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33" name="Shape 24"/>
          <p:cNvSpPr/>
          <p:nvPr/>
        </p:nvSpPr>
        <p:spPr>
          <a:xfrm>
            <a:off x="4208366" y="3662176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13" y="3858630"/>
            <a:ext cx="142875" cy="142875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000125" y="3833626"/>
            <a:ext cx="91618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2A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3. 전략 단순성</a:t>
            </a:r>
            <a:endParaRPr lang="en-US" sz="1000" dirty="0"/>
          </a:p>
        </p:txBody>
      </p:sp>
      <p:sp>
        <p:nvSpPr>
          <p:cNvPr id="36" name="Text 26"/>
          <p:cNvSpPr/>
          <p:nvPr/>
        </p:nvSpPr>
        <p:spPr>
          <a:xfrm>
            <a:off x="785813" y="4112233"/>
            <a:ext cx="32114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고정된 매수/매도 임계값(Threshold)을 사용하여 시장 변동성(Volatility) 변화에 유연하게 대응하지 못함.</a:t>
            </a:r>
            <a:endParaRPr 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4211575" y="3662176"/>
            <a:ext cx="713649" cy="98723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0889" y="4055780"/>
            <a:ext cx="175022" cy="200025"/>
          </a:xfrm>
          <a:prstGeom prst="rect">
            <a:avLst/>
          </a:prstGeom>
        </p:spPr>
      </p:pic>
      <p:sp>
        <p:nvSpPr>
          <p:cNvPr id="39" name="Shape 28"/>
          <p:cNvSpPr/>
          <p:nvPr/>
        </p:nvSpPr>
        <p:spPr>
          <a:xfrm>
            <a:off x="4925225" y="3662176"/>
            <a:ext cx="3647219" cy="987233"/>
          </a:xfrm>
          <a:prstGeom prst="rect">
            <a:avLst/>
          </a:prstGeom>
          <a:solidFill>
            <a:srgbClr val="F1F8FF"/>
          </a:solidFill>
          <a:ln/>
        </p:spPr>
      </p:sp>
      <p:sp>
        <p:nvSpPr>
          <p:cNvPr id="40" name="Shape 29"/>
          <p:cNvSpPr/>
          <p:nvPr/>
        </p:nvSpPr>
        <p:spPr>
          <a:xfrm>
            <a:off x="4925225" y="3662176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43500" y="3858630"/>
            <a:ext cx="178594" cy="142875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393531" y="3833626"/>
            <a:ext cx="117336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7D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강화학습(RL) 적용</a:t>
            </a:r>
            <a:endParaRPr lang="en-US" sz="1000" dirty="0"/>
          </a:p>
        </p:txBody>
      </p:sp>
      <p:sp>
        <p:nvSpPr>
          <p:cNvPr id="43" name="Text 31"/>
          <p:cNvSpPr/>
          <p:nvPr/>
        </p:nvSpPr>
        <p:spPr>
          <a:xfrm>
            <a:off x="5143500" y="4112233"/>
            <a:ext cx="321468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상황에 따라 동적으로 포지션 비중과 임계값을 조절하는 강화학습 기반 트레이딩 에이전트 도입.</a:t>
            </a:r>
            <a:endParaRPr lang="en-US" sz="850" dirty="0"/>
          </a:p>
        </p:txBody>
      </p:sp>
      <p:sp>
        <p:nvSpPr>
          <p:cNvPr id="44" name="Text 32"/>
          <p:cNvSpPr/>
          <p:nvPr/>
        </p:nvSpPr>
        <p:spPr>
          <a:xfrm>
            <a:off x="6847284" y="4793456"/>
            <a:ext cx="17252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16 / 17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30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08 Summary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44736"/>
            <a:ext cx="80010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예측 AI, 무엇을 배웠는가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201936"/>
            <a:ext cx="3957638" cy="12629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201936"/>
            <a:ext cx="3957638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7" name="Shape 4"/>
          <p:cNvSpPr/>
          <p:nvPr/>
        </p:nvSpPr>
        <p:spPr>
          <a:xfrm>
            <a:off x="742950" y="1344811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68" y="1423392"/>
            <a:ext cx="112514" cy="1285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14425" y="1391245"/>
            <a:ext cx="15478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데이터 규모의 한계 극복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42950" y="1744861"/>
            <a:ext cx="361473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 종목 학습의 메모리 한계를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층화 샘플링(200종목)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으로 해결하여, 대/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중/소형주의 패턴을 고르게 학습하는 효율적인 파이프라인을 구축했습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니다.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4614863" y="1201936"/>
            <a:ext cx="3957638" cy="12629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8"/>
          <p:cNvSpPr/>
          <p:nvPr/>
        </p:nvSpPr>
        <p:spPr>
          <a:xfrm>
            <a:off x="4614863" y="1201936"/>
            <a:ext cx="3957638" cy="28575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Shape 9"/>
          <p:cNvSpPr/>
          <p:nvPr/>
        </p:nvSpPr>
        <p:spPr>
          <a:xfrm>
            <a:off x="4786313" y="1344811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820" y="1423392"/>
            <a:ext cx="160734" cy="1285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57788" y="1391245"/>
            <a:ext cx="140497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모델 간의 장단점 확인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786313" y="1744861"/>
            <a:ext cx="361473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은 시계열 패턴 인식에서 가장 높은 정확도를 보였고,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트리 기반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모델(RF, XGB)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은 빠른 학습 속도와 특성 중요도 해석이라는 강점을 확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인했습니다.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71500" y="2522051"/>
            <a:ext cx="3957638" cy="12629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3"/>
          <p:cNvSpPr/>
          <p:nvPr/>
        </p:nvSpPr>
        <p:spPr>
          <a:xfrm>
            <a:off x="571500" y="2522051"/>
            <a:ext cx="3957638" cy="28575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9" name="Shape 14"/>
          <p:cNvSpPr/>
          <p:nvPr/>
        </p:nvSpPr>
        <p:spPr>
          <a:xfrm>
            <a:off x="742950" y="2664926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31" y="2743507"/>
            <a:ext cx="128588" cy="128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14425" y="2711360"/>
            <a:ext cx="122239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실전 검증의 중요성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742950" y="3064976"/>
            <a:ext cx="361473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학습되지 않은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2025년 OOS(Out-of-Sample) 데이터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테스트를 통해 모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델의 과적합 여부를 점검하고, 실제 시장에서의 일반화 성능을 검증했습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니다.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614863" y="2522051"/>
            <a:ext cx="3957638" cy="12343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18"/>
          <p:cNvSpPr/>
          <p:nvPr/>
        </p:nvSpPr>
        <p:spPr>
          <a:xfrm>
            <a:off x="4614863" y="2522051"/>
            <a:ext cx="3957638" cy="28575"/>
          </a:xfrm>
          <a:prstGeom prst="rect">
            <a:avLst/>
          </a:prstGeom>
          <a:solidFill>
            <a:srgbClr val="8892B0"/>
          </a:solidFill>
          <a:ln/>
        </p:spPr>
      </p:sp>
      <p:sp>
        <p:nvSpPr>
          <p:cNvPr id="25" name="Shape 19"/>
          <p:cNvSpPr/>
          <p:nvPr/>
        </p:nvSpPr>
        <p:spPr>
          <a:xfrm>
            <a:off x="4786313" y="2664926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894" y="2743507"/>
            <a:ext cx="128588" cy="1285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57788" y="2711360"/>
            <a:ext cx="107951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끝없는 개선 과정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4786313" y="3064976"/>
            <a:ext cx="361473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단순한 등락률 예측을 넘어,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기술적 지표 스크리닝과 결합한 포트폴리오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전략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으로 발전시키며 AI 모델의 실질적 활용 가치를 높였습니다.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571500" y="3956465"/>
            <a:ext cx="8001000" cy="52863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0" name="Shape 23"/>
          <p:cNvSpPr/>
          <p:nvPr/>
        </p:nvSpPr>
        <p:spPr>
          <a:xfrm>
            <a:off x="571500" y="3956465"/>
            <a:ext cx="42863" cy="528638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5" y="4042190"/>
            <a:ext cx="189309" cy="21431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42950" y="4042190"/>
            <a:ext cx="7658100" cy="230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1252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"All models are wrong, but some are useful."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742950" y="4272576"/>
            <a:ext cx="76581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— George E. P. Box (통계학자)</a:t>
            </a:r>
            <a:endParaRPr lang="en-US" sz="850" dirty="0"/>
          </a:p>
        </p:txBody>
      </p:sp>
      <p:sp>
        <p:nvSpPr>
          <p:cNvPr id="34" name="Text 26"/>
          <p:cNvSpPr/>
          <p:nvPr/>
        </p:nvSpPr>
        <p:spPr>
          <a:xfrm>
            <a:off x="6851526" y="4793456"/>
            <a:ext cx="1720974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17 / 17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1934</ep:Words>
  <ep:PresentationFormat>On-screen Show (16:9)</ep:PresentationFormat>
  <ep:Paragraphs>549</ep:Paragraphs>
  <ep:Slides>16</ep:Slides>
  <ep:Notes>16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ep:HeadingPairs>
  <ep:TitlesOfParts>
    <vt:vector size="17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2026-04-25T11:16:27.000</dcterms:created>
  <dc:creator>PptxGenJS</dc:creator>
  <cp:lastModifiedBy>KimSoonHa</cp:lastModifiedBy>
  <dcterms:modified xsi:type="dcterms:W3CDTF">2026-04-25T11:31:41.460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