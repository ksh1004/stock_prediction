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23"/>
    <p:sldId id="274" r:id="rId24"/>
    <p:sldId id="275" r:id="rId25"/>
    <p:sldId id="276" r:id="rId26"/>
    <p:sldId id="277" r:id="rId27"/>
    <p:sldId id="278" r:id="rId2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2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9.jpe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Relationship Id="rId13" Type="http://schemas.openxmlformats.org/officeDocument/2006/relationships/image" Target="../media/image52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6.jpe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72.jpeg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79.jpeg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84.jpeg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image" Target="../media/image92.png"/><Relationship Id="rId10" Type="http://schemas.openxmlformats.org/officeDocument/2006/relationships/image" Target="../media/image93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94.jpeg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183909"/>
            <a:ext cx="7143750" cy="5486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주식 등락률 예측 AI 모델 개발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000125" y="2275452"/>
            <a:ext cx="71437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KOSPI / KOSDAQ 전 종목 대상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5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9개 회귀 모델 비교 분석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080617" y="3218427"/>
            <a:ext cx="923330" cy="283964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2080617" y="3218427"/>
            <a:ext cx="923330" cy="28396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데이터 수집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111103" y="3218427"/>
            <a:ext cx="923330" cy="283964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111103" y="3218427"/>
            <a:ext cx="923330" cy="28396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기술적 지표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141589" y="3218427"/>
            <a:ext cx="653653" cy="283964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141589" y="3218427"/>
            <a:ext cx="653653" cy="28396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딥러닝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02398" y="3218427"/>
            <a:ext cx="771525" cy="283964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902398" y="3218427"/>
            <a:ext cx="771525" cy="28396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백테스팅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781080" y="3218427"/>
            <a:ext cx="1253728" cy="283964"/>
          </a:xfrm>
          <a:prstGeom prst="roundRect">
            <a:avLst/>
          </a:prstGeom>
          <a:solidFill>
            <a:srgbClr val="FFFFFF">
              <a:alpha val="10000"/>
            </a:srgbClr>
          </a:solidFill>
          <a:ln w="9144">
            <a:solidFill>
              <a:srgbClr val="00C9A7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781080" y="3218427"/>
            <a:ext cx="1253728" cy="283964"/>
          </a:xfrm>
          <a:prstGeom prst="rect">
            <a:avLst/>
          </a:prstGeom>
          <a:noFill/>
          <a:ln/>
        </p:spPr>
        <p:txBody>
          <a:bodyPr wrap="none" lIns="170053" tIns="68072" rIns="170053" bIns="68072" rtlCol="0" anchor="t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2025년 실전 검증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0" y="4702373"/>
            <a:ext cx="9144000" cy="126802"/>
          </a:xfrm>
          <a:prstGeom prst="rect">
            <a:avLst/>
          </a:prstGeom>
          <a:noFill/>
          <a:ln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  <a:defRPr/>
            </a:pPr>
            <a:endParaRPr lang="en-US" sz="8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001000" cy="489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목차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571500" y="1032272"/>
            <a:ext cx="80010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of Contents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2578224"/>
            <a:ext cx="2571750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KOSPI / KOSDAQ 전 종목 </a:t>
            </a:r>
            <a:r>
              <a:rPr lang="en-US" sz="14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대상</a:t>
            </a:r>
            <a:r>
              <a:rPr lang="en-US" sz="150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14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AI 예측 모델 개발</a:t>
            </a:r>
            <a:r>
              <a:rPr lang="en-US" sz="14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의</a:t>
            </a:r>
            <a:r>
              <a:rPr lang="en-US" sz="150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14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전체 과정을 소개합니다.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429000" y="1826121"/>
            <a:ext cx="3571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33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71913" y="1826121"/>
            <a:ext cx="1703784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프로젝트 개요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71913" y="2086868"/>
            <a:ext cx="17037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연구 배경 · 목적 · 데이터 범위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15050" y="1826121"/>
            <a:ext cx="3571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33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57963" y="1826121"/>
            <a:ext cx="2014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기술 스택 &amp; 아키텍처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57963" y="2086868"/>
            <a:ext cx="2014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수집 파이프라인 · 특성 공학 · 모델 구조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429000" y="2558355"/>
            <a:ext cx="3571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33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871913" y="2558355"/>
            <a:ext cx="2014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하이퍼파라미터 탐색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71913" y="2819102"/>
            <a:ext cx="2014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 · RF · XGB · Ridge · Lasso · DT · KNN 파라미터 최적화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115050" y="2558355"/>
            <a:ext cx="3571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33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57963" y="2558355"/>
            <a:ext cx="2014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모델 성능 비교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57963" y="2819102"/>
            <a:ext cx="2014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 · RMSE · 방향 정확도 — 9개 모델 비교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429000" y="3290590"/>
            <a:ext cx="3571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33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871913" y="3290590"/>
            <a:ext cx="1978819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2025년 실전 검증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871913" y="3551337"/>
            <a:ext cx="19788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외 데이터로 일반화 성능 측정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6115050" y="3290590"/>
            <a:ext cx="3571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33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557963" y="3290590"/>
            <a:ext cx="2014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백테스팅 결과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557963" y="3551337"/>
            <a:ext cx="2014538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신호 기반 전략 vs Buy-Hold · MDD · Sharpe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429000" y="4006751"/>
            <a:ext cx="357188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600" b="1" dirty="0">
                <a:solidFill>
                  <a:srgbClr val="3366C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07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3871913" y="4006751"/>
            <a:ext cx="2014538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한계 및 개선 방향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3871913" y="4267498"/>
            <a:ext cx="20145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과적합 · 데이터 편향 · 비정형 정보 부재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6890147" y="4793456"/>
            <a:ext cx="168235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2 / 17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01 프로젝트 개요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344811"/>
            <a:ext cx="1214438" cy="9140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344811"/>
            <a:ext cx="1214438" cy="214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85800" y="1487686"/>
            <a:ext cx="9858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2,731개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814513"/>
            <a:ext cx="98583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전체 수집 종목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928813" y="1344811"/>
            <a:ext cx="1214438" cy="9140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928813" y="1344811"/>
            <a:ext cx="1214438" cy="214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2043113" y="1487686"/>
            <a:ext cx="9858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200개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043113" y="1814513"/>
            <a:ext cx="9858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학습 종목</a:t>
            </a: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(층화 샘플링)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286125" y="1344811"/>
            <a:ext cx="1214438" cy="9140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3286125" y="1344811"/>
            <a:ext cx="1214438" cy="214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400425" y="1487686"/>
            <a:ext cx="9858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4구간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400425" y="1814513"/>
            <a:ext cx="98583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시총 구간</a:t>
            </a: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
</a:t>
            </a: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(각 50종목)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643438" y="1344811"/>
            <a:ext cx="1214438" cy="892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4643438" y="1344811"/>
            <a:ext cx="1214438" cy="214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757738" y="1487686"/>
            <a:ext cx="9858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11개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757738" y="1814513"/>
            <a:ext cx="98583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기술적 특성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6000750" y="1344811"/>
            <a:ext cx="1214438" cy="892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000750" y="1344811"/>
            <a:ext cx="1214438" cy="214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6115050" y="1487686"/>
            <a:ext cx="9858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15050" y="1814513"/>
            <a:ext cx="98583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입력 시퀀스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358063" y="1344811"/>
            <a:ext cx="1214438" cy="89257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7358063" y="1344811"/>
            <a:ext cx="1214438" cy="214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472363" y="1487686"/>
            <a:ext cx="985838" cy="2696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1년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7472363" y="1814513"/>
            <a:ext cx="98583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2025 실전 검증</a:t>
            </a:r>
            <a:endParaRPr lang="en-US" sz="75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79384"/>
            <a:ext cx="157163" cy="157163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785813" y="2451702"/>
            <a:ext cx="66794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연구 목적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71500" y="2778528"/>
            <a:ext cx="3857625" cy="365727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KOSPI/KOSDAQ 2,700여 종목 전체 수집 후 시총 구간별 층화 샘플링으로 200종목 선정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571500" y="3229980"/>
            <a:ext cx="3857625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단일 종목 분석 한계 극복 → 규모별 다양한 패턴 학습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571500" y="3498568"/>
            <a:ext cx="3857625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9개 회귀 모델(LSTM·RF·XGB·선형회귀·Ridge·Lasso·ElasticNet·결정트리·KNN)을 동일 조건에서 비교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571500" y="3767156"/>
            <a:ext cx="3857625" cy="18286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2025년 Out-of-Sample 검증으로 일반화 성능 측정</a:t>
            </a:r>
            <a:endParaRPr lang="en-US" sz="850" dirty="0"/>
          </a:p>
        </p:txBody>
      </p:sp>
      <p:sp>
        <p:nvSpPr>
          <p:cNvPr id="35" name="Text 31"/>
          <p:cNvSpPr/>
          <p:nvPr/>
        </p:nvSpPr>
        <p:spPr>
          <a:xfrm>
            <a:off x="571500" y="2778528"/>
            <a:ext cx="5357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571500" y="3229980"/>
            <a:ext cx="5357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71500" y="3498568"/>
            <a:ext cx="5357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571500" y="3767156"/>
            <a:ext cx="53578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2479384"/>
            <a:ext cx="176808" cy="157163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4948833" y="2451702"/>
            <a:ext cx="145375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프로젝트 파이프라인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4714875" y="2778528"/>
            <a:ext cx="3857625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Shape 37"/>
          <p:cNvSpPr/>
          <p:nvPr/>
        </p:nvSpPr>
        <p:spPr>
          <a:xfrm>
            <a:off x="4857750" y="2864253"/>
            <a:ext cx="228600" cy="228600"/>
          </a:xfrm>
          <a:prstGeom prst="ellipse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43" name="Text 38"/>
          <p:cNvSpPr/>
          <p:nvPr/>
        </p:nvSpPr>
        <p:spPr>
          <a:xfrm>
            <a:off x="4857750" y="286425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800" dirty="0"/>
          </a:p>
        </p:txBody>
      </p:sp>
      <p:sp>
        <p:nvSpPr>
          <p:cNvPr id="44" name="Text 39"/>
          <p:cNvSpPr/>
          <p:nvPr/>
        </p:nvSpPr>
        <p:spPr>
          <a:xfrm>
            <a:off x="5200650" y="2900865"/>
            <a:ext cx="12322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데이터 수집 (2,731종목)</a:t>
            </a:r>
            <a:endParaRPr lang="en-US" sz="85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2114" y="2928547"/>
            <a:ext cx="87511" cy="100013"/>
          </a:xfrm>
          <a:prstGeom prst="rect">
            <a:avLst/>
          </a:prstGeom>
        </p:spPr>
      </p:pic>
      <p:sp>
        <p:nvSpPr>
          <p:cNvPr id="46" name="Shape 40"/>
          <p:cNvSpPr/>
          <p:nvPr/>
        </p:nvSpPr>
        <p:spPr>
          <a:xfrm>
            <a:off x="4714875" y="3264303"/>
            <a:ext cx="3857625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Shape 41"/>
          <p:cNvSpPr/>
          <p:nvPr/>
        </p:nvSpPr>
        <p:spPr>
          <a:xfrm>
            <a:off x="4857750" y="3350028"/>
            <a:ext cx="228600" cy="228600"/>
          </a:xfrm>
          <a:prstGeom prst="ellipse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48" name="Text 42"/>
          <p:cNvSpPr/>
          <p:nvPr/>
        </p:nvSpPr>
        <p:spPr>
          <a:xfrm>
            <a:off x="4857750" y="335002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5200650" y="3386640"/>
            <a:ext cx="142160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층화 샘플링 (200종목 선정)</a:t>
            </a:r>
            <a:endParaRPr lang="en-US" sz="850" dirty="0"/>
          </a:p>
        </p:txBody>
      </p:sp>
      <p:pic>
        <p:nvPicPr>
          <p:cNvPr id="5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2114" y="3414322"/>
            <a:ext cx="87511" cy="100013"/>
          </a:xfrm>
          <a:prstGeom prst="rect">
            <a:avLst/>
          </a:prstGeom>
        </p:spPr>
      </p:pic>
      <p:sp>
        <p:nvSpPr>
          <p:cNvPr id="51" name="Shape 44"/>
          <p:cNvSpPr/>
          <p:nvPr/>
        </p:nvSpPr>
        <p:spPr>
          <a:xfrm>
            <a:off x="4714875" y="3750078"/>
            <a:ext cx="1893094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Shape 45"/>
          <p:cNvSpPr/>
          <p:nvPr/>
        </p:nvSpPr>
        <p:spPr>
          <a:xfrm>
            <a:off x="4857750" y="3835803"/>
            <a:ext cx="228600" cy="228600"/>
          </a:xfrm>
          <a:prstGeom prst="ellipse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53" name="Text 46"/>
          <p:cNvSpPr/>
          <p:nvPr/>
        </p:nvSpPr>
        <p:spPr>
          <a:xfrm>
            <a:off x="4857750" y="383580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800" dirty="0"/>
          </a:p>
        </p:txBody>
      </p:sp>
      <p:sp>
        <p:nvSpPr>
          <p:cNvPr id="54" name="Text 47"/>
          <p:cNvSpPr/>
          <p:nvPr/>
        </p:nvSpPr>
        <p:spPr>
          <a:xfrm>
            <a:off x="5200650" y="3872415"/>
            <a:ext cx="5750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LSTM 학습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6679406" y="3750078"/>
            <a:ext cx="1893094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Shape 49"/>
          <p:cNvSpPr/>
          <p:nvPr/>
        </p:nvSpPr>
        <p:spPr>
          <a:xfrm>
            <a:off x="6822281" y="3835803"/>
            <a:ext cx="228600" cy="228600"/>
          </a:xfrm>
          <a:prstGeom prst="ellipse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57" name="Text 50"/>
          <p:cNvSpPr/>
          <p:nvPr/>
        </p:nvSpPr>
        <p:spPr>
          <a:xfrm>
            <a:off x="6822281" y="3835803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7165181" y="3872415"/>
            <a:ext cx="9786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9개 모델 학습 및 비교</a:t>
            </a:r>
            <a:endParaRPr lang="en-US" sz="850" dirty="0"/>
          </a:p>
        </p:txBody>
      </p:sp>
      <p:sp>
        <p:nvSpPr>
          <p:cNvPr id="59" name="Shape 52"/>
          <p:cNvSpPr/>
          <p:nvPr/>
        </p:nvSpPr>
        <p:spPr>
          <a:xfrm>
            <a:off x="4714875" y="4235853"/>
            <a:ext cx="1893094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0" name="Shape 53"/>
          <p:cNvSpPr/>
          <p:nvPr/>
        </p:nvSpPr>
        <p:spPr>
          <a:xfrm>
            <a:off x="4857750" y="4321578"/>
            <a:ext cx="228600" cy="228600"/>
          </a:xfrm>
          <a:prstGeom prst="ellipse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4857750" y="432157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200650" y="4358190"/>
            <a:ext cx="7161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백테스팅 검증</a:t>
            </a:r>
            <a:endParaRPr lang="en-US" sz="850" dirty="0"/>
          </a:p>
        </p:txBody>
      </p:sp>
      <p:sp>
        <p:nvSpPr>
          <p:cNvPr id="63" name="Shape 56"/>
          <p:cNvSpPr/>
          <p:nvPr/>
        </p:nvSpPr>
        <p:spPr>
          <a:xfrm>
            <a:off x="6679406" y="4235853"/>
            <a:ext cx="1893094" cy="400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Shape 57"/>
          <p:cNvSpPr/>
          <p:nvPr/>
        </p:nvSpPr>
        <p:spPr>
          <a:xfrm>
            <a:off x="6822281" y="4321578"/>
            <a:ext cx="228600" cy="228600"/>
          </a:xfrm>
          <a:prstGeom prst="ellipse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5" name="Text 58"/>
          <p:cNvSpPr/>
          <p:nvPr/>
        </p:nvSpPr>
        <p:spPr>
          <a:xfrm>
            <a:off x="6822281" y="432157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7165181" y="4358190"/>
            <a:ext cx="9144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2025년 실전 검증</a:t>
            </a:r>
            <a:endParaRPr lang="en-US" sz="850" dirty="0"/>
          </a:p>
        </p:txBody>
      </p:sp>
      <p:sp>
        <p:nvSpPr>
          <p:cNvPr id="67" name="Text 60"/>
          <p:cNvSpPr/>
          <p:nvPr/>
        </p:nvSpPr>
        <p:spPr>
          <a:xfrm>
            <a:off x="6888361" y="4793456"/>
            <a:ext cx="168413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3 / 17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 기술 스택 &amp; 아키텍처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 &amp; Architecture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416248"/>
            <a:ext cx="1871663" cy="3686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416248"/>
            <a:ext cx="1871663" cy="28575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817" y="1655564"/>
            <a:ext cx="225028" cy="257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2950" y="2085975"/>
            <a:ext cx="1528763" cy="333970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수집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2950" y="2619970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10" name="Text 6"/>
          <p:cNvSpPr/>
          <p:nvPr/>
        </p:nvSpPr>
        <p:spPr>
          <a:xfrm>
            <a:off x="857250" y="2591395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FinanceDataReader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857250" y="2794992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KOSPI / KOSDAQ 전 종목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857250" y="2973586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2019-01-01 ~ 2024-12-31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857250" y="2809280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14" name="Text 10"/>
          <p:cNvSpPr/>
          <p:nvPr/>
        </p:nvSpPr>
        <p:spPr>
          <a:xfrm>
            <a:off x="857250" y="2987873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742950" y="3266480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16" name="Text 12"/>
          <p:cNvSpPr/>
          <p:nvPr/>
        </p:nvSpPr>
        <p:spPr>
          <a:xfrm>
            <a:off x="857250" y="3237905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ThreadPoolExecutor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857250" y="3441502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병렬 다운로드로 속도 최적화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857250" y="3455789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742950" y="3734395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20" name="Text 16"/>
          <p:cNvSpPr/>
          <p:nvPr/>
        </p:nvSpPr>
        <p:spPr>
          <a:xfrm>
            <a:off x="857250" y="3705820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Parquet 포맷 캐싱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857250" y="3909417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고속 I/O 및 용량 절감</a:t>
            </a:r>
            <a:endParaRPr lang="en-US" sz="750" dirty="0"/>
          </a:p>
        </p:txBody>
      </p:sp>
      <p:sp>
        <p:nvSpPr>
          <p:cNvPr id="22" name="Shape 18"/>
          <p:cNvSpPr/>
          <p:nvPr/>
        </p:nvSpPr>
        <p:spPr>
          <a:xfrm>
            <a:off x="2614613" y="1416248"/>
            <a:ext cx="1871663" cy="3686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2614613" y="1416248"/>
            <a:ext cx="1871663" cy="28575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857250" y="392370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1856" y="1655564"/>
            <a:ext cx="257175" cy="257175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786063" y="2085975"/>
            <a:ext cx="1528763" cy="333970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종목 선정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2786063" y="2619970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28" name="Text 23"/>
          <p:cNvSpPr/>
          <p:nvPr/>
        </p:nvSpPr>
        <p:spPr>
          <a:xfrm>
            <a:off x="2900363" y="2591395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층화 샘플링 (Stratified)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2900363" y="2794992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시총 기준 4분위 구간 분류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2900363" y="2973586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대형/중대형/중소형/소형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2900363" y="2809280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2900363" y="2987873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2786063" y="3266480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34" name="Text 29"/>
          <p:cNvSpPr/>
          <p:nvPr/>
        </p:nvSpPr>
        <p:spPr>
          <a:xfrm>
            <a:off x="2900363" y="3237905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200종목 무작위 추출</a:t>
            </a:r>
            <a:endParaRPr lang="en-US" sz="750" dirty="0"/>
          </a:p>
        </p:txBody>
      </p:sp>
      <p:sp>
        <p:nvSpPr>
          <p:cNvPr id="35" name="Text 30"/>
          <p:cNvSpPr/>
          <p:nvPr/>
        </p:nvSpPr>
        <p:spPr>
          <a:xfrm>
            <a:off x="2900363" y="3441502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구간별 50종목 선택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2900363" y="3620095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random_state=42 고정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2900363" y="3455789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38" name="Text 33"/>
          <p:cNvSpPr/>
          <p:nvPr/>
        </p:nvSpPr>
        <p:spPr>
          <a:xfrm>
            <a:off x="2900363" y="3634383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2786063" y="3912989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40" name="Text 35"/>
          <p:cNvSpPr/>
          <p:nvPr/>
        </p:nvSpPr>
        <p:spPr>
          <a:xfrm>
            <a:off x="2900363" y="3884414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시장 대표성 확보</a:t>
            </a:r>
            <a:endParaRPr lang="en-US" sz="750" dirty="0"/>
          </a:p>
        </p:txBody>
      </p:sp>
      <p:sp>
        <p:nvSpPr>
          <p:cNvPr id="41" name="Text 36"/>
          <p:cNvSpPr/>
          <p:nvPr/>
        </p:nvSpPr>
        <p:spPr>
          <a:xfrm>
            <a:off x="2900363" y="4088011"/>
            <a:ext cx="1414463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전체 시장 규모 분포 균등 반영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4657725" y="1416248"/>
            <a:ext cx="1871663" cy="3686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Shape 38"/>
          <p:cNvSpPr/>
          <p:nvPr/>
        </p:nvSpPr>
        <p:spPr>
          <a:xfrm>
            <a:off x="4657725" y="1416248"/>
            <a:ext cx="1871663" cy="28575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44" name="Text 39"/>
          <p:cNvSpPr/>
          <p:nvPr/>
        </p:nvSpPr>
        <p:spPr>
          <a:xfrm>
            <a:off x="2900363" y="4102298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969" y="1655564"/>
            <a:ext cx="257175" cy="257175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4829175" y="2085975"/>
            <a:ext cx="1528763" cy="333970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모델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4829175" y="2619970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48" name="Text 42"/>
          <p:cNvSpPr/>
          <p:nvPr/>
        </p:nvSpPr>
        <p:spPr>
          <a:xfrm>
            <a:off x="4943475" y="2591395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 (Deep Learning)</a:t>
            </a:r>
            <a:endParaRPr lang="en-US" sz="750" dirty="0"/>
          </a:p>
        </p:txBody>
      </p:sp>
      <p:sp>
        <p:nvSpPr>
          <p:cNvPr id="49" name="Text 43"/>
          <p:cNvSpPr/>
          <p:nvPr/>
        </p:nvSpPr>
        <p:spPr>
          <a:xfrm>
            <a:off x="4943475" y="2794992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3층 (128-64-32 유닛)</a:t>
            </a:r>
            <a:endParaRPr lang="en-US" sz="750" dirty="0"/>
          </a:p>
        </p:txBody>
      </p:sp>
      <p:sp>
        <p:nvSpPr>
          <p:cNvPr id="50" name="Text 44"/>
          <p:cNvSpPr/>
          <p:nvPr/>
        </p:nvSpPr>
        <p:spPr>
          <a:xfrm>
            <a:off x="4943475" y="2973586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 + Dropout</a:t>
            </a:r>
            <a:endParaRPr lang="en-US" sz="750" dirty="0"/>
          </a:p>
        </p:txBody>
      </p:sp>
      <p:sp>
        <p:nvSpPr>
          <p:cNvPr id="51" name="Text 45"/>
          <p:cNvSpPr/>
          <p:nvPr/>
        </p:nvSpPr>
        <p:spPr>
          <a:xfrm>
            <a:off x="4943475" y="3152180"/>
            <a:ext cx="1414463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Huber Loss · Adam(lr=0.001)</a:t>
            </a:r>
            <a:endParaRPr lang="en-US" sz="750" dirty="0"/>
          </a:p>
        </p:txBody>
      </p:sp>
      <p:sp>
        <p:nvSpPr>
          <p:cNvPr id="52" name="Text 46"/>
          <p:cNvSpPr/>
          <p:nvPr/>
        </p:nvSpPr>
        <p:spPr>
          <a:xfrm>
            <a:off x="4943475" y="2809280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53" name="Text 47"/>
          <p:cNvSpPr/>
          <p:nvPr/>
        </p:nvSpPr>
        <p:spPr>
          <a:xfrm>
            <a:off x="4943475" y="2987873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54" name="Text 48"/>
          <p:cNvSpPr/>
          <p:nvPr/>
        </p:nvSpPr>
        <p:spPr>
          <a:xfrm>
            <a:off x="4943475" y="3166467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55" name="Text 49"/>
          <p:cNvSpPr/>
          <p:nvPr/>
        </p:nvSpPr>
        <p:spPr>
          <a:xfrm>
            <a:off x="4829175" y="3595092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56" name="Text 50"/>
          <p:cNvSpPr/>
          <p:nvPr/>
        </p:nvSpPr>
        <p:spPr>
          <a:xfrm>
            <a:off x="4943475" y="3566517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RandomForest · LinearRegression</a:t>
            </a:r>
            <a:endParaRPr lang="en-US" sz="750" dirty="0"/>
          </a:p>
        </p:txBody>
      </p:sp>
      <p:sp>
        <p:nvSpPr>
          <p:cNvPr id="57" name="Text 51"/>
          <p:cNvSpPr/>
          <p:nvPr/>
        </p:nvSpPr>
        <p:spPr>
          <a:xfrm>
            <a:off x="4943475" y="3770114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n_estimators=300</a:t>
            </a:r>
            <a:endParaRPr lang="en-US" sz="750" dirty="0"/>
          </a:p>
        </p:txBody>
      </p:sp>
      <p:sp>
        <p:nvSpPr>
          <p:cNvPr id="58" name="Text 52"/>
          <p:cNvSpPr/>
          <p:nvPr/>
        </p:nvSpPr>
        <p:spPr>
          <a:xfrm>
            <a:off x="4943475" y="3948708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max_depth=8</a:t>
            </a:r>
            <a:endParaRPr lang="en-US" sz="750" dirty="0"/>
          </a:p>
        </p:txBody>
      </p:sp>
      <p:sp>
        <p:nvSpPr>
          <p:cNvPr id="59" name="Text 53"/>
          <p:cNvSpPr/>
          <p:nvPr/>
        </p:nvSpPr>
        <p:spPr>
          <a:xfrm>
            <a:off x="4943475" y="3784402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60" name="Text 54"/>
          <p:cNvSpPr/>
          <p:nvPr/>
        </p:nvSpPr>
        <p:spPr>
          <a:xfrm>
            <a:off x="4943475" y="396299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61" name="Text 55"/>
          <p:cNvSpPr/>
          <p:nvPr/>
        </p:nvSpPr>
        <p:spPr>
          <a:xfrm>
            <a:off x="4829175" y="4241602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62" name="Text 56"/>
          <p:cNvSpPr/>
          <p:nvPr/>
        </p:nvSpPr>
        <p:spPr>
          <a:xfrm>
            <a:off x="4943475" y="4213027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XGBoost · Ridge · Lasso · ElasticNet · DecisionTree · KNN</a:t>
            </a:r>
            <a:endParaRPr lang="en-US" sz="750" dirty="0"/>
          </a:p>
        </p:txBody>
      </p:sp>
      <p:sp>
        <p:nvSpPr>
          <p:cNvPr id="63" name="Text 57"/>
          <p:cNvSpPr/>
          <p:nvPr/>
        </p:nvSpPr>
        <p:spPr>
          <a:xfrm>
            <a:off x="4943475" y="4416623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n_estimators=500</a:t>
            </a:r>
            <a:endParaRPr lang="en-US" sz="750" dirty="0"/>
          </a:p>
        </p:txBody>
      </p:sp>
      <p:sp>
        <p:nvSpPr>
          <p:cNvPr id="64" name="Text 58"/>
          <p:cNvSpPr/>
          <p:nvPr/>
        </p:nvSpPr>
        <p:spPr>
          <a:xfrm>
            <a:off x="4943475" y="4595217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learning_rate=0.05</a:t>
            </a:r>
            <a:endParaRPr lang="en-US" sz="750" dirty="0"/>
          </a:p>
        </p:txBody>
      </p:sp>
      <p:sp>
        <p:nvSpPr>
          <p:cNvPr id="65" name="Shape 59"/>
          <p:cNvSpPr/>
          <p:nvPr/>
        </p:nvSpPr>
        <p:spPr>
          <a:xfrm>
            <a:off x="6700838" y="1416248"/>
            <a:ext cx="1871663" cy="3657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Shape 60"/>
          <p:cNvSpPr/>
          <p:nvPr/>
        </p:nvSpPr>
        <p:spPr>
          <a:xfrm>
            <a:off x="6700838" y="1416248"/>
            <a:ext cx="1871663" cy="28575"/>
          </a:xfrm>
          <a:prstGeom prst="rect">
            <a:avLst/>
          </a:prstGeom>
          <a:solidFill>
            <a:srgbClr val="8892B0"/>
          </a:solidFill>
          <a:ln/>
        </p:spPr>
        <p:txBody>
          <a:bodyPr/>
          <a:p/>
        </p:txBody>
      </p:sp>
      <p:sp>
        <p:nvSpPr>
          <p:cNvPr id="67" name="Text 61"/>
          <p:cNvSpPr/>
          <p:nvPr/>
        </p:nvSpPr>
        <p:spPr>
          <a:xfrm>
            <a:off x="4943475" y="4430911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68" name="Text 62"/>
          <p:cNvSpPr/>
          <p:nvPr/>
        </p:nvSpPr>
        <p:spPr>
          <a:xfrm>
            <a:off x="4943475" y="460950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pic>
        <p:nvPicPr>
          <p:cNvPr id="6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8081" y="1655564"/>
            <a:ext cx="257175" cy="257175"/>
          </a:xfrm>
          <a:prstGeom prst="rect">
            <a:avLst/>
          </a:prstGeom>
        </p:spPr>
      </p:pic>
      <p:sp>
        <p:nvSpPr>
          <p:cNvPr id="70" name="Text 63"/>
          <p:cNvSpPr/>
          <p:nvPr/>
        </p:nvSpPr>
        <p:spPr>
          <a:xfrm>
            <a:off x="6872288" y="2085975"/>
            <a:ext cx="1528763" cy="333970"/>
          </a:xfrm>
          <a:prstGeom prst="rect">
            <a:avLst/>
          </a:prstGeom>
          <a:noFill/>
          <a:ln/>
        </p:spPr>
        <p:txBody>
          <a:bodyPr wrap="square" lIns="0" tIns="0" rIns="0" bIns="136017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검증 &amp; 분석</a:t>
            </a:r>
            <a:endParaRPr lang="en-US" sz="1100" dirty="0"/>
          </a:p>
        </p:txBody>
      </p:sp>
      <p:sp>
        <p:nvSpPr>
          <p:cNvPr id="71" name="Text 64"/>
          <p:cNvSpPr/>
          <p:nvPr/>
        </p:nvSpPr>
        <p:spPr>
          <a:xfrm>
            <a:off x="6872288" y="2619970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72" name="Text 65"/>
          <p:cNvSpPr/>
          <p:nvPr/>
        </p:nvSpPr>
        <p:spPr>
          <a:xfrm>
            <a:off x="6986588" y="2591395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데이터 분리</a:t>
            </a:r>
            <a:endParaRPr lang="en-US" sz="750" dirty="0"/>
          </a:p>
        </p:txBody>
      </p:sp>
      <p:sp>
        <p:nvSpPr>
          <p:cNvPr id="73" name="Text 66"/>
          <p:cNvSpPr/>
          <p:nvPr/>
        </p:nvSpPr>
        <p:spPr>
          <a:xfrm>
            <a:off x="6986588" y="2794992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Train(2019-24) / Test(2025)</a:t>
            </a:r>
            <a:endParaRPr lang="en-US" sz="750" dirty="0"/>
          </a:p>
        </p:txBody>
      </p:sp>
      <p:sp>
        <p:nvSpPr>
          <p:cNvPr id="74" name="Text 67"/>
          <p:cNvSpPr/>
          <p:nvPr/>
        </p:nvSpPr>
        <p:spPr>
          <a:xfrm>
            <a:off x="6986588" y="2809280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75" name="Text 68"/>
          <p:cNvSpPr/>
          <p:nvPr/>
        </p:nvSpPr>
        <p:spPr>
          <a:xfrm>
            <a:off x="6872288" y="3087886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76" name="Text 69"/>
          <p:cNvSpPr/>
          <p:nvPr/>
        </p:nvSpPr>
        <p:spPr>
          <a:xfrm>
            <a:off x="6986588" y="3059311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평가 지표</a:t>
            </a:r>
            <a:endParaRPr lang="en-US" sz="750" dirty="0"/>
          </a:p>
        </p:txBody>
      </p:sp>
      <p:sp>
        <p:nvSpPr>
          <p:cNvPr id="77" name="Text 70"/>
          <p:cNvSpPr/>
          <p:nvPr/>
        </p:nvSpPr>
        <p:spPr>
          <a:xfrm>
            <a:off x="6986588" y="3262908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 · RMSE · 방향 정확도</a:t>
            </a:r>
            <a:endParaRPr lang="en-US" sz="750" dirty="0"/>
          </a:p>
        </p:txBody>
      </p:sp>
      <p:sp>
        <p:nvSpPr>
          <p:cNvPr id="78" name="Text 71"/>
          <p:cNvSpPr/>
          <p:nvPr/>
        </p:nvSpPr>
        <p:spPr>
          <a:xfrm>
            <a:off x="6986588" y="3277195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79" name="Text 72"/>
          <p:cNvSpPr/>
          <p:nvPr/>
        </p:nvSpPr>
        <p:spPr>
          <a:xfrm>
            <a:off x="6872288" y="3555802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80" name="Text 73"/>
          <p:cNvSpPr/>
          <p:nvPr/>
        </p:nvSpPr>
        <p:spPr>
          <a:xfrm>
            <a:off x="6986588" y="3527227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백테스팅 (Backtester)</a:t>
            </a:r>
            <a:endParaRPr lang="en-US" sz="750" dirty="0"/>
          </a:p>
        </p:txBody>
      </p:sp>
      <p:sp>
        <p:nvSpPr>
          <p:cNvPr id="81" name="Text 74"/>
          <p:cNvSpPr/>
          <p:nvPr/>
        </p:nvSpPr>
        <p:spPr>
          <a:xfrm>
            <a:off x="6986588" y="3730823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MDD · Sharpe · CAGR</a:t>
            </a:r>
            <a:endParaRPr lang="en-US" sz="750" dirty="0"/>
          </a:p>
        </p:txBody>
      </p:sp>
      <p:sp>
        <p:nvSpPr>
          <p:cNvPr id="82" name="Text 75"/>
          <p:cNvSpPr/>
          <p:nvPr/>
        </p:nvSpPr>
        <p:spPr>
          <a:xfrm>
            <a:off x="6986588" y="3745111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  <p:sp>
        <p:nvSpPr>
          <p:cNvPr id="83" name="Text 76"/>
          <p:cNvSpPr/>
          <p:nvPr/>
        </p:nvSpPr>
        <p:spPr>
          <a:xfrm>
            <a:off x="6872288" y="4023717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84" name="Text 77"/>
          <p:cNvSpPr/>
          <p:nvPr/>
        </p:nvSpPr>
        <p:spPr>
          <a:xfrm>
            <a:off x="6986588" y="3995142"/>
            <a:ext cx="1414463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결과 활용</a:t>
            </a:r>
            <a:endParaRPr lang="en-US" sz="750" dirty="0"/>
          </a:p>
        </p:txBody>
      </p:sp>
      <p:sp>
        <p:nvSpPr>
          <p:cNvPr id="85" name="Text 78"/>
          <p:cNvSpPr/>
          <p:nvPr/>
        </p:nvSpPr>
        <p:spPr>
          <a:xfrm>
            <a:off x="6986588" y="4198739"/>
            <a:ext cx="1414463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 종목 5일 후 등락률 순위표</a:t>
            </a:r>
            <a:endParaRPr lang="en-US" sz="750" dirty="0"/>
          </a:p>
        </p:txBody>
      </p:sp>
      <p:sp>
        <p:nvSpPr>
          <p:cNvPr id="86" name="Text 79"/>
          <p:cNvSpPr/>
          <p:nvPr/>
        </p:nvSpPr>
        <p:spPr>
          <a:xfrm>
            <a:off x="6886575" y="4793456"/>
            <a:ext cx="16859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4 / 17</a:t>
            </a:r>
            <a:endParaRPr lang="en-US" sz="750" dirty="0"/>
          </a:p>
        </p:txBody>
      </p:sp>
      <p:sp>
        <p:nvSpPr>
          <p:cNvPr id="87" name="Text 80"/>
          <p:cNvSpPr/>
          <p:nvPr/>
        </p:nvSpPr>
        <p:spPr>
          <a:xfrm>
            <a:off x="6986588" y="4213027"/>
            <a:ext cx="857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00" dirty="0">
                <a:solidFill>
                  <a:srgbClr val="DEE2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 학습 종목 선정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Stratified Sampling by Market Cap Tier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286768"/>
            <a:ext cx="157163" cy="1571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85813" y="1259086"/>
            <a:ext cx="1298377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Why 층화 샘플링?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71500" y="1585913"/>
            <a:ext cx="4629150" cy="14073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571500" y="1585913"/>
            <a:ext cx="1620180" cy="346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" name="Shape 5"/>
          <p:cNvSpPr/>
          <p:nvPr/>
        </p:nvSpPr>
        <p:spPr>
          <a:xfrm>
            <a:off x="571500" y="1925241"/>
            <a:ext cx="1620180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0" name="Text 6"/>
          <p:cNvSpPr/>
          <p:nvPr/>
        </p:nvSpPr>
        <p:spPr>
          <a:xfrm>
            <a:off x="571500" y="1585913"/>
            <a:ext cx="1620180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방식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2191680" y="1585913"/>
            <a:ext cx="3008970" cy="346472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" name="Shape 8"/>
          <p:cNvSpPr/>
          <p:nvPr/>
        </p:nvSpPr>
        <p:spPr>
          <a:xfrm>
            <a:off x="2191680" y="1925241"/>
            <a:ext cx="3008970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3" name="Text 9"/>
          <p:cNvSpPr/>
          <p:nvPr/>
        </p:nvSpPr>
        <p:spPr>
          <a:xfrm>
            <a:off x="2191680" y="1585913"/>
            <a:ext cx="3008970" cy="346472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문제점 및 특징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71500" y="1928813"/>
            <a:ext cx="1620180" cy="354520"/>
          </a:xfrm>
          <a:prstGeom prst="rect">
            <a:avLst/>
          </a:prstGeom>
          <a:noFill/>
          <a:ln/>
        </p:spPr>
        <p:txBody>
          <a:bodyPr wrap="square" lIns="136017" tIns="102108" rIns="136017" bIns="102108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343a40"/>
                </a:solidFill>
                <a:latin typeface="Inter Medium"/>
                <a:ea typeface="Inter Medium"/>
                <a:cs typeface="Inter Medium"/>
              </a:rPr>
              <a:t>대형주 20개</a:t>
            </a:r>
            <a:endParaRPr lang="en-US" sz="850"/>
          </a:p>
        </p:txBody>
      </p:sp>
      <p:sp>
        <p:nvSpPr>
          <p:cNvPr id="15" name="Text 11"/>
          <p:cNvSpPr/>
          <p:nvPr/>
        </p:nvSpPr>
        <p:spPr>
          <a:xfrm>
            <a:off x="2191680" y="1928813"/>
            <a:ext cx="3008970" cy="354520"/>
          </a:xfrm>
          <a:prstGeom prst="rect">
            <a:avLst/>
          </a:prstGeom>
          <a:noFill/>
          <a:ln/>
        </p:spPr>
        <p:txBody>
          <a:bodyPr wrap="square" lIns="136017" tIns="102108" rIns="136017" bIns="102108" anchor="ctr">
            <a:spAutoFit/>
          </a:bodyPr>
          <a:lstStyle/>
          <a:p>
            <a:pPr marL="0" indent="0" algn="l">
              <a:lnSpc>
                <a:spcPct val="120000"/>
              </a:lnSpc>
              <a:buNone/>
              <a:defRPr/>
            </a:pPr>
            <a:r>
              <a:rPr lang="en-US" sz="850">
                <a:solidFill>
                  <a:srgbClr val="495057"/>
                </a:solidFill>
                <a:latin typeface="Inter"/>
                <a:ea typeface="Inter"/>
                <a:cs typeface="Inter"/>
              </a:rPr>
              <a:t>소형주 패턴 전혀 학습 못함 → 적용 범위 극히 제한적</a:t>
            </a:r>
            <a:endParaRPr lang="en-US" sz="850"/>
          </a:p>
        </p:txBody>
      </p:sp>
      <p:sp>
        <p:nvSpPr>
          <p:cNvPr id="16" name="Text 12"/>
          <p:cNvSpPr/>
          <p:nvPr/>
        </p:nvSpPr>
        <p:spPr>
          <a:xfrm>
            <a:off x="571500" y="2275284"/>
            <a:ext cx="1620180" cy="35004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전 종목 2,731개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2191680" y="2275284"/>
            <a:ext cx="3008970" cy="35004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메모리 ~8 GB 필요 → 일반 PC 실행 불가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571500" y="2625328"/>
            <a:ext cx="4629150" cy="353616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571500" y="2625328"/>
            <a:ext cx="1620180" cy="35361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층화 샘플링 200개 ★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2191680" y="2625328"/>
            <a:ext cx="3008970" cy="35361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규모별 균등 대표, 메모리 ~0.6 GB → 실행 가능</a:t>
            </a:r>
            <a:endParaRPr lang="en-US" sz="8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1286768"/>
            <a:ext cx="157163" cy="15716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700713" y="1259086"/>
            <a:ext cx="667941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선택 근거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486400" y="1585913"/>
            <a:ext cx="3086100" cy="13715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19"/>
          <p:cNvSpPr/>
          <p:nvPr/>
        </p:nvSpPr>
        <p:spPr>
          <a:xfrm>
            <a:off x="5600700" y="1700213"/>
            <a:ext cx="2857500" cy="182863"/>
          </a:xfrm>
          <a:prstGeom prst="rect">
            <a:avLst/>
          </a:prstGeom>
          <a:noFill/>
          <a:ln/>
        </p:spPr>
        <p:txBody>
          <a:bodyPr wrap="non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통계적 대표성: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전체 시장 규모 분포를 고르게 반영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5600700" y="1997376"/>
            <a:ext cx="2857500" cy="3657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패턴 다양성: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대형주(외국인·지수 연동)와 소형주(수급·테마)는 주가 패턴이 근본적으로 다름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5600700" y="2477402"/>
            <a:ext cx="2857500" cy="3657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재현 가능성: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random_state=42 고정으로 일관된 결과 도출</a:t>
            </a:r>
            <a:endParaRPr lang="en-US" sz="8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1714500"/>
            <a:ext cx="100013" cy="159981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2011663"/>
            <a:ext cx="100013" cy="159981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0700" y="2491690"/>
            <a:ext cx="100013" cy="159981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3213795"/>
            <a:ext cx="157163" cy="15716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85813" y="3186113"/>
            <a:ext cx="1903809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4구간 샘플링 (총 200종목)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571500" y="3598664"/>
            <a:ext cx="1893094" cy="11555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4"/>
          <p:cNvSpPr/>
          <p:nvPr/>
        </p:nvSpPr>
        <p:spPr>
          <a:xfrm>
            <a:off x="571500" y="3598664"/>
            <a:ext cx="1893094" cy="28575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34" name="Text 25"/>
          <p:cNvSpPr/>
          <p:nvPr/>
        </p:nvSpPr>
        <p:spPr>
          <a:xfrm>
            <a:off x="685800" y="3712964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대형주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1900238" y="3741539"/>
            <a:ext cx="4500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68E9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상위 25%</a:t>
            </a:r>
            <a:endParaRPr lang="en-US" sz="750" dirty="0"/>
          </a:p>
        </p:txBody>
      </p:sp>
      <p:sp>
        <p:nvSpPr>
          <p:cNvPr id="36" name="Text 27"/>
          <p:cNvSpPr/>
          <p:nvPr/>
        </p:nvSpPr>
        <p:spPr>
          <a:xfrm>
            <a:off x="685800" y="3934420"/>
            <a:ext cx="1664494" cy="248245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50종목</a:t>
            </a:r>
            <a:endParaRPr lang="en-US" sz="800" dirty="0"/>
          </a:p>
        </p:txBody>
      </p:sp>
      <p:sp>
        <p:nvSpPr>
          <p:cNvPr id="37" name="Text 28"/>
          <p:cNvSpPr/>
          <p:nvPr/>
        </p:nvSpPr>
        <p:spPr>
          <a:xfrm>
            <a:off x="685800" y="4268391"/>
            <a:ext cx="166449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삼성전자, SK하이닉스, LG화학, 현대모비스</a:t>
            </a:r>
            <a:endParaRPr lang="en-US" sz="800" dirty="0"/>
          </a:p>
        </p:txBody>
      </p:sp>
      <p:sp>
        <p:nvSpPr>
          <p:cNvPr id="38" name="Shape 29"/>
          <p:cNvSpPr/>
          <p:nvPr/>
        </p:nvSpPr>
        <p:spPr>
          <a:xfrm>
            <a:off x="2607469" y="3598664"/>
            <a:ext cx="1893094" cy="1126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0"/>
          <p:cNvSpPr/>
          <p:nvPr/>
        </p:nvSpPr>
        <p:spPr>
          <a:xfrm>
            <a:off x="2607469" y="3598664"/>
            <a:ext cx="1893094" cy="28575"/>
          </a:xfrm>
          <a:prstGeom prst="rect">
            <a:avLst/>
          </a:prstGeom>
          <a:solidFill>
            <a:srgbClr val="4D7BDB"/>
          </a:solidFill>
          <a:ln/>
        </p:spPr>
      </p:sp>
      <p:sp>
        <p:nvSpPr>
          <p:cNvPr id="40" name="Text 31"/>
          <p:cNvSpPr/>
          <p:nvPr/>
        </p:nvSpPr>
        <p:spPr>
          <a:xfrm>
            <a:off x="2721769" y="3712964"/>
            <a:ext cx="571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중대형주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3980855" y="3748683"/>
            <a:ext cx="40540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68E9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50~75%</a:t>
            </a:r>
            <a:endParaRPr lang="en-US" sz="750" dirty="0"/>
          </a:p>
        </p:txBody>
      </p:sp>
      <p:sp>
        <p:nvSpPr>
          <p:cNvPr id="42" name="Text 33"/>
          <p:cNvSpPr/>
          <p:nvPr/>
        </p:nvSpPr>
        <p:spPr>
          <a:xfrm>
            <a:off x="2721769" y="3934420"/>
            <a:ext cx="1664494" cy="248245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50종목</a:t>
            </a:r>
            <a:endParaRPr lang="en-US" sz="800" dirty="0"/>
          </a:p>
        </p:txBody>
      </p:sp>
      <p:sp>
        <p:nvSpPr>
          <p:cNvPr id="43" name="Text 34"/>
          <p:cNvSpPr/>
          <p:nvPr/>
        </p:nvSpPr>
        <p:spPr>
          <a:xfrm>
            <a:off x="2721769" y="4268391"/>
            <a:ext cx="1664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현대차, KB금융, 포스코홀딩스</a:t>
            </a:r>
            <a:endParaRPr lang="en-US" sz="800" dirty="0"/>
          </a:p>
        </p:txBody>
      </p:sp>
      <p:sp>
        <p:nvSpPr>
          <p:cNvPr id="44" name="Shape 35"/>
          <p:cNvSpPr/>
          <p:nvPr/>
        </p:nvSpPr>
        <p:spPr>
          <a:xfrm>
            <a:off x="4643438" y="3598664"/>
            <a:ext cx="1893094" cy="1126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36"/>
          <p:cNvSpPr/>
          <p:nvPr/>
        </p:nvSpPr>
        <p:spPr>
          <a:xfrm>
            <a:off x="4643438" y="3598664"/>
            <a:ext cx="1893094" cy="28575"/>
          </a:xfrm>
          <a:prstGeom prst="rect">
            <a:avLst/>
          </a:prstGeom>
          <a:solidFill>
            <a:srgbClr val="668FEA"/>
          </a:solidFill>
          <a:ln/>
        </p:spPr>
      </p:sp>
      <p:sp>
        <p:nvSpPr>
          <p:cNvPr id="46" name="Text 37"/>
          <p:cNvSpPr/>
          <p:nvPr/>
        </p:nvSpPr>
        <p:spPr>
          <a:xfrm>
            <a:off x="4757738" y="3712964"/>
            <a:ext cx="57150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중소형주</a:t>
            </a:r>
            <a:endParaRPr lang="en-US" sz="1000" dirty="0"/>
          </a:p>
        </p:txBody>
      </p:sp>
      <p:sp>
        <p:nvSpPr>
          <p:cNvPr id="47" name="Text 38"/>
          <p:cNvSpPr/>
          <p:nvPr/>
        </p:nvSpPr>
        <p:spPr>
          <a:xfrm>
            <a:off x="6007894" y="3748683"/>
            <a:ext cx="4143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68E9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25~50%</a:t>
            </a:r>
            <a:endParaRPr lang="en-US" sz="750" dirty="0"/>
          </a:p>
        </p:txBody>
      </p:sp>
      <p:sp>
        <p:nvSpPr>
          <p:cNvPr id="48" name="Text 39"/>
          <p:cNvSpPr/>
          <p:nvPr/>
        </p:nvSpPr>
        <p:spPr>
          <a:xfrm>
            <a:off x="4757738" y="3934420"/>
            <a:ext cx="1664494" cy="248245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50종목</a:t>
            </a:r>
            <a:endParaRPr lang="en-US" sz="800" dirty="0"/>
          </a:p>
        </p:txBody>
      </p:sp>
      <p:sp>
        <p:nvSpPr>
          <p:cNvPr id="49" name="Text 40"/>
          <p:cNvSpPr/>
          <p:nvPr/>
        </p:nvSpPr>
        <p:spPr>
          <a:xfrm>
            <a:off x="4757738" y="4268391"/>
            <a:ext cx="1664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대원제약, 율촌화학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6679406" y="3598664"/>
            <a:ext cx="1893094" cy="11269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42"/>
          <p:cNvSpPr/>
          <p:nvPr/>
        </p:nvSpPr>
        <p:spPr>
          <a:xfrm>
            <a:off x="6679406" y="3598664"/>
            <a:ext cx="1893094" cy="28575"/>
          </a:xfrm>
          <a:prstGeom prst="rect">
            <a:avLst/>
          </a:prstGeom>
          <a:solidFill>
            <a:srgbClr val="80A4F9"/>
          </a:solidFill>
          <a:ln/>
        </p:spPr>
      </p:sp>
      <p:sp>
        <p:nvSpPr>
          <p:cNvPr id="52" name="Text 43"/>
          <p:cNvSpPr/>
          <p:nvPr/>
        </p:nvSpPr>
        <p:spPr>
          <a:xfrm>
            <a:off x="6793706" y="3712964"/>
            <a:ext cx="42862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소형주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8008144" y="3741539"/>
            <a:ext cx="4500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68E9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하위 25%</a:t>
            </a:r>
            <a:endParaRPr lang="en-US" sz="750" dirty="0"/>
          </a:p>
        </p:txBody>
      </p:sp>
      <p:sp>
        <p:nvSpPr>
          <p:cNvPr id="54" name="Text 45"/>
          <p:cNvSpPr/>
          <p:nvPr/>
        </p:nvSpPr>
        <p:spPr>
          <a:xfrm>
            <a:off x="6793706" y="3934420"/>
            <a:ext cx="1664494" cy="248245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50종목</a:t>
            </a:r>
            <a:endParaRPr lang="en-US" sz="800" dirty="0"/>
          </a:p>
        </p:txBody>
      </p:sp>
      <p:sp>
        <p:nvSpPr>
          <p:cNvPr id="55" name="Text 46"/>
          <p:cNvSpPr/>
          <p:nvPr/>
        </p:nvSpPr>
        <p:spPr>
          <a:xfrm>
            <a:off x="6793706" y="4268391"/>
            <a:ext cx="16644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KR모터스, 영흥</a:t>
            </a:r>
            <a:endParaRPr lang="en-US" sz="800" dirty="0"/>
          </a:p>
        </p:txBody>
      </p:sp>
      <p:sp>
        <p:nvSpPr>
          <p:cNvPr id="56" name="Text 47"/>
          <p:cNvSpPr/>
          <p:nvPr/>
        </p:nvSpPr>
        <p:spPr>
          <a:xfrm>
            <a:off x="6891933" y="4793456"/>
            <a:ext cx="168056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5 / 17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 입력 설계 근거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60 Days × 11 Features?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375172"/>
            <a:ext cx="150019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1344811"/>
            <a:ext cx="1285875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시퀀스 길이 비교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571500" y="1719858"/>
            <a:ext cx="3857625" cy="14662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585788" y="1719858"/>
            <a:ext cx="1152990" cy="35897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" name="Shape 5"/>
          <p:cNvSpPr/>
          <p:nvPr/>
        </p:nvSpPr>
        <p:spPr>
          <a:xfrm>
            <a:off x="585788" y="2071688"/>
            <a:ext cx="1152990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0" name="Text 6"/>
          <p:cNvSpPr/>
          <p:nvPr/>
        </p:nvSpPr>
        <p:spPr>
          <a:xfrm>
            <a:off x="585788" y="1719858"/>
            <a:ext cx="1152990" cy="358973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기간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738778" y="1719858"/>
            <a:ext cx="2690347" cy="35897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" name="Shape 8"/>
          <p:cNvSpPr/>
          <p:nvPr/>
        </p:nvSpPr>
        <p:spPr>
          <a:xfrm>
            <a:off x="1738778" y="2071688"/>
            <a:ext cx="2690347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3" name="Text 9"/>
          <p:cNvSpPr/>
          <p:nvPr/>
        </p:nvSpPr>
        <p:spPr>
          <a:xfrm>
            <a:off x="1738778" y="1719858"/>
            <a:ext cx="2690347" cy="35897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평가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85788" y="2075259"/>
            <a:ext cx="1152990" cy="364331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20일 (1개월)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738778" y="2075259"/>
            <a:ext cx="2690347" cy="364331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단기 노이즈 위주, 추세 파악 부족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85788" y="2439591"/>
            <a:ext cx="3843338" cy="367903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585788" y="2439591"/>
            <a:ext cx="28575" cy="367903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18" name="Text 14"/>
          <p:cNvSpPr/>
          <p:nvPr/>
        </p:nvSpPr>
        <p:spPr>
          <a:xfrm>
            <a:off x="571500" y="2439591"/>
            <a:ext cx="1157288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60일 (3개월) ★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728788" y="2439591"/>
            <a:ext cx="2700338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단기·중기 패턴 동시 포착 (선택)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571500" y="2807494"/>
            <a:ext cx="1157288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120일 (6개월)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1728788" y="2807494"/>
            <a:ext cx="2700338" cy="36790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오래된 정보 비중 증가, 샘플 수 감소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571500" y="3350419"/>
            <a:ext cx="3857625" cy="14233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9"/>
          <p:cNvSpPr/>
          <p:nvPr/>
        </p:nvSpPr>
        <p:spPr>
          <a:xfrm>
            <a:off x="571500" y="3350419"/>
            <a:ext cx="3857625" cy="21431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24" name="Text 20"/>
          <p:cNvSpPr/>
          <p:nvPr/>
        </p:nvSpPr>
        <p:spPr>
          <a:xfrm>
            <a:off x="714375" y="3493294"/>
            <a:ext cx="3571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선택 근거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714375" y="3750469"/>
            <a:ext cx="357187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MA_60 형성 전 과정을 입력에 포함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중기 추세 직접 학습</a:t>
            </a:r>
            <a:endParaRPr lang="en-US" sz="750" dirty="0"/>
          </a:p>
        </p:txBody>
      </p:sp>
      <p:sp>
        <p:nvSpPr>
          <p:cNvPr id="26" name="Text 22"/>
          <p:cNvSpPr/>
          <p:nvPr/>
        </p:nvSpPr>
        <p:spPr>
          <a:xfrm>
            <a:off x="714375" y="3993356"/>
            <a:ext cx="357187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RSI·MACD 계산 윈도우(14~26일)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가 충분히 수렴하는 구간 확보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14375" y="4236244"/>
            <a:ext cx="357187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샘플 수 확보: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31,894개 시퀀스 생성 (데이터 양과 질의 균형)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714375" y="3764756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29" name="Text 25"/>
          <p:cNvSpPr/>
          <p:nvPr/>
        </p:nvSpPr>
        <p:spPr>
          <a:xfrm>
            <a:off x="714375" y="4007644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30" name="Text 26"/>
          <p:cNvSpPr/>
          <p:nvPr/>
        </p:nvSpPr>
        <p:spPr>
          <a:xfrm>
            <a:off x="714375" y="4250531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5" y="1375172"/>
            <a:ext cx="171450" cy="17145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957763" y="1344811"/>
            <a:ext cx="1089422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11개 특성 구성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714875" y="1719858"/>
            <a:ext cx="3857625" cy="30557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29"/>
          <p:cNvSpPr/>
          <p:nvPr/>
        </p:nvSpPr>
        <p:spPr>
          <a:xfrm>
            <a:off x="4714875" y="1719858"/>
            <a:ext cx="771525" cy="35897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5" name="Shape 30"/>
          <p:cNvSpPr/>
          <p:nvPr/>
        </p:nvSpPr>
        <p:spPr>
          <a:xfrm>
            <a:off x="4714875" y="2071688"/>
            <a:ext cx="771525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6" name="Text 31"/>
          <p:cNvSpPr/>
          <p:nvPr/>
        </p:nvSpPr>
        <p:spPr>
          <a:xfrm>
            <a:off x="4714875" y="1719858"/>
            <a:ext cx="771525" cy="358973"/>
          </a:xfrm>
          <a:prstGeom prst="rect">
            <a:avLst/>
          </a:prstGeom>
          <a:noFill/>
          <a:ln/>
        </p:spPr>
        <p:txBody>
          <a:bodyPr wrap="none" lIns="136017" tIns="119126" rIns="136017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카테고리</a:t>
            </a:r>
            <a:endParaRPr lang="en-US" sz="800" dirty="0"/>
          </a:p>
        </p:txBody>
      </p:sp>
      <p:sp>
        <p:nvSpPr>
          <p:cNvPr id="37" name="Shape 32"/>
          <p:cNvSpPr/>
          <p:nvPr/>
        </p:nvSpPr>
        <p:spPr>
          <a:xfrm>
            <a:off x="5486400" y="1719858"/>
            <a:ext cx="1543050" cy="35897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8" name="Shape 33"/>
          <p:cNvSpPr/>
          <p:nvPr/>
        </p:nvSpPr>
        <p:spPr>
          <a:xfrm>
            <a:off x="5486400" y="2071688"/>
            <a:ext cx="1543050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9" name="Text 34"/>
          <p:cNvSpPr/>
          <p:nvPr/>
        </p:nvSpPr>
        <p:spPr>
          <a:xfrm>
            <a:off x="5486400" y="1719858"/>
            <a:ext cx="1543050" cy="35897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특성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7029450" y="1719858"/>
            <a:ext cx="1543050" cy="35897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1" name="Shape 36"/>
          <p:cNvSpPr/>
          <p:nvPr/>
        </p:nvSpPr>
        <p:spPr>
          <a:xfrm>
            <a:off x="7029450" y="2071688"/>
            <a:ext cx="1543050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42" name="Text 37"/>
          <p:cNvSpPr/>
          <p:nvPr/>
        </p:nvSpPr>
        <p:spPr>
          <a:xfrm>
            <a:off x="7029450" y="1719858"/>
            <a:ext cx="1543050" cy="35897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역할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829175" y="2214563"/>
            <a:ext cx="2143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가격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5600700" y="2175272"/>
            <a:ext cx="385763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5" name="Text 40"/>
          <p:cNvSpPr/>
          <p:nvPr/>
        </p:nvSpPr>
        <p:spPr>
          <a:xfrm>
            <a:off x="5600700" y="2175272"/>
            <a:ext cx="385763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Close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7029450" y="2075259"/>
            <a:ext cx="1543050" cy="41076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절대 가격 수준 (정규화)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4829175" y="2732484"/>
            <a:ext cx="321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거래량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5600700" y="2589609"/>
            <a:ext cx="475059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49" name="Text 44"/>
          <p:cNvSpPr/>
          <p:nvPr/>
        </p:nvSpPr>
        <p:spPr>
          <a:xfrm>
            <a:off x="5600700" y="2589609"/>
            <a:ext cx="475059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Volume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5600700" y="2796778"/>
            <a:ext cx="766167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1" name="Text 46"/>
          <p:cNvSpPr/>
          <p:nvPr/>
        </p:nvSpPr>
        <p:spPr>
          <a:xfrm>
            <a:off x="5600700" y="2796778"/>
            <a:ext cx="766167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Volume_Ratio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7029450" y="2486025"/>
            <a:ext cx="1543050" cy="62150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매매 참여도 / 이상 거래 감지</a:t>
            </a:r>
            <a:endParaRPr lang="en-US" sz="800" dirty="0"/>
          </a:p>
        </p:txBody>
      </p:sp>
      <p:sp>
        <p:nvSpPr>
          <p:cNvPr id="53" name="Text 48"/>
          <p:cNvSpPr/>
          <p:nvPr/>
        </p:nvSpPr>
        <p:spPr>
          <a:xfrm>
            <a:off x="4829175" y="3353991"/>
            <a:ext cx="321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모멘텀</a:t>
            </a:r>
            <a:endParaRPr lang="en-US" sz="750" dirty="0"/>
          </a:p>
        </p:txBody>
      </p:sp>
      <p:sp>
        <p:nvSpPr>
          <p:cNvPr id="54" name="Shape 49"/>
          <p:cNvSpPr/>
          <p:nvPr/>
        </p:nvSpPr>
        <p:spPr>
          <a:xfrm>
            <a:off x="5600700" y="3211116"/>
            <a:ext cx="269677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5" name="Text 50"/>
          <p:cNvSpPr/>
          <p:nvPr/>
        </p:nvSpPr>
        <p:spPr>
          <a:xfrm>
            <a:off x="5600700" y="3211116"/>
            <a:ext cx="269677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RSI</a:t>
            </a:r>
            <a:endParaRPr lang="en-US" sz="750" dirty="0"/>
          </a:p>
        </p:txBody>
      </p:sp>
      <p:sp>
        <p:nvSpPr>
          <p:cNvPr id="56" name="Shape 51"/>
          <p:cNvSpPr/>
          <p:nvPr/>
        </p:nvSpPr>
        <p:spPr>
          <a:xfrm>
            <a:off x="5929313" y="3211116"/>
            <a:ext cx="417909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7" name="Text 52"/>
          <p:cNvSpPr/>
          <p:nvPr/>
        </p:nvSpPr>
        <p:spPr>
          <a:xfrm>
            <a:off x="5929313" y="3211116"/>
            <a:ext cx="417909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MACD</a:t>
            </a:r>
            <a:endParaRPr lang="en-US" sz="750" dirty="0"/>
          </a:p>
        </p:txBody>
      </p:sp>
      <p:sp>
        <p:nvSpPr>
          <p:cNvPr id="58" name="Shape 53"/>
          <p:cNvSpPr/>
          <p:nvPr/>
        </p:nvSpPr>
        <p:spPr>
          <a:xfrm>
            <a:off x="5600700" y="3418284"/>
            <a:ext cx="755452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59" name="Text 54"/>
          <p:cNvSpPr/>
          <p:nvPr/>
        </p:nvSpPr>
        <p:spPr>
          <a:xfrm>
            <a:off x="5600700" y="3418284"/>
            <a:ext cx="755452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MACD_Signal</a:t>
            </a:r>
            <a:endParaRPr lang="en-US" sz="750" dirty="0"/>
          </a:p>
        </p:txBody>
      </p:sp>
      <p:sp>
        <p:nvSpPr>
          <p:cNvPr id="60" name="Text 55"/>
          <p:cNvSpPr/>
          <p:nvPr/>
        </p:nvSpPr>
        <p:spPr>
          <a:xfrm>
            <a:off x="7029450" y="3107531"/>
            <a:ext cx="1543050" cy="62150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추세 강도·방향·전환 타이밍</a:t>
            </a:r>
            <a:endParaRPr lang="en-US" sz="800" dirty="0"/>
          </a:p>
        </p:txBody>
      </p:sp>
      <p:sp>
        <p:nvSpPr>
          <p:cNvPr id="61" name="Text 56"/>
          <p:cNvSpPr/>
          <p:nvPr/>
        </p:nvSpPr>
        <p:spPr>
          <a:xfrm>
            <a:off x="4829175" y="3975497"/>
            <a:ext cx="32146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변동성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5600700" y="3832622"/>
            <a:ext cx="451842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3" name="Text 58"/>
          <p:cNvSpPr/>
          <p:nvPr/>
        </p:nvSpPr>
        <p:spPr>
          <a:xfrm>
            <a:off x="5600700" y="3832622"/>
            <a:ext cx="451842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BB_Pct</a:t>
            </a:r>
            <a:endParaRPr lang="en-US" sz="750" dirty="0"/>
          </a:p>
        </p:txBody>
      </p:sp>
      <p:sp>
        <p:nvSpPr>
          <p:cNvPr id="64" name="Shape 59"/>
          <p:cNvSpPr/>
          <p:nvPr/>
        </p:nvSpPr>
        <p:spPr>
          <a:xfrm>
            <a:off x="6111478" y="3832622"/>
            <a:ext cx="576858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5" name="Text 60"/>
          <p:cNvSpPr/>
          <p:nvPr/>
        </p:nvSpPr>
        <p:spPr>
          <a:xfrm>
            <a:off x="6111478" y="3832622"/>
            <a:ext cx="576858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BB_Width</a:t>
            </a:r>
            <a:endParaRPr lang="en-US" sz="750" dirty="0"/>
          </a:p>
        </p:txBody>
      </p:sp>
      <p:sp>
        <p:nvSpPr>
          <p:cNvPr id="66" name="Shape 61"/>
          <p:cNvSpPr/>
          <p:nvPr/>
        </p:nvSpPr>
        <p:spPr>
          <a:xfrm>
            <a:off x="5600700" y="4039791"/>
            <a:ext cx="307181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7" name="Text 62"/>
          <p:cNvSpPr/>
          <p:nvPr/>
        </p:nvSpPr>
        <p:spPr>
          <a:xfrm>
            <a:off x="5600700" y="4039791"/>
            <a:ext cx="307181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ATR</a:t>
            </a:r>
            <a:endParaRPr lang="en-US" sz="750" dirty="0"/>
          </a:p>
        </p:txBody>
      </p:sp>
      <p:sp>
        <p:nvSpPr>
          <p:cNvPr id="68" name="Text 63"/>
          <p:cNvSpPr/>
          <p:nvPr/>
        </p:nvSpPr>
        <p:spPr>
          <a:xfrm>
            <a:off x="7029450" y="3729038"/>
            <a:ext cx="1543050" cy="621506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밴드 위치 / 시장 변동성</a:t>
            </a:r>
            <a:endParaRPr lang="en-US" sz="800" dirty="0"/>
          </a:p>
        </p:txBody>
      </p:sp>
      <p:sp>
        <p:nvSpPr>
          <p:cNvPr id="69" name="Text 64"/>
          <p:cNvSpPr/>
          <p:nvPr/>
        </p:nvSpPr>
        <p:spPr>
          <a:xfrm>
            <a:off x="4829175" y="4493419"/>
            <a:ext cx="21431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추세</a:t>
            </a:r>
            <a:endParaRPr lang="en-US" sz="750" dirty="0"/>
          </a:p>
        </p:txBody>
      </p:sp>
      <p:sp>
        <p:nvSpPr>
          <p:cNvPr id="70" name="Shape 65"/>
          <p:cNvSpPr/>
          <p:nvPr/>
        </p:nvSpPr>
        <p:spPr>
          <a:xfrm>
            <a:off x="5600700" y="4454128"/>
            <a:ext cx="450056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1" name="Text 66"/>
          <p:cNvSpPr/>
          <p:nvPr/>
        </p:nvSpPr>
        <p:spPr>
          <a:xfrm>
            <a:off x="5600700" y="4454128"/>
            <a:ext cx="450056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MA_20</a:t>
            </a:r>
            <a:endParaRPr lang="en-US" sz="750" dirty="0"/>
          </a:p>
        </p:txBody>
      </p:sp>
      <p:sp>
        <p:nvSpPr>
          <p:cNvPr id="72" name="Shape 67"/>
          <p:cNvSpPr/>
          <p:nvPr/>
        </p:nvSpPr>
        <p:spPr>
          <a:xfrm>
            <a:off x="6109692" y="4454128"/>
            <a:ext cx="444698" cy="178594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3" name="Text 68"/>
          <p:cNvSpPr/>
          <p:nvPr/>
        </p:nvSpPr>
        <p:spPr>
          <a:xfrm>
            <a:off x="6109692" y="4454128"/>
            <a:ext cx="444698" cy="178594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MA_60</a:t>
            </a:r>
            <a:endParaRPr lang="en-US" sz="750" dirty="0"/>
          </a:p>
        </p:txBody>
      </p:sp>
      <p:sp>
        <p:nvSpPr>
          <p:cNvPr id="74" name="Text 69"/>
          <p:cNvSpPr/>
          <p:nvPr/>
        </p:nvSpPr>
        <p:spPr>
          <a:xfrm>
            <a:off x="7029450" y="4350544"/>
            <a:ext cx="1543050" cy="414338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단기·중기 추세 방향</a:t>
            </a:r>
            <a:endParaRPr lang="en-US" sz="800" dirty="0"/>
          </a:p>
        </p:txBody>
      </p:sp>
      <p:sp>
        <p:nvSpPr>
          <p:cNvPr id="75" name="Shape 70"/>
          <p:cNvSpPr/>
          <p:nvPr/>
        </p:nvSpPr>
        <p:spPr>
          <a:xfrm>
            <a:off x="4714875" y="4939903"/>
            <a:ext cx="3857625" cy="12215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6" name="Shape 71"/>
          <p:cNvSpPr/>
          <p:nvPr/>
        </p:nvSpPr>
        <p:spPr>
          <a:xfrm>
            <a:off x="4714875" y="4939903"/>
            <a:ext cx="3857625" cy="21431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77" name="Text 72"/>
          <p:cNvSpPr/>
          <p:nvPr/>
        </p:nvSpPr>
        <p:spPr>
          <a:xfrm>
            <a:off x="4857750" y="5082778"/>
            <a:ext cx="35718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특성 선별 원칙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4857750" y="5339953"/>
            <a:ext cx="3571875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정보 중복 최소화 + 서로 다른 시장 국면 포착</a:t>
            </a:r>
            <a:endParaRPr lang="en-US" sz="750" dirty="0"/>
          </a:p>
        </p:txBody>
      </p:sp>
      <p:sp>
        <p:nvSpPr>
          <p:cNvPr id="79" name="Text 74"/>
          <p:cNvSpPr/>
          <p:nvPr/>
        </p:nvSpPr>
        <p:spPr>
          <a:xfrm>
            <a:off x="4857750" y="5582841"/>
            <a:ext cx="3571875" cy="342900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예: RSI(절대 과매수/과매도) ≠ MACD(추세 전환 타이밍) → 상호 보완적 역할 수행</a:t>
            </a:r>
            <a:endParaRPr lang="en-US" sz="800" dirty="0"/>
          </a:p>
        </p:txBody>
      </p:sp>
      <p:sp>
        <p:nvSpPr>
          <p:cNvPr id="80" name="Text 75"/>
          <p:cNvSpPr/>
          <p:nvPr/>
        </p:nvSpPr>
        <p:spPr>
          <a:xfrm>
            <a:off x="6888361" y="4793456"/>
            <a:ext cx="168413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6 / 17</a:t>
            </a:r>
            <a:endParaRPr lang="en-US" sz="750" dirty="0"/>
          </a:p>
        </p:txBody>
      </p:sp>
      <p:sp>
        <p:nvSpPr>
          <p:cNvPr id="81" name="Text 76"/>
          <p:cNvSpPr/>
          <p:nvPr/>
        </p:nvSpPr>
        <p:spPr>
          <a:xfrm>
            <a:off x="4857750" y="5354241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82" name="Text 77"/>
          <p:cNvSpPr/>
          <p:nvPr/>
        </p:nvSpPr>
        <p:spPr>
          <a:xfrm>
            <a:off x="4857750" y="5597128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LSTM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Short-Term Memory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75159"/>
            <a:ext cx="8001000" cy="421481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275159"/>
            <a:ext cx="28575" cy="421481"/>
          </a:xfrm>
          <a:prstGeom prst="rect">
            <a:avLst/>
          </a:prstGeom>
          <a:solidFill>
            <a:srgbClr val="3366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017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389459"/>
            <a:ext cx="5029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아이디어: 과거 60일의 흐름을 순서대로 기억하면서 시간 패턴을 학습한다.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571500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43113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011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망각 게이트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14375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과거 기억 중 지금과 무관한 정보를 삭제하여 메모리를 효율적으로 관리합니다.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Shape 10"/>
          <p:cNvSpPr/>
          <p:nvPr/>
        </p:nvSpPr>
        <p:spPr>
          <a:xfrm>
            <a:off x="714375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16" name="Text 11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"3달 전 급등은 오늘과 무관 → 잊기"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29564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329564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43113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425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입력 게이트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43851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현재 입력 중 중요한 정보를 선별하여 새로운 기억으로 저장합니다.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Shape 17"/>
          <p:cNvSpPr/>
          <p:nvPr/>
        </p:nvSpPr>
        <p:spPr>
          <a:xfrm>
            <a:off x="343851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24" name="Text 18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"RSI 30 돌파 → 과매도 신호 기억"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01978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601978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56" y="204311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48394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출력 게이트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6265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저장된 누적 기억을 바탕으로 현재 시점의 최종 예측값을 출력합니다.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1" name="Shape 24"/>
          <p:cNvSpPr/>
          <p:nvPr/>
        </p:nvSpPr>
        <p:spPr>
          <a:xfrm>
            <a:off x="616265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32" name="Text 25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"누적 기억 → 5일 후 등락률 예측"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71500" y="3318272"/>
            <a:ext cx="46291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일반 신경망 vs LSTM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1500" y="3625453"/>
            <a:ext cx="4629150" cy="132159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28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6" name="Shape 29"/>
          <p:cNvSpPr/>
          <p:nvPr/>
        </p:nvSpPr>
        <p:spPr>
          <a:xfrm>
            <a:off x="571500" y="3939778"/>
            <a:ext cx="694367" cy="14288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7" name="Text 30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구분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9" name="Shape 32"/>
          <p:cNvSpPr/>
          <p:nvPr/>
        </p:nvSpPr>
        <p:spPr>
          <a:xfrm>
            <a:off x="1265867" y="3939778"/>
            <a:ext cx="1620738" cy="14288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40" name="Text 33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일반 신경망 (Dense)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2" name="Shape 35"/>
          <p:cNvSpPr/>
          <p:nvPr/>
        </p:nvSpPr>
        <p:spPr>
          <a:xfrm>
            <a:off x="2886605" y="3939778"/>
            <a:ext cx="2314045" cy="14288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43" name="Text 36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5" name="Shape 38"/>
          <p:cNvSpPr/>
          <p:nvPr/>
        </p:nvSpPr>
        <p:spPr>
          <a:xfrm>
            <a:off x="571500" y="4264819"/>
            <a:ext cx="694367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46" name="Text 39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1265867" y="3946922"/>
            <a:ext cx="1620738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하루 데이터만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000905" y="4043363"/>
            <a:ext cx="12626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60일치 데이터를 순서대로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0" name="Shape 43"/>
          <p:cNvSpPr/>
          <p:nvPr/>
        </p:nvSpPr>
        <p:spPr>
          <a:xfrm>
            <a:off x="571500" y="4593431"/>
            <a:ext cx="694367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1" name="Text 44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기억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1265867" y="427196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이전 흐름 무시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00905" y="4371975"/>
            <a:ext cx="1518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날의 기억을 다음 날로 전달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5" name="Shape 48"/>
          <p:cNvSpPr/>
          <p:nvPr/>
        </p:nvSpPr>
        <p:spPr>
          <a:xfrm>
            <a:off x="571500" y="4922044"/>
            <a:ext cx="694367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6" name="Text 49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판단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1265867" y="4600575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'지금 이 순간'만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3000905" y="4700588"/>
            <a:ext cx="11108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'흐름 전체'를 보고 판단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486400" y="3318272"/>
            <a:ext cx="30861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장단점 분석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5486400" y="3625453"/>
            <a:ext cx="3086100" cy="12715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4"/>
          <p:cNvSpPr/>
          <p:nvPr/>
        </p:nvSpPr>
        <p:spPr>
          <a:xfrm>
            <a:off x="5629275" y="3768328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시간 순서 반영 → 단기·중기 패턴 학습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29275" y="4043363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복잡한 비선형 패턴 포착 가능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629275" y="4318397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시간 길고 블랙박스 (해석 어려움)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5629275" y="4593431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하이퍼파라미터 설정이 중요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893719" y="4793456"/>
            <a:ext cx="16787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7 / 17</a:t>
            </a:r>
            <a:endParaRPr lang="en-US" sz="7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782616"/>
            <a:ext cx="107156" cy="160734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4057650"/>
            <a:ext cx="107156" cy="160734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332684"/>
            <a:ext cx="107156" cy="160734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4607719"/>
            <a:ext cx="107156" cy="1607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Random Forest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Learning via Bagging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218009"/>
            <a:ext cx="8286750" cy="3429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218009"/>
            <a:ext cx="28575" cy="342900"/>
          </a:xfrm>
          <a:prstGeom prst="rect">
            <a:avLst/>
          </a:prstGeom>
          <a:solidFill>
            <a:srgbClr val="3366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25" y="1289447"/>
            <a:ext cx="150019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78669" y="1293019"/>
            <a:ext cx="5441752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비유: </a:t>
            </a:r>
            <a:r>
              <a:rPr lang="en-US" sz="10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300명의 분석가</a:t>
            </a:r>
            <a:r>
              <a:rPr lang="en-US" sz="10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가 각자 다른 데이터를 보고 예측한 뒤, </a:t>
            </a:r>
            <a:r>
              <a:rPr lang="en-US" sz="10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평균(다수결)</a:t>
            </a:r>
            <a:r>
              <a:rPr lang="en-US" sz="10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을 낸다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28625" y="1646634"/>
            <a:ext cx="8286750" cy="8715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807244" y="1732359"/>
            <a:ext cx="328613" cy="328613"/>
          </a:xfrm>
          <a:prstGeom prst="ellipse">
            <a:avLst/>
          </a:prstGeom>
          <a:solidFill>
            <a:srgbClr val="F8F9FA"/>
          </a:solidFill>
          <a:ln w="18288">
            <a:solidFill>
              <a:srgbClr val="DEE2E6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42" y="1825228"/>
            <a:ext cx="125016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265" y="2132409"/>
            <a:ext cx="56257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 데이터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전체</a:t>
            </a:r>
            <a:endParaRPr lang="en-US" sz="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9155" y="2010966"/>
            <a:ext cx="125016" cy="1428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607469" y="1732359"/>
            <a:ext cx="328613" cy="328613"/>
          </a:xfrm>
          <a:prstGeom prst="ellipse">
            <a:avLst/>
          </a:prstGeom>
          <a:solidFill>
            <a:srgbClr val="F8F9FA"/>
          </a:solidFill>
          <a:ln w="18288">
            <a:solidFill>
              <a:srgbClr val="DEE2E6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338" y="1825228"/>
            <a:ext cx="142875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470845" y="2132409"/>
            <a:ext cx="60186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랜덤 샘플링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(배깅) ×300</a:t>
            </a:r>
            <a:endParaRPr lang="en-US" sz="7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9380" y="2010966"/>
            <a:ext cx="125016" cy="14287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407694" y="1732359"/>
            <a:ext cx="328613" cy="328613"/>
          </a:xfrm>
          <a:prstGeom prst="ellipse">
            <a:avLst/>
          </a:prstGeom>
          <a:solidFill>
            <a:srgbClr val="3366CC"/>
          </a:solidFill>
          <a:ln w="18288">
            <a:solidFill>
              <a:srgbClr val="3366CC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9492" y="1825228"/>
            <a:ext cx="125016" cy="1428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292501" y="2132409"/>
            <a:ext cx="55899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결정 트리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300개 학습</a:t>
            </a:r>
            <a:endParaRPr lang="en-US" sz="7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09605" y="2010966"/>
            <a:ext cx="125016" cy="142875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6207919" y="1732359"/>
            <a:ext cx="328613" cy="328613"/>
          </a:xfrm>
          <a:prstGeom prst="ellipse">
            <a:avLst/>
          </a:prstGeom>
          <a:solidFill>
            <a:srgbClr val="F8F9FA"/>
          </a:solidFill>
          <a:ln w="18288">
            <a:solidFill>
              <a:srgbClr val="DEE2E6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0788" y="1825228"/>
            <a:ext cx="142875" cy="14287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265069" y="2132409"/>
            <a:ext cx="21431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각자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예측</a:t>
            </a:r>
            <a:endParaRPr lang="en-US" sz="75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9830" y="2010966"/>
            <a:ext cx="125016" cy="142875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8008144" y="1732359"/>
            <a:ext cx="328613" cy="328613"/>
          </a:xfrm>
          <a:prstGeom prst="ellipse">
            <a:avLst/>
          </a:prstGeom>
          <a:solidFill>
            <a:srgbClr val="3366CC"/>
          </a:solidFill>
          <a:ln w="18288">
            <a:solidFill>
              <a:srgbClr val="3366CC"/>
            </a:solidFill>
            <a:prstDash val="solid"/>
          </a:ln>
        </p:spPr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9942" y="1825228"/>
            <a:ext cx="125016" cy="142875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7877770" y="2132409"/>
            <a:ext cx="589359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평균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→ 최종 예측</a:t>
            </a:r>
            <a:endParaRPr lang="en-US" sz="75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8625" y="2688729"/>
            <a:ext cx="196453" cy="157163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682228" y="2661047"/>
            <a:ext cx="232886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결정 트리 1개 vs Random Forest</a:t>
            </a:r>
            <a:endParaRPr lang="en-US" sz="1100" dirty="0"/>
          </a:p>
        </p:txBody>
      </p:sp>
      <p:sp>
        <p:nvSpPr>
          <p:cNvPr id="31" name="Shape 17"/>
          <p:cNvSpPr/>
          <p:nvPr/>
        </p:nvSpPr>
        <p:spPr>
          <a:xfrm>
            <a:off x="428625" y="2959298"/>
            <a:ext cx="4442101" cy="9929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18"/>
          <p:cNvSpPr/>
          <p:nvPr/>
        </p:nvSpPr>
        <p:spPr>
          <a:xfrm>
            <a:off x="428625" y="2959298"/>
            <a:ext cx="1110518" cy="496491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3" name="Shape 19"/>
          <p:cNvSpPr/>
          <p:nvPr/>
        </p:nvSpPr>
        <p:spPr>
          <a:xfrm>
            <a:off x="428625" y="3448645"/>
            <a:ext cx="1110518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4" name="Text 20"/>
          <p:cNvSpPr/>
          <p:nvPr/>
        </p:nvSpPr>
        <p:spPr>
          <a:xfrm>
            <a:off x="428625" y="2959298"/>
            <a:ext cx="1110518" cy="49649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결정 트리 1개</a:t>
            </a:r>
            <a:endParaRPr lang="en-US" sz="800" dirty="0"/>
          </a:p>
        </p:txBody>
      </p:sp>
      <p:sp>
        <p:nvSpPr>
          <p:cNvPr id="35" name="Text 21"/>
          <p:cNvSpPr/>
          <p:nvPr/>
        </p:nvSpPr>
        <p:spPr>
          <a:xfrm>
            <a:off x="1624868" y="3061097"/>
            <a:ext cx="15144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훈련 데이터를 완전히 외워버림</a:t>
            </a:r>
            <a:endParaRPr lang="en-US" sz="800" dirty="0"/>
          </a:p>
        </p:txBody>
      </p:sp>
      <p:sp>
        <p:nvSpPr>
          <p:cNvPr id="36" name="Text 22"/>
          <p:cNvSpPr/>
          <p:nvPr/>
        </p:nvSpPr>
        <p:spPr>
          <a:xfrm>
            <a:off x="3139343" y="3061097"/>
            <a:ext cx="40362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(과적합)</a:t>
            </a:r>
            <a:endParaRPr lang="en-US" sz="750" dirty="0"/>
          </a:p>
        </p:txBody>
      </p:sp>
      <p:sp>
        <p:nvSpPr>
          <p:cNvPr id="37" name="Text 23"/>
          <p:cNvSpPr/>
          <p:nvPr/>
        </p:nvSpPr>
        <p:spPr>
          <a:xfrm>
            <a:off x="1624868" y="3221831"/>
            <a:ext cx="151626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새 데이터에 취약 (응용 불가)</a:t>
            </a:r>
            <a:endParaRPr lang="en-US" sz="800" dirty="0"/>
          </a:p>
        </p:txBody>
      </p:sp>
      <p:sp>
        <p:nvSpPr>
          <p:cNvPr id="38" name="Shape 24"/>
          <p:cNvSpPr/>
          <p:nvPr/>
        </p:nvSpPr>
        <p:spPr>
          <a:xfrm>
            <a:off x="428625" y="3455789"/>
            <a:ext cx="1110518" cy="496491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</p:sp>
      <p:sp>
        <p:nvSpPr>
          <p:cNvPr id="39" name="Text 25"/>
          <p:cNvSpPr/>
          <p:nvPr/>
        </p:nvSpPr>
        <p:spPr>
          <a:xfrm>
            <a:off x="428625" y="3455789"/>
            <a:ext cx="1110518" cy="496491"/>
          </a:xfrm>
          <a:prstGeom prst="rect">
            <a:avLst/>
          </a:prstGeom>
          <a:noFill/>
          <a:ln/>
        </p:spPr>
        <p:txBody>
          <a:bodyPr wrap="none" lIns="102108" tIns="102108" rIns="102108" bIns="102108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40" name="Shape 26"/>
          <p:cNvSpPr/>
          <p:nvPr/>
        </p:nvSpPr>
        <p:spPr>
          <a:xfrm>
            <a:off x="1539143" y="3455789"/>
            <a:ext cx="3331583" cy="496491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</p:sp>
      <p:sp>
        <p:nvSpPr>
          <p:cNvPr id="41" name="Text 27"/>
          <p:cNvSpPr/>
          <p:nvPr/>
        </p:nvSpPr>
        <p:spPr>
          <a:xfrm>
            <a:off x="1624868" y="3561159"/>
            <a:ext cx="165199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트리가 서로 다른 데이터로 학습</a:t>
            </a:r>
            <a:endParaRPr lang="en-US" sz="800" dirty="0"/>
          </a:p>
        </p:txBody>
      </p:sp>
      <p:sp>
        <p:nvSpPr>
          <p:cNvPr id="42" name="Text 28"/>
          <p:cNvSpPr/>
          <p:nvPr/>
        </p:nvSpPr>
        <p:spPr>
          <a:xfrm>
            <a:off x="1624868" y="3721894"/>
            <a:ext cx="13751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29"/>
          <p:cNvSpPr/>
          <p:nvPr/>
        </p:nvSpPr>
        <p:spPr>
          <a:xfrm>
            <a:off x="1762385" y="3721894"/>
            <a:ext cx="4286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집단지성</a:t>
            </a:r>
            <a:endParaRPr lang="en-US" sz="750" dirty="0"/>
          </a:p>
        </p:txBody>
      </p:sp>
      <p:sp>
        <p:nvSpPr>
          <p:cNvPr id="44" name="Text 30"/>
          <p:cNvSpPr/>
          <p:nvPr/>
        </p:nvSpPr>
        <p:spPr>
          <a:xfrm>
            <a:off x="2191010" y="3721894"/>
            <a:ext cx="94833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개인 실수 상쇄</a:t>
            </a:r>
            <a:endParaRPr lang="en-US" sz="8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13601" y="2688729"/>
            <a:ext cx="157163" cy="157163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5227913" y="2661047"/>
            <a:ext cx="145375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주요 하이퍼파라미터</a:t>
            </a:r>
            <a:endParaRPr lang="en-US" sz="1100" dirty="0"/>
          </a:p>
        </p:txBody>
      </p:sp>
      <p:sp>
        <p:nvSpPr>
          <p:cNvPr id="47" name="Shape 32"/>
          <p:cNvSpPr/>
          <p:nvPr/>
        </p:nvSpPr>
        <p:spPr>
          <a:xfrm>
            <a:off x="5013601" y="2959298"/>
            <a:ext cx="1808011" cy="5800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Shape 33"/>
          <p:cNvSpPr/>
          <p:nvPr/>
        </p:nvSpPr>
        <p:spPr>
          <a:xfrm>
            <a:off x="5013601" y="2959298"/>
            <a:ext cx="21431" cy="580039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9" name="Text 34"/>
          <p:cNvSpPr/>
          <p:nvPr/>
        </p:nvSpPr>
        <p:spPr>
          <a:xfrm>
            <a:off x="5099326" y="3030736"/>
            <a:ext cx="163656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300</a:t>
            </a:r>
            <a:endParaRPr lang="en-US" sz="800" dirty="0"/>
          </a:p>
        </p:txBody>
      </p:sp>
      <p:sp>
        <p:nvSpPr>
          <p:cNvPr id="50" name="Text 35"/>
          <p:cNvSpPr/>
          <p:nvPr/>
        </p:nvSpPr>
        <p:spPr>
          <a:xfrm>
            <a:off x="5099326" y="3187898"/>
            <a:ext cx="163656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트리 300개 (탐색 시 elbow point 확인)</a:t>
            </a:r>
            <a:endParaRPr lang="en-US" sz="750" dirty="0"/>
          </a:p>
        </p:txBody>
      </p:sp>
      <p:sp>
        <p:nvSpPr>
          <p:cNvPr id="51" name="Shape 36"/>
          <p:cNvSpPr/>
          <p:nvPr/>
        </p:nvSpPr>
        <p:spPr>
          <a:xfrm>
            <a:off x="6907337" y="2959298"/>
            <a:ext cx="1808038" cy="5800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Shape 37"/>
          <p:cNvSpPr/>
          <p:nvPr/>
        </p:nvSpPr>
        <p:spPr>
          <a:xfrm>
            <a:off x="6907337" y="2959298"/>
            <a:ext cx="21431" cy="580039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3" name="Text 38"/>
          <p:cNvSpPr/>
          <p:nvPr/>
        </p:nvSpPr>
        <p:spPr>
          <a:xfrm>
            <a:off x="6993062" y="3030736"/>
            <a:ext cx="16365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 = 8</a:t>
            </a:r>
            <a:endParaRPr lang="en-US" sz="800" dirty="0"/>
          </a:p>
        </p:txBody>
      </p:sp>
      <p:sp>
        <p:nvSpPr>
          <p:cNvPr id="54" name="Text 39"/>
          <p:cNvSpPr/>
          <p:nvPr/>
        </p:nvSpPr>
        <p:spPr>
          <a:xfrm>
            <a:off x="6993062" y="3187898"/>
            <a:ext cx="1636588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트리 깊이 제한 (너무 깊으면 과적합)</a:t>
            </a:r>
            <a:endParaRPr lang="en-US" sz="750" dirty="0"/>
          </a:p>
        </p:txBody>
      </p:sp>
      <p:sp>
        <p:nvSpPr>
          <p:cNvPr id="55" name="Shape 40"/>
          <p:cNvSpPr/>
          <p:nvPr/>
        </p:nvSpPr>
        <p:spPr>
          <a:xfrm>
            <a:off x="5013601" y="3625062"/>
            <a:ext cx="1808011" cy="5800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Shape 41"/>
          <p:cNvSpPr/>
          <p:nvPr/>
        </p:nvSpPr>
        <p:spPr>
          <a:xfrm>
            <a:off x="5013601" y="3625062"/>
            <a:ext cx="21431" cy="580039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7" name="Text 42"/>
          <p:cNvSpPr/>
          <p:nvPr/>
        </p:nvSpPr>
        <p:spPr>
          <a:xfrm>
            <a:off x="5099326" y="3696500"/>
            <a:ext cx="1636561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 = 20</a:t>
            </a:r>
            <a:endParaRPr lang="en-US" sz="800" dirty="0"/>
          </a:p>
        </p:txBody>
      </p:sp>
      <p:sp>
        <p:nvSpPr>
          <p:cNvPr id="58" name="Text 43"/>
          <p:cNvSpPr/>
          <p:nvPr/>
        </p:nvSpPr>
        <p:spPr>
          <a:xfrm>
            <a:off x="5099326" y="3853662"/>
            <a:ext cx="163656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리프 노드 최소 20샘플 (섣부른 예측 방지)</a:t>
            </a:r>
            <a:endParaRPr lang="en-US" sz="750" dirty="0"/>
          </a:p>
        </p:txBody>
      </p:sp>
      <p:sp>
        <p:nvSpPr>
          <p:cNvPr id="59" name="Shape 44"/>
          <p:cNvSpPr/>
          <p:nvPr/>
        </p:nvSpPr>
        <p:spPr>
          <a:xfrm>
            <a:off x="6907337" y="3625062"/>
            <a:ext cx="1808038" cy="5800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Shape 45"/>
          <p:cNvSpPr/>
          <p:nvPr/>
        </p:nvSpPr>
        <p:spPr>
          <a:xfrm>
            <a:off x="6907337" y="3625062"/>
            <a:ext cx="21431" cy="580039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61" name="Text 46"/>
          <p:cNvSpPr/>
          <p:nvPr/>
        </p:nvSpPr>
        <p:spPr>
          <a:xfrm>
            <a:off x="6993062" y="3696500"/>
            <a:ext cx="163658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n_jobs = -1</a:t>
            </a:r>
            <a:endParaRPr lang="en-US" sz="800" dirty="0"/>
          </a:p>
        </p:txBody>
      </p:sp>
      <p:sp>
        <p:nvSpPr>
          <p:cNvPr id="62" name="Text 47"/>
          <p:cNvSpPr/>
          <p:nvPr/>
        </p:nvSpPr>
        <p:spPr>
          <a:xfrm>
            <a:off x="6993062" y="3853662"/>
            <a:ext cx="1636588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CPU 전체 코어 사용 (병렬 학습으로 속도 향상)</a:t>
            </a:r>
            <a:endParaRPr lang="en-US" sz="750" dirty="0"/>
          </a:p>
        </p:txBody>
      </p:sp>
      <p:sp>
        <p:nvSpPr>
          <p:cNvPr id="63" name="Text 48"/>
          <p:cNvSpPr/>
          <p:nvPr/>
        </p:nvSpPr>
        <p:spPr>
          <a:xfrm>
            <a:off x="6888361" y="4793456"/>
            <a:ext cx="168413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8 / 17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XGBoost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eXtreme Gradient Boosting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160859"/>
            <a:ext cx="8001000" cy="371475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160859"/>
            <a:ext cx="28575" cy="371475"/>
          </a:xfrm>
          <a:prstGeom prst="rect">
            <a:avLst/>
          </a:prstGeom>
          <a:solidFill>
            <a:srgbClr val="3366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246584"/>
            <a:ext cx="150019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50119" y="1250156"/>
            <a:ext cx="5439966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비유: 이전 모델이 틀린 부분을 다음 모델이 집중적으로 보완한다 </a:t>
            </a:r>
            <a:r>
              <a:rPr lang="en-US" sz="10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(오답 노트 학습)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660922"/>
            <a:ext cx="8001000" cy="9229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1028700" y="1760934"/>
            <a:ext cx="357188" cy="357188"/>
          </a:xfrm>
          <a:prstGeom prst="ellipse">
            <a:avLst/>
          </a:prstGeom>
          <a:solidFill>
            <a:srgbClr val="3366CC"/>
          </a:solidFill>
          <a:ln w="18288">
            <a:solidFill>
              <a:srgbClr val="3366C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4786" y="1868091"/>
            <a:ext cx="125016" cy="1428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4767" y="2203847"/>
            <a:ext cx="42505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1번 트리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전체 예측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85963" y="2050954"/>
            <a:ext cx="125016" cy="142875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2711053" y="1760934"/>
            <a:ext cx="357188" cy="357188"/>
          </a:xfrm>
          <a:prstGeom prst="ellipse">
            <a:avLst/>
          </a:prstGeom>
          <a:solidFill>
            <a:srgbClr val="FFF3CD"/>
          </a:solidFill>
          <a:ln w="18288">
            <a:solidFill>
              <a:srgbClr val="FF990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8209" y="1868091"/>
            <a:ext cx="142875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628900" y="2203847"/>
            <a:ext cx="521494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오차 계산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(실제-예측)</a:t>
            </a:r>
            <a:endParaRPr lang="en-US" sz="7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8316" y="2050954"/>
            <a:ext cx="125016" cy="142875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4393406" y="1760934"/>
            <a:ext cx="357188" cy="357188"/>
          </a:xfrm>
          <a:prstGeom prst="ellipse">
            <a:avLst/>
          </a:prstGeom>
          <a:solidFill>
            <a:srgbClr val="3366CC"/>
          </a:solidFill>
          <a:ln w="18288">
            <a:solidFill>
              <a:srgbClr val="3366CC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9492" y="1868091"/>
            <a:ext cx="125016" cy="142875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4246959" y="2203847"/>
            <a:ext cx="650081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2번 트리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오차 타깃 학습</a:t>
            </a:r>
            <a:endParaRPr lang="en-US" sz="7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0669" y="2050954"/>
            <a:ext cx="125016" cy="142875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6075759" y="1760934"/>
            <a:ext cx="357188" cy="357188"/>
          </a:xfrm>
          <a:prstGeom prst="ellipse">
            <a:avLst/>
          </a:prstGeom>
          <a:solidFill>
            <a:srgbClr val="FFF3CD"/>
          </a:solidFill>
          <a:ln w="18288">
            <a:solidFill>
              <a:srgbClr val="FF9900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82916" y="1868091"/>
            <a:ext cx="142875" cy="142875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041827" y="2203847"/>
            <a:ext cx="42505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남은 오차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계산</a:t>
            </a:r>
            <a:endParaRPr lang="en-US" sz="7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33022" y="2050954"/>
            <a:ext cx="125016" cy="142875"/>
          </a:xfrm>
          <a:prstGeom prst="rect">
            <a:avLst/>
          </a:prstGeom>
        </p:spPr>
      </p:pic>
      <p:sp>
        <p:nvSpPr>
          <p:cNvPr id="26" name="Shape 14"/>
          <p:cNvSpPr/>
          <p:nvPr/>
        </p:nvSpPr>
        <p:spPr>
          <a:xfrm>
            <a:off x="7758113" y="1760934"/>
            <a:ext cx="357188" cy="357188"/>
          </a:xfrm>
          <a:prstGeom prst="ellipse">
            <a:avLst/>
          </a:prstGeom>
          <a:solidFill>
            <a:srgbClr val="3366CC"/>
          </a:solidFill>
          <a:ln w="18288">
            <a:solidFill>
              <a:srgbClr val="3366CC"/>
            </a:solidFill>
            <a:prstDash val="solid"/>
          </a:ln>
        </p:spPr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5269" y="1868091"/>
            <a:ext cx="142875" cy="142875"/>
          </a:xfrm>
          <a:prstGeom prst="rect">
            <a:avLst/>
          </a:prstGeom>
        </p:spPr>
      </p:pic>
      <p:sp>
        <p:nvSpPr>
          <p:cNvPr id="28" name="Text 15"/>
          <p:cNvSpPr/>
          <p:nvPr/>
        </p:nvSpPr>
        <p:spPr>
          <a:xfrm>
            <a:off x="7677745" y="2203847"/>
            <a:ext cx="517922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500번 반복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
</a:t>
            </a:r>
            <a:r>
              <a:rPr lang="en-US" sz="7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최종 합산</a:t>
            </a:r>
            <a:endParaRPr lang="en-US" sz="700" dirty="0"/>
          </a:p>
        </p:txBody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1500" y="2782993"/>
            <a:ext cx="196453" cy="157163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825103" y="2755311"/>
            <a:ext cx="2134195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RF(배깅) vs XGBoost(부스팅)</a:t>
            </a:r>
            <a:endParaRPr lang="en-US" sz="1100" dirty="0"/>
          </a:p>
        </p:txBody>
      </p:sp>
      <p:sp>
        <p:nvSpPr>
          <p:cNvPr id="31" name="Shape 17"/>
          <p:cNvSpPr/>
          <p:nvPr/>
        </p:nvSpPr>
        <p:spPr>
          <a:xfrm>
            <a:off x="571500" y="3053562"/>
            <a:ext cx="4286250" cy="12358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18"/>
          <p:cNvSpPr/>
          <p:nvPr/>
        </p:nvSpPr>
        <p:spPr>
          <a:xfrm>
            <a:off x="571500" y="3053562"/>
            <a:ext cx="1071563" cy="617934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3" name="Shape 19"/>
          <p:cNvSpPr/>
          <p:nvPr/>
        </p:nvSpPr>
        <p:spPr>
          <a:xfrm>
            <a:off x="571500" y="3664353"/>
            <a:ext cx="1071563" cy="7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4" name="Text 20"/>
          <p:cNvSpPr/>
          <p:nvPr/>
        </p:nvSpPr>
        <p:spPr>
          <a:xfrm>
            <a:off x="657225" y="3216083"/>
            <a:ext cx="8322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35" name="Text 21"/>
          <p:cNvSpPr/>
          <p:nvPr/>
        </p:nvSpPr>
        <p:spPr>
          <a:xfrm>
            <a:off x="657225" y="3358958"/>
            <a:ext cx="3143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(배깅)</a:t>
            </a:r>
            <a:endParaRPr lang="en-US" sz="800" dirty="0"/>
          </a:p>
        </p:txBody>
      </p:sp>
      <p:sp>
        <p:nvSpPr>
          <p:cNvPr id="36" name="Text 22"/>
          <p:cNvSpPr/>
          <p:nvPr/>
        </p:nvSpPr>
        <p:spPr>
          <a:xfrm>
            <a:off x="1728788" y="3139287"/>
            <a:ext cx="170199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300개 트리를 독립적으로 만들고 평균</a:t>
            </a:r>
            <a:endParaRPr lang="en-US" sz="750" dirty="0"/>
          </a:p>
        </p:txBody>
      </p:sp>
      <p:sp>
        <p:nvSpPr>
          <p:cNvPr id="37" name="Text 23"/>
          <p:cNvSpPr/>
          <p:nvPr/>
        </p:nvSpPr>
        <p:spPr>
          <a:xfrm>
            <a:off x="1728788" y="3317881"/>
            <a:ext cx="30432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00C9A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장점:</a:t>
            </a:r>
            <a:r>
              <a:rPr lang="en-US" sz="6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병렬 처리 → 빠름</a:t>
            </a:r>
            <a:r>
              <a:rPr lang="en-US" sz="6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650" dirty="0">
                <a:solidFill>
                  <a:srgbClr val="FF6B6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단점:</a:t>
            </a:r>
            <a:r>
              <a:rPr lang="en-US" sz="6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오차를 체계적으로 줄이지 못함</a:t>
            </a:r>
            <a:endParaRPr lang="en-US" sz="650" dirty="0"/>
          </a:p>
        </p:txBody>
      </p:sp>
      <p:sp>
        <p:nvSpPr>
          <p:cNvPr id="38" name="Shape 24"/>
          <p:cNvSpPr/>
          <p:nvPr/>
        </p:nvSpPr>
        <p:spPr>
          <a:xfrm>
            <a:off x="571500" y="3671497"/>
            <a:ext cx="1071563" cy="617934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</p:sp>
      <p:sp>
        <p:nvSpPr>
          <p:cNvPr id="39" name="Text 25"/>
          <p:cNvSpPr/>
          <p:nvPr/>
        </p:nvSpPr>
        <p:spPr>
          <a:xfrm>
            <a:off x="657225" y="3834017"/>
            <a:ext cx="48041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XGBoost</a:t>
            </a:r>
            <a:endParaRPr lang="en-US" sz="800" dirty="0"/>
          </a:p>
        </p:txBody>
      </p:sp>
      <p:sp>
        <p:nvSpPr>
          <p:cNvPr id="40" name="Text 26"/>
          <p:cNvSpPr/>
          <p:nvPr/>
        </p:nvSpPr>
        <p:spPr>
          <a:xfrm>
            <a:off x="657225" y="3976892"/>
            <a:ext cx="4286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(부스팅)</a:t>
            </a:r>
            <a:endParaRPr lang="en-US" sz="800" dirty="0"/>
          </a:p>
        </p:txBody>
      </p:sp>
      <p:sp>
        <p:nvSpPr>
          <p:cNvPr id="41" name="Shape 27"/>
          <p:cNvSpPr/>
          <p:nvPr/>
        </p:nvSpPr>
        <p:spPr>
          <a:xfrm>
            <a:off x="1643063" y="3671497"/>
            <a:ext cx="3214688" cy="617934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</p:sp>
      <p:sp>
        <p:nvSpPr>
          <p:cNvPr id="42" name="Text 28"/>
          <p:cNvSpPr/>
          <p:nvPr/>
        </p:nvSpPr>
        <p:spPr>
          <a:xfrm>
            <a:off x="1728788" y="3760794"/>
            <a:ext cx="187166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트리를 순서대로 만들며 앞 트리 오차 보정</a:t>
            </a:r>
            <a:endParaRPr lang="en-US" sz="750" dirty="0"/>
          </a:p>
        </p:txBody>
      </p:sp>
      <p:sp>
        <p:nvSpPr>
          <p:cNvPr id="43" name="Text 29"/>
          <p:cNvSpPr/>
          <p:nvPr/>
        </p:nvSpPr>
        <p:spPr>
          <a:xfrm>
            <a:off x="1728788" y="3939387"/>
            <a:ext cx="30432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50" dirty="0">
                <a:solidFill>
                  <a:srgbClr val="00C9A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장점:</a:t>
            </a:r>
            <a:r>
              <a:rPr lang="en-US" sz="6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오차를 단계적으로 줄임 → 높은 정확도</a:t>
            </a:r>
            <a:r>
              <a:rPr lang="en-US" sz="6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650" dirty="0">
                <a:solidFill>
                  <a:srgbClr val="FF6B6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단점:</a:t>
            </a:r>
            <a:r>
              <a:rPr lang="en-US" sz="6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순차 처리 → 약간 느림, 파라미터 민감</a:t>
            </a:r>
            <a:endParaRPr lang="en-US" sz="650" dirty="0"/>
          </a:p>
        </p:txBody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00625" y="2782993"/>
            <a:ext cx="157163" cy="157163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5214938" y="2755311"/>
            <a:ext cx="1453753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주요 하이퍼파라미터</a:t>
            </a:r>
            <a:endParaRPr lang="en-US" sz="1100" dirty="0"/>
          </a:p>
        </p:txBody>
      </p:sp>
      <p:sp>
        <p:nvSpPr>
          <p:cNvPr id="46" name="Shape 31"/>
          <p:cNvSpPr/>
          <p:nvPr/>
        </p:nvSpPr>
        <p:spPr>
          <a:xfrm>
            <a:off x="5000625" y="3053562"/>
            <a:ext cx="3571875" cy="422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2"/>
          <p:cNvSpPr/>
          <p:nvPr/>
        </p:nvSpPr>
        <p:spPr>
          <a:xfrm>
            <a:off x="5000625" y="3053562"/>
            <a:ext cx="21431" cy="4229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8" name="Text 33"/>
          <p:cNvSpPr/>
          <p:nvPr/>
        </p:nvSpPr>
        <p:spPr>
          <a:xfrm>
            <a:off x="5086350" y="3125000"/>
            <a:ext cx="34004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 = 500</a:t>
            </a:r>
            <a:endParaRPr lang="en-US" sz="750" dirty="0"/>
          </a:p>
        </p:txBody>
      </p:sp>
      <p:sp>
        <p:nvSpPr>
          <p:cNvPr id="49" name="Text 34"/>
          <p:cNvSpPr/>
          <p:nvPr/>
        </p:nvSpPr>
        <p:spPr>
          <a:xfrm>
            <a:off x="5086350" y="3275019"/>
            <a:ext cx="34004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Stopping으로 최적 라운드 자동 탐색 (실사용 ~350)</a:t>
            </a:r>
            <a:endParaRPr lang="en-US" sz="650" dirty="0"/>
          </a:p>
        </p:txBody>
      </p:sp>
      <p:sp>
        <p:nvSpPr>
          <p:cNvPr id="50" name="Shape 35"/>
          <p:cNvSpPr/>
          <p:nvPr/>
        </p:nvSpPr>
        <p:spPr>
          <a:xfrm>
            <a:off x="5000625" y="3547904"/>
            <a:ext cx="3571875" cy="422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Shape 36"/>
          <p:cNvSpPr/>
          <p:nvPr/>
        </p:nvSpPr>
        <p:spPr>
          <a:xfrm>
            <a:off x="5000625" y="3547904"/>
            <a:ext cx="21431" cy="4229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2" name="Text 37"/>
          <p:cNvSpPr/>
          <p:nvPr/>
        </p:nvSpPr>
        <p:spPr>
          <a:xfrm>
            <a:off x="5086350" y="3619342"/>
            <a:ext cx="34004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 = 0.05</a:t>
            </a:r>
            <a:endParaRPr lang="en-US" sz="750" dirty="0"/>
          </a:p>
        </p:txBody>
      </p:sp>
      <p:sp>
        <p:nvSpPr>
          <p:cNvPr id="53" name="Text 38"/>
          <p:cNvSpPr/>
          <p:nvPr/>
        </p:nvSpPr>
        <p:spPr>
          <a:xfrm>
            <a:off x="5086350" y="3769361"/>
            <a:ext cx="34004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각 트리 기여도 5% (작을수록 신중, 클수록 빠름)</a:t>
            </a:r>
            <a:endParaRPr lang="en-US" sz="650" dirty="0"/>
          </a:p>
        </p:txBody>
      </p:sp>
      <p:sp>
        <p:nvSpPr>
          <p:cNvPr id="54" name="Shape 39"/>
          <p:cNvSpPr/>
          <p:nvPr/>
        </p:nvSpPr>
        <p:spPr>
          <a:xfrm>
            <a:off x="5000625" y="4042246"/>
            <a:ext cx="3571875" cy="4229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Shape 40"/>
          <p:cNvSpPr/>
          <p:nvPr/>
        </p:nvSpPr>
        <p:spPr>
          <a:xfrm>
            <a:off x="5000625" y="4042246"/>
            <a:ext cx="21431" cy="42290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6" name="Text 41"/>
          <p:cNvSpPr/>
          <p:nvPr/>
        </p:nvSpPr>
        <p:spPr>
          <a:xfrm>
            <a:off x="5086350" y="4113684"/>
            <a:ext cx="34004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125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subsample = 0.8</a:t>
            </a:r>
            <a:endParaRPr lang="en-US" sz="750" dirty="0"/>
          </a:p>
        </p:txBody>
      </p:sp>
      <p:sp>
        <p:nvSpPr>
          <p:cNvPr id="57" name="Text 42"/>
          <p:cNvSpPr/>
          <p:nvPr/>
        </p:nvSpPr>
        <p:spPr>
          <a:xfrm>
            <a:off x="5086350" y="4263703"/>
            <a:ext cx="340042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5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라운드마다 데이터 80%만 사용 (과적합 방지)</a:t>
            </a:r>
            <a:endParaRPr lang="en-US" sz="650" dirty="0"/>
          </a:p>
        </p:txBody>
      </p:sp>
      <p:sp>
        <p:nvSpPr>
          <p:cNvPr id="58" name="Text 43"/>
          <p:cNvSpPr/>
          <p:nvPr/>
        </p:nvSpPr>
        <p:spPr>
          <a:xfrm>
            <a:off x="6888361" y="4793456"/>
            <a:ext cx="1684139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9 / 17</a:t>
            </a:r>
            <a:endParaRPr lang="en-US" sz="7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02 LSTM 모델 아키텍처 상세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LSTM Architecture Detail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344811"/>
            <a:ext cx="3228975" cy="3429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344811"/>
            <a:ext cx="3228975" cy="28575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7" name="Text 4"/>
          <p:cNvSpPr/>
          <p:nvPr/>
        </p:nvSpPr>
        <p:spPr>
          <a:xfrm>
            <a:off x="714375" y="1487686"/>
            <a:ext cx="2943225" cy="233958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Top-Down Flow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935106" y="1835944"/>
            <a:ext cx="2501736" cy="360759"/>
          </a:xfrm>
          <a:prstGeom prst="rect">
            <a:avLst/>
          </a:prstGeom>
          <a:solidFill>
            <a:srgbClr val="E9ECEF"/>
          </a:solidFill>
          <a:ln w="9144">
            <a:solidFill>
              <a:srgbClr val="CED4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0831" y="1893094"/>
            <a:ext cx="233028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INPUT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020831" y="2035969"/>
            <a:ext cx="2330286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(N, 60, 11)</a:t>
            </a:r>
            <a:endParaRPr lang="en-US" sz="5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483" y="2225278"/>
            <a:ext cx="75009" cy="10001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35106" y="2368153"/>
            <a:ext cx="2501736" cy="376833"/>
          </a:xfrm>
          <a:prstGeom prst="rect">
            <a:avLst/>
          </a:prstGeom>
          <a:solidFill>
            <a:srgbClr val="E8F0FE"/>
          </a:solidFill>
          <a:ln w="9144">
            <a:solidFill>
              <a:srgbClr val="AECBF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20831" y="2425303"/>
            <a:ext cx="233028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967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 128유닛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020831" y="2584252"/>
            <a:ext cx="2330286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return_sequences=True</a:t>
            </a:r>
            <a:endParaRPr lang="en-US" sz="5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483" y="2773561"/>
            <a:ext cx="75009" cy="10001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082278" y="2916436"/>
            <a:ext cx="2207419" cy="200025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dash"/>
          </a:ln>
        </p:spPr>
      </p:sp>
      <p:sp>
        <p:nvSpPr>
          <p:cNvPr id="17" name="Text 12"/>
          <p:cNvSpPr/>
          <p:nvPr/>
        </p:nvSpPr>
        <p:spPr>
          <a:xfrm>
            <a:off x="1139428" y="2945011"/>
            <a:ext cx="20931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 + Dropout 0.2</a:t>
            </a:r>
            <a:endParaRPr lang="en-US" sz="8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8483" y="3145036"/>
            <a:ext cx="75009" cy="100013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35106" y="3287911"/>
            <a:ext cx="2501736" cy="376833"/>
          </a:xfrm>
          <a:prstGeom prst="rect">
            <a:avLst/>
          </a:prstGeom>
          <a:solidFill>
            <a:srgbClr val="E8F0FE"/>
          </a:solidFill>
          <a:ln w="9144">
            <a:solidFill>
              <a:srgbClr val="AECBFA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1020831" y="3345061"/>
            <a:ext cx="233028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967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 64유닛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1020831" y="3504009"/>
            <a:ext cx="2330286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return_sequences=True</a:t>
            </a:r>
            <a:endParaRPr lang="en-US" sz="5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8483" y="3693319"/>
            <a:ext cx="75009" cy="100013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1082278" y="3836194"/>
            <a:ext cx="2207419" cy="200025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dash"/>
          </a:ln>
        </p:spPr>
      </p:sp>
      <p:sp>
        <p:nvSpPr>
          <p:cNvPr id="24" name="Text 17"/>
          <p:cNvSpPr/>
          <p:nvPr/>
        </p:nvSpPr>
        <p:spPr>
          <a:xfrm>
            <a:off x="1139428" y="3864769"/>
            <a:ext cx="20931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 + Dropout 0.2</a:t>
            </a:r>
            <a:endParaRPr lang="en-US" sz="8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48483" y="4064794"/>
            <a:ext cx="75009" cy="100013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35106" y="4207669"/>
            <a:ext cx="2501736" cy="376833"/>
          </a:xfrm>
          <a:prstGeom prst="rect">
            <a:avLst/>
          </a:prstGeom>
          <a:solidFill>
            <a:srgbClr val="E8F0FE"/>
          </a:solidFill>
          <a:ln w="9144">
            <a:solidFill>
              <a:srgbClr val="AECBF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1020831" y="4264819"/>
            <a:ext cx="233028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967D2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 32유닛</a:t>
            </a:r>
            <a:endParaRPr lang="en-US" sz="750" dirty="0"/>
          </a:p>
        </p:txBody>
      </p:sp>
      <p:sp>
        <p:nvSpPr>
          <p:cNvPr id="28" name="Text 20"/>
          <p:cNvSpPr/>
          <p:nvPr/>
        </p:nvSpPr>
        <p:spPr>
          <a:xfrm>
            <a:off x="1020831" y="4423767"/>
            <a:ext cx="2330286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return_sequences=False</a:t>
            </a:r>
            <a:endParaRPr lang="en-US" sz="5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48483" y="4613077"/>
            <a:ext cx="75009" cy="100013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1082278" y="4755952"/>
            <a:ext cx="2207419" cy="200025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dash"/>
          </a:ln>
        </p:spPr>
      </p:sp>
      <p:sp>
        <p:nvSpPr>
          <p:cNvPr id="31" name="Text 22"/>
          <p:cNvSpPr/>
          <p:nvPr/>
        </p:nvSpPr>
        <p:spPr>
          <a:xfrm>
            <a:off x="1139428" y="4784527"/>
            <a:ext cx="2093119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 0.1</a:t>
            </a:r>
            <a:endParaRPr lang="en-US" sz="8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8483" y="4984552"/>
            <a:ext cx="75009" cy="100013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35106" y="5127427"/>
            <a:ext cx="2501736" cy="360759"/>
          </a:xfrm>
          <a:prstGeom prst="rect">
            <a:avLst/>
          </a:prstGeom>
          <a:solidFill>
            <a:srgbClr val="FEF3E8"/>
          </a:solidFill>
          <a:ln w="9144">
            <a:solidFill>
              <a:srgbClr val="FCE8D5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1020831" y="5184577"/>
            <a:ext cx="233028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67C73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Dense 16</a:t>
            </a:r>
            <a:endParaRPr lang="en-US" sz="750" dirty="0"/>
          </a:p>
        </p:txBody>
      </p:sp>
      <p:sp>
        <p:nvSpPr>
          <p:cNvPr id="35" name="Text 25"/>
          <p:cNvSpPr/>
          <p:nvPr/>
        </p:nvSpPr>
        <p:spPr>
          <a:xfrm>
            <a:off x="1020831" y="5327452"/>
            <a:ext cx="2330286" cy="89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Activation: ReLU</a:t>
            </a:r>
            <a:endParaRPr lang="en-US" sz="55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8483" y="5516761"/>
            <a:ext cx="75009" cy="100013"/>
          </a:xfrm>
          <a:prstGeom prst="rect">
            <a:avLst/>
          </a:prstGeom>
        </p:spPr>
      </p:pic>
      <p:sp>
        <p:nvSpPr>
          <p:cNvPr id="37" name="Shape 26"/>
          <p:cNvSpPr/>
          <p:nvPr/>
        </p:nvSpPr>
        <p:spPr>
          <a:xfrm>
            <a:off x="935106" y="5659636"/>
            <a:ext cx="2501736" cy="392906"/>
          </a:xfrm>
          <a:prstGeom prst="rect">
            <a:avLst/>
          </a:prstGeom>
          <a:solidFill>
            <a:srgbClr val="E9ECEF"/>
          </a:solidFill>
          <a:ln w="9144">
            <a:solidFill>
              <a:srgbClr val="CED4DA"/>
            </a:solidFill>
            <a:prstDash val="solid"/>
          </a:ln>
        </p:spPr>
      </p:sp>
      <p:sp>
        <p:nvSpPr>
          <p:cNvPr id="38" name="Text 27"/>
          <p:cNvSpPr/>
          <p:nvPr/>
        </p:nvSpPr>
        <p:spPr>
          <a:xfrm>
            <a:off x="1020831" y="5716786"/>
            <a:ext cx="2330286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Dense 1 (출력)</a:t>
            </a:r>
            <a:endParaRPr lang="en-US" sz="750" dirty="0"/>
          </a:p>
        </p:txBody>
      </p:sp>
      <p:sp>
        <p:nvSpPr>
          <p:cNvPr id="39" name="Text 28"/>
          <p:cNvSpPr/>
          <p:nvPr/>
        </p:nvSpPr>
        <p:spPr>
          <a:xfrm>
            <a:off x="1020831" y="5875734"/>
            <a:ext cx="233028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550" dirty="0">
                <a:solidFill>
                  <a:srgbClr val="868E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5일 후 등락률</a:t>
            </a:r>
            <a:endParaRPr lang="en-US" sz="55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57663" y="1375172"/>
            <a:ext cx="214313" cy="17145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4443413" y="1344811"/>
            <a:ext cx="728663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설계 근거</a:t>
            </a:r>
            <a:endParaRPr lang="en-US" sz="1200" dirty="0"/>
          </a:p>
        </p:txBody>
      </p:sp>
      <p:sp>
        <p:nvSpPr>
          <p:cNvPr id="42" name="Shape 30"/>
          <p:cNvSpPr/>
          <p:nvPr/>
        </p:nvSpPr>
        <p:spPr>
          <a:xfrm>
            <a:off x="4157663" y="1719858"/>
            <a:ext cx="4414838" cy="370037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1"/>
          <p:cNvSpPr/>
          <p:nvPr/>
        </p:nvSpPr>
        <p:spPr>
          <a:xfrm>
            <a:off x="4371975" y="1919883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44" name="Text 32"/>
          <p:cNvSpPr/>
          <p:nvPr/>
        </p:nvSpPr>
        <p:spPr>
          <a:xfrm>
            <a:off x="4543425" y="1912739"/>
            <a:ext cx="8858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 및 출력 구조</a:t>
            </a:r>
            <a:endParaRPr lang="en-US" sz="800" dirty="0"/>
          </a:p>
        </p:txBody>
      </p:sp>
      <p:sp>
        <p:nvSpPr>
          <p:cNvPr id="45" name="Text 33"/>
          <p:cNvSpPr/>
          <p:nvPr/>
        </p:nvSpPr>
        <p:spPr>
          <a:xfrm>
            <a:off x="4543425" y="2117034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입력: 과거 60거래일 × 11개 기술적 지표</a:t>
            </a:r>
            <a:endParaRPr lang="en-US" sz="800" dirty="0"/>
          </a:p>
        </p:txBody>
      </p:sp>
      <p:sp>
        <p:nvSpPr>
          <p:cNvPr id="46" name="Text 34"/>
          <p:cNvSpPr/>
          <p:nvPr/>
        </p:nvSpPr>
        <p:spPr>
          <a:xfrm>
            <a:off x="4543425" y="2331346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출력: 5거래일 후 예상 등락률 (회귀 문제)</a:t>
            </a:r>
            <a:endParaRPr lang="en-US" sz="800" dirty="0"/>
          </a:p>
        </p:txBody>
      </p:sp>
      <p:sp>
        <p:nvSpPr>
          <p:cNvPr id="47" name="Text 35"/>
          <p:cNvSpPr/>
          <p:nvPr/>
        </p:nvSpPr>
        <p:spPr>
          <a:xfrm>
            <a:off x="4543425" y="2117034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48" name="Text 36"/>
          <p:cNvSpPr/>
          <p:nvPr/>
        </p:nvSpPr>
        <p:spPr>
          <a:xfrm>
            <a:off x="4543425" y="2331346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49" name="Text 37"/>
          <p:cNvSpPr/>
          <p:nvPr/>
        </p:nvSpPr>
        <p:spPr>
          <a:xfrm>
            <a:off x="4371975" y="2659959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50" name="Text 38"/>
          <p:cNvSpPr/>
          <p:nvPr/>
        </p:nvSpPr>
        <p:spPr>
          <a:xfrm>
            <a:off x="4543425" y="2652815"/>
            <a:ext cx="10215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3층 LSTM 아키텍처</a:t>
            </a:r>
            <a:endParaRPr lang="en-US" sz="800" dirty="0"/>
          </a:p>
        </p:txBody>
      </p:sp>
      <p:sp>
        <p:nvSpPr>
          <p:cNvPr id="51" name="Text 39"/>
          <p:cNvSpPr/>
          <p:nvPr/>
        </p:nvSpPr>
        <p:spPr>
          <a:xfrm>
            <a:off x="4543425" y="2857109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단기 패턴에서 중기 패턴으로 계층적(Hierarchical) 학습 유도</a:t>
            </a:r>
            <a:endParaRPr lang="en-US" sz="800" dirty="0"/>
          </a:p>
        </p:txBody>
      </p:sp>
      <p:sp>
        <p:nvSpPr>
          <p:cNvPr id="52" name="Text 40"/>
          <p:cNvSpPr/>
          <p:nvPr/>
        </p:nvSpPr>
        <p:spPr>
          <a:xfrm>
            <a:off x="4543425" y="2857109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53" name="Text 41"/>
          <p:cNvSpPr/>
          <p:nvPr/>
        </p:nvSpPr>
        <p:spPr>
          <a:xfrm>
            <a:off x="4371975" y="3185722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54" name="Text 42"/>
          <p:cNvSpPr/>
          <p:nvPr/>
        </p:nvSpPr>
        <p:spPr>
          <a:xfrm>
            <a:off x="4543425" y="3178578"/>
            <a:ext cx="11144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정규화 및 과적합 방지</a:t>
            </a:r>
            <a:endParaRPr lang="en-US" sz="800" dirty="0"/>
          </a:p>
        </p:txBody>
      </p:sp>
      <p:sp>
        <p:nvSpPr>
          <p:cNvPr id="55" name="Text 43"/>
          <p:cNvSpPr/>
          <p:nvPr/>
        </p:nvSpPr>
        <p:spPr>
          <a:xfrm>
            <a:off x="4543425" y="3382873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BatchNorm: 배치 간 데이터 분포 안정화로 학습 속도 향상</a:t>
            </a:r>
            <a:endParaRPr lang="en-US" sz="800" dirty="0"/>
          </a:p>
        </p:txBody>
      </p:sp>
      <p:sp>
        <p:nvSpPr>
          <p:cNvPr id="56" name="Text 44"/>
          <p:cNvSpPr/>
          <p:nvPr/>
        </p:nvSpPr>
        <p:spPr>
          <a:xfrm>
            <a:off x="4543425" y="3597185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Dropout: 과적합 억제 (0.1~0.2 비율 적용)</a:t>
            </a:r>
            <a:endParaRPr lang="en-US" sz="800" dirty="0"/>
          </a:p>
        </p:txBody>
      </p:sp>
      <p:sp>
        <p:nvSpPr>
          <p:cNvPr id="57" name="Text 45"/>
          <p:cNvSpPr/>
          <p:nvPr/>
        </p:nvSpPr>
        <p:spPr>
          <a:xfrm>
            <a:off x="4543425" y="3382873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58" name="Text 46"/>
          <p:cNvSpPr/>
          <p:nvPr/>
        </p:nvSpPr>
        <p:spPr>
          <a:xfrm>
            <a:off x="4543425" y="3597185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59" name="Text 47"/>
          <p:cNvSpPr/>
          <p:nvPr/>
        </p:nvSpPr>
        <p:spPr>
          <a:xfrm>
            <a:off x="4371975" y="3925798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60" name="Text 48"/>
          <p:cNvSpPr/>
          <p:nvPr/>
        </p:nvSpPr>
        <p:spPr>
          <a:xfrm>
            <a:off x="4543425" y="3918654"/>
            <a:ext cx="136802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손실 함수 (Loss Function)</a:t>
            </a:r>
            <a:endParaRPr lang="en-US" sz="800" dirty="0"/>
          </a:p>
        </p:txBody>
      </p:sp>
      <p:sp>
        <p:nvSpPr>
          <p:cNvPr id="61" name="Text 49"/>
          <p:cNvSpPr/>
          <p:nvPr/>
        </p:nvSpPr>
        <p:spPr>
          <a:xfrm>
            <a:off x="4543425" y="4122948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Huber Loss (δ=1.0): 이상치(Outlier)에 강건한 특성</a:t>
            </a:r>
            <a:endParaRPr lang="en-US" sz="800" dirty="0"/>
          </a:p>
        </p:txBody>
      </p:sp>
      <p:sp>
        <p:nvSpPr>
          <p:cNvPr id="62" name="Text 50"/>
          <p:cNvSpPr/>
          <p:nvPr/>
        </p:nvSpPr>
        <p:spPr>
          <a:xfrm>
            <a:off x="4543425" y="4337261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MSE와 MAE의 절충안으로 주가 급등락 노이즈 완화</a:t>
            </a:r>
            <a:endParaRPr lang="en-US" sz="800" dirty="0"/>
          </a:p>
        </p:txBody>
      </p:sp>
      <p:sp>
        <p:nvSpPr>
          <p:cNvPr id="63" name="Text 51"/>
          <p:cNvSpPr/>
          <p:nvPr/>
        </p:nvSpPr>
        <p:spPr>
          <a:xfrm>
            <a:off x="4543425" y="4122948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64" name="Text 52"/>
          <p:cNvSpPr/>
          <p:nvPr/>
        </p:nvSpPr>
        <p:spPr>
          <a:xfrm>
            <a:off x="4543425" y="4337261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65" name="Text 53"/>
          <p:cNvSpPr/>
          <p:nvPr/>
        </p:nvSpPr>
        <p:spPr>
          <a:xfrm>
            <a:off x="4371975" y="4665873"/>
            <a:ext cx="51792" cy="1371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6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600" dirty="0"/>
          </a:p>
        </p:txBody>
      </p:sp>
      <p:sp>
        <p:nvSpPr>
          <p:cNvPr id="66" name="Text 54"/>
          <p:cNvSpPr/>
          <p:nvPr/>
        </p:nvSpPr>
        <p:spPr>
          <a:xfrm>
            <a:off x="4543425" y="4658730"/>
            <a:ext cx="6000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 최적화</a:t>
            </a:r>
            <a:endParaRPr lang="en-US" sz="800" dirty="0"/>
          </a:p>
        </p:txBody>
      </p:sp>
      <p:sp>
        <p:nvSpPr>
          <p:cNvPr id="67" name="Text 55"/>
          <p:cNvSpPr/>
          <p:nvPr/>
        </p:nvSpPr>
        <p:spPr>
          <a:xfrm>
            <a:off x="4543425" y="4863024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총 파라미터: 134,817개</a:t>
            </a:r>
            <a:endParaRPr lang="en-US" sz="800" dirty="0"/>
          </a:p>
        </p:txBody>
      </p:sp>
      <p:sp>
        <p:nvSpPr>
          <p:cNvPr id="68" name="Text 56"/>
          <p:cNvSpPr/>
          <p:nvPr/>
        </p:nvSpPr>
        <p:spPr>
          <a:xfrm>
            <a:off x="4543425" y="5077337"/>
            <a:ext cx="3814763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6C75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Stopping (patience=7) 적용으로 최적 에포크 탐색</a:t>
            </a:r>
            <a:endParaRPr lang="en-US" sz="800" dirty="0"/>
          </a:p>
        </p:txBody>
      </p:sp>
      <p:sp>
        <p:nvSpPr>
          <p:cNvPr id="69" name="Text 57"/>
          <p:cNvSpPr/>
          <p:nvPr/>
        </p:nvSpPr>
        <p:spPr>
          <a:xfrm>
            <a:off x="6847284" y="4793456"/>
            <a:ext cx="172521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10 / 17</a:t>
            </a:r>
            <a:endParaRPr lang="en-US" sz="750" dirty="0"/>
          </a:p>
        </p:txBody>
      </p:sp>
      <p:sp>
        <p:nvSpPr>
          <p:cNvPr id="70" name="Text 58"/>
          <p:cNvSpPr/>
          <p:nvPr/>
        </p:nvSpPr>
        <p:spPr>
          <a:xfrm>
            <a:off x="4543425" y="4863024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71" name="Text 59"/>
          <p:cNvSpPr/>
          <p:nvPr/>
        </p:nvSpPr>
        <p:spPr>
          <a:xfrm>
            <a:off x="4543425" y="5077337"/>
            <a:ext cx="1071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하이퍼파라미터 탐색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Search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294805"/>
            <a:ext cx="128588" cy="1285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1525" y="1273373"/>
            <a:ext cx="251817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343A4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9개 모델의 최적 파라미터를 실험을 통해 결정</a:t>
            </a:r>
            <a:endParaRPr lang="en-US" sz="950" dirty="0"/>
          </a:p>
        </p:txBody>
      </p:sp>
      <p:sp>
        <p:nvSpPr>
          <p:cNvPr id="7" name="Shape 3"/>
          <p:cNvSpPr/>
          <p:nvPr/>
        </p:nvSpPr>
        <p:spPr>
          <a:xfrm>
            <a:off x="571500" y="1659136"/>
            <a:ext cx="2552691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4"/>
          <p:cNvSpPr/>
          <p:nvPr/>
        </p:nvSpPr>
        <p:spPr>
          <a:xfrm>
            <a:off x="571500" y="1659136"/>
            <a:ext cx="2552691" cy="28575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571500" y="1659136"/>
            <a:ext cx="2552691" cy="67329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1500" y="2325291"/>
            <a:ext cx="2552691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714375" y="1802011"/>
            <a:ext cx="226694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LSTM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14375" y="2037755"/>
            <a:ext cx="226694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은닉 유닛 수 (Hidden Units)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685800" y="2439591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685800" y="2439591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800100" y="2525316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 유닛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800100" y="2739628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val_loss 수렴 느림, 과소적합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85800" y="3051079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685800" y="3051079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800100" y="3136804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유닛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800100" y="3351116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안정적이나 표현력 제한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685800" y="3662567"/>
            <a:ext cx="2324091" cy="525763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685800" y="3662567"/>
            <a:ext cx="21431" cy="525763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800100" y="3769723"/>
            <a:ext cx="6430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 유닛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71" y="3789369"/>
            <a:ext cx="112514" cy="100013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00100" y="3962605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최소 val_loss 달성 (선택)</a:t>
            </a:r>
            <a:endParaRPr lang="en-US" sz="700" dirty="0"/>
          </a:p>
        </p:txBody>
      </p:sp>
      <p:sp>
        <p:nvSpPr>
          <p:cNvPr id="26" name="Shape 21"/>
          <p:cNvSpPr/>
          <p:nvPr/>
        </p:nvSpPr>
        <p:spPr>
          <a:xfrm>
            <a:off x="685800" y="4274055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685800" y="4274055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8" name="Text 23"/>
          <p:cNvSpPr/>
          <p:nvPr/>
        </p:nvSpPr>
        <p:spPr>
          <a:xfrm>
            <a:off x="800100" y="4359780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256 유닛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800100" y="4574093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과적합 경향, 학습 시간 2×</a:t>
            </a:r>
            <a:endParaRPr lang="en-US" sz="750" dirty="0"/>
          </a:p>
        </p:txBody>
      </p:sp>
      <p:sp>
        <p:nvSpPr>
          <p:cNvPr id="30" name="Shape 25"/>
          <p:cNvSpPr/>
          <p:nvPr/>
        </p:nvSpPr>
        <p:spPr>
          <a:xfrm>
            <a:off x="3295641" y="1659136"/>
            <a:ext cx="2552691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Shape 26"/>
          <p:cNvSpPr/>
          <p:nvPr/>
        </p:nvSpPr>
        <p:spPr>
          <a:xfrm>
            <a:off x="3295641" y="1659136"/>
            <a:ext cx="2552691" cy="28575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2" name="Shape 27"/>
          <p:cNvSpPr/>
          <p:nvPr/>
        </p:nvSpPr>
        <p:spPr>
          <a:xfrm>
            <a:off x="3295641" y="1659136"/>
            <a:ext cx="2552691" cy="67329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3" name="Shape 28"/>
          <p:cNvSpPr/>
          <p:nvPr/>
        </p:nvSpPr>
        <p:spPr>
          <a:xfrm>
            <a:off x="3295641" y="2325291"/>
            <a:ext cx="2552691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4" name="Text 29"/>
          <p:cNvSpPr/>
          <p:nvPr/>
        </p:nvSpPr>
        <p:spPr>
          <a:xfrm>
            <a:off x="3438516" y="1802011"/>
            <a:ext cx="226694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3438516" y="2037755"/>
            <a:ext cx="226694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트리 수 (n_estimators)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3409941" y="2439591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7" name="Shape 32"/>
          <p:cNvSpPr/>
          <p:nvPr/>
        </p:nvSpPr>
        <p:spPr>
          <a:xfrm>
            <a:off x="3409941" y="2439591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8" name="Text 33"/>
          <p:cNvSpPr/>
          <p:nvPr/>
        </p:nvSpPr>
        <p:spPr>
          <a:xfrm>
            <a:off x="3524241" y="2525316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그루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3524241" y="2739628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 높음, 분산 큼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3409941" y="3051079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1" name="Shape 36"/>
          <p:cNvSpPr/>
          <p:nvPr/>
        </p:nvSpPr>
        <p:spPr>
          <a:xfrm>
            <a:off x="3409941" y="3051079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2" name="Text 37"/>
          <p:cNvSpPr/>
          <p:nvPr/>
        </p:nvSpPr>
        <p:spPr>
          <a:xfrm>
            <a:off x="3524241" y="3136804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그루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3524241" y="3351116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 감소 뚜렷</a:t>
            </a:r>
            <a:endParaRPr lang="en-US" sz="750" dirty="0"/>
          </a:p>
        </p:txBody>
      </p:sp>
      <p:sp>
        <p:nvSpPr>
          <p:cNvPr id="44" name="Shape 39"/>
          <p:cNvSpPr/>
          <p:nvPr/>
        </p:nvSpPr>
        <p:spPr>
          <a:xfrm>
            <a:off x="3409941" y="3662567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5" name="Shape 40"/>
          <p:cNvSpPr/>
          <p:nvPr/>
        </p:nvSpPr>
        <p:spPr>
          <a:xfrm>
            <a:off x="3409941" y="3662567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6" name="Text 41"/>
          <p:cNvSpPr/>
          <p:nvPr/>
        </p:nvSpPr>
        <p:spPr>
          <a:xfrm>
            <a:off x="3524241" y="3748292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그루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3524241" y="3962605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elbow point 도달</a:t>
            </a:r>
            <a:endParaRPr lang="en-US" sz="750" dirty="0"/>
          </a:p>
        </p:txBody>
      </p:sp>
      <p:sp>
        <p:nvSpPr>
          <p:cNvPr id="48" name="Shape 43"/>
          <p:cNvSpPr/>
          <p:nvPr/>
        </p:nvSpPr>
        <p:spPr>
          <a:xfrm>
            <a:off x="3409941" y="4274055"/>
            <a:ext cx="2324091" cy="525763"/>
          </a:xfrm>
          <a:prstGeom prst="rect">
            <a:avLst/>
          </a:prstGeom>
          <a:solidFill>
            <a:srgbClr val="FF9900">
              <a:alpha val="5000"/>
            </a:srgbClr>
          </a:solidFill>
          <a:ln/>
        </p:spPr>
        <p:txBody>
          <a:bodyPr/>
          <a:p/>
        </p:txBody>
      </p:sp>
      <p:sp>
        <p:nvSpPr>
          <p:cNvPr id="49" name="Shape 44"/>
          <p:cNvSpPr/>
          <p:nvPr/>
        </p:nvSpPr>
        <p:spPr>
          <a:xfrm>
            <a:off x="3409941" y="4274055"/>
            <a:ext cx="21431" cy="525763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0" name="Text 45"/>
          <p:cNvSpPr/>
          <p:nvPr/>
        </p:nvSpPr>
        <p:spPr>
          <a:xfrm>
            <a:off x="3524241" y="4381212"/>
            <a:ext cx="64302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그루</a:t>
            </a:r>
            <a:endParaRPr lang="en-US" sz="900" dirty="0"/>
          </a:p>
        </p:txBody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4412" y="4400857"/>
            <a:ext cx="112514" cy="100013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3524241" y="4574093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MAE 포화, 시간 효율 최적</a:t>
            </a:r>
            <a:endParaRPr lang="en-US" sz="700" dirty="0"/>
          </a:p>
        </p:txBody>
      </p:sp>
      <p:sp>
        <p:nvSpPr>
          <p:cNvPr id="53" name="Shape 47"/>
          <p:cNvSpPr/>
          <p:nvPr/>
        </p:nvSpPr>
        <p:spPr>
          <a:xfrm>
            <a:off x="3409941" y="4885544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4" name="Shape 48"/>
          <p:cNvSpPr/>
          <p:nvPr/>
        </p:nvSpPr>
        <p:spPr>
          <a:xfrm>
            <a:off x="3409941" y="4885544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5" name="Text 49"/>
          <p:cNvSpPr/>
          <p:nvPr/>
        </p:nvSpPr>
        <p:spPr>
          <a:xfrm>
            <a:off x="3524241" y="4971269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그루</a:t>
            </a:r>
            <a:endParaRPr lang="en-US" sz="900" dirty="0"/>
          </a:p>
        </p:txBody>
      </p:sp>
      <p:sp>
        <p:nvSpPr>
          <p:cNvPr id="56" name="Text 50"/>
          <p:cNvSpPr/>
          <p:nvPr/>
        </p:nvSpPr>
        <p:spPr>
          <a:xfrm>
            <a:off x="3524241" y="5185581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성능 미미한 개선 (+0.1%), 시간 2×</a:t>
            </a:r>
            <a:endParaRPr lang="en-US" sz="750" dirty="0"/>
          </a:p>
        </p:txBody>
      </p:sp>
      <p:sp>
        <p:nvSpPr>
          <p:cNvPr id="57" name="Shape 51"/>
          <p:cNvSpPr/>
          <p:nvPr/>
        </p:nvSpPr>
        <p:spPr>
          <a:xfrm>
            <a:off x="6019781" y="1659136"/>
            <a:ext cx="2552691" cy="30003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Shape 52"/>
          <p:cNvSpPr/>
          <p:nvPr/>
        </p:nvSpPr>
        <p:spPr>
          <a:xfrm>
            <a:off x="6019781" y="1659136"/>
            <a:ext cx="2552691" cy="28575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59" name="Shape 53"/>
          <p:cNvSpPr/>
          <p:nvPr/>
        </p:nvSpPr>
        <p:spPr>
          <a:xfrm>
            <a:off x="6019781" y="1659136"/>
            <a:ext cx="2552691" cy="673298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60" name="Shape 54"/>
          <p:cNvSpPr/>
          <p:nvPr/>
        </p:nvSpPr>
        <p:spPr>
          <a:xfrm>
            <a:off x="6019781" y="2325291"/>
            <a:ext cx="2552691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61" name="Text 55"/>
          <p:cNvSpPr/>
          <p:nvPr/>
        </p:nvSpPr>
        <p:spPr>
          <a:xfrm>
            <a:off x="6162656" y="1802011"/>
            <a:ext cx="226694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XGBoost</a:t>
            </a:r>
            <a:endParaRPr lang="en-US" sz="1200" dirty="0"/>
          </a:p>
        </p:txBody>
      </p:sp>
      <p:sp>
        <p:nvSpPr>
          <p:cNvPr id="62" name="Text 56"/>
          <p:cNvSpPr/>
          <p:nvPr/>
        </p:nvSpPr>
        <p:spPr>
          <a:xfrm>
            <a:off x="6162656" y="2037755"/>
            <a:ext cx="2266941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부스팅 라운드 (n_estimators)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6134081" y="2439591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64" name="Shape 58"/>
          <p:cNvSpPr/>
          <p:nvPr/>
        </p:nvSpPr>
        <p:spPr>
          <a:xfrm>
            <a:off x="6134081" y="2439591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65" name="Text 59"/>
          <p:cNvSpPr/>
          <p:nvPr/>
        </p:nvSpPr>
        <p:spPr>
          <a:xfrm>
            <a:off x="6248381" y="2525316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라운드</a:t>
            </a:r>
            <a:endParaRPr lang="en-US" sz="900" dirty="0"/>
          </a:p>
        </p:txBody>
      </p:sp>
      <p:sp>
        <p:nvSpPr>
          <p:cNvPr id="66" name="Text 60"/>
          <p:cNvSpPr/>
          <p:nvPr/>
        </p:nvSpPr>
        <p:spPr>
          <a:xfrm>
            <a:off x="6248381" y="2739628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조기종료 없음, 과소학습</a:t>
            </a:r>
            <a:endParaRPr lang="en-US" sz="750" dirty="0"/>
          </a:p>
        </p:txBody>
      </p:sp>
      <p:sp>
        <p:nvSpPr>
          <p:cNvPr id="67" name="Shape 61"/>
          <p:cNvSpPr/>
          <p:nvPr/>
        </p:nvSpPr>
        <p:spPr>
          <a:xfrm>
            <a:off x="6134081" y="3051079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68" name="Shape 62"/>
          <p:cNvSpPr/>
          <p:nvPr/>
        </p:nvSpPr>
        <p:spPr>
          <a:xfrm>
            <a:off x="6134081" y="3051079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69" name="Text 63"/>
          <p:cNvSpPr/>
          <p:nvPr/>
        </p:nvSpPr>
        <p:spPr>
          <a:xfrm>
            <a:off x="6248381" y="3136804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 라운드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6248381" y="3351116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Stopping 작동</a:t>
            </a:r>
            <a:endParaRPr lang="en-US" sz="750" dirty="0"/>
          </a:p>
        </p:txBody>
      </p:sp>
      <p:sp>
        <p:nvSpPr>
          <p:cNvPr id="71" name="Shape 65"/>
          <p:cNvSpPr/>
          <p:nvPr/>
        </p:nvSpPr>
        <p:spPr>
          <a:xfrm>
            <a:off x="6134081" y="3662567"/>
            <a:ext cx="2324091" cy="525763"/>
          </a:xfrm>
          <a:prstGeom prst="rect">
            <a:avLst/>
          </a:prstGeom>
          <a:solidFill>
            <a:srgbClr val="00C9A7">
              <a:alpha val="5000"/>
            </a:srgbClr>
          </a:solidFill>
          <a:ln/>
        </p:spPr>
        <p:txBody>
          <a:bodyPr/>
          <a:p/>
        </p:txBody>
      </p:sp>
      <p:sp>
        <p:nvSpPr>
          <p:cNvPr id="72" name="Shape 66"/>
          <p:cNvSpPr/>
          <p:nvPr/>
        </p:nvSpPr>
        <p:spPr>
          <a:xfrm>
            <a:off x="6134081" y="3662567"/>
            <a:ext cx="21431" cy="525763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73" name="Text 67"/>
          <p:cNvSpPr/>
          <p:nvPr/>
        </p:nvSpPr>
        <p:spPr>
          <a:xfrm>
            <a:off x="6248381" y="3769723"/>
            <a:ext cx="77160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라운드</a:t>
            </a:r>
            <a:endParaRPr lang="en-US" sz="900" dirty="0"/>
          </a:p>
        </p:txBody>
      </p:sp>
      <p:pic>
        <p:nvPicPr>
          <p:cNvPr id="7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7140" y="3789369"/>
            <a:ext cx="112514" cy="100013"/>
          </a:xfrm>
          <a:prstGeom prst="rect">
            <a:avLst/>
          </a:prstGeom>
        </p:spPr>
      </p:pic>
      <p:sp>
        <p:nvSpPr>
          <p:cNvPr id="75" name="Text 68"/>
          <p:cNvSpPr/>
          <p:nvPr/>
        </p:nvSpPr>
        <p:spPr>
          <a:xfrm>
            <a:off x="6248381" y="3962605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최적 라운드 ~350에서 수렴</a:t>
            </a:r>
            <a:endParaRPr lang="en-US" sz="700" dirty="0"/>
          </a:p>
        </p:txBody>
      </p:sp>
      <p:sp>
        <p:nvSpPr>
          <p:cNvPr id="76" name="Shape 69"/>
          <p:cNvSpPr/>
          <p:nvPr/>
        </p:nvSpPr>
        <p:spPr>
          <a:xfrm>
            <a:off x="6134081" y="4274055"/>
            <a:ext cx="2324091" cy="52576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77" name="Shape 70"/>
          <p:cNvSpPr/>
          <p:nvPr/>
        </p:nvSpPr>
        <p:spPr>
          <a:xfrm>
            <a:off x="6134081" y="4274055"/>
            <a:ext cx="21431" cy="525763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78" name="Text 71"/>
          <p:cNvSpPr/>
          <p:nvPr/>
        </p:nvSpPr>
        <p:spPr>
          <a:xfrm>
            <a:off x="6248381" y="4359780"/>
            <a:ext cx="209549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700 라운드</a:t>
            </a:r>
            <a:endParaRPr lang="en-US" sz="900" dirty="0"/>
          </a:p>
        </p:txBody>
      </p:sp>
      <p:sp>
        <p:nvSpPr>
          <p:cNvPr id="79" name="Text 72"/>
          <p:cNvSpPr/>
          <p:nvPr/>
        </p:nvSpPr>
        <p:spPr>
          <a:xfrm>
            <a:off x="6248381" y="4574093"/>
            <a:ext cx="2095491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조기종료 → 실사용 350라운드</a:t>
            </a:r>
            <a:endParaRPr lang="en-US" sz="750" dirty="0"/>
          </a:p>
        </p:txBody>
      </p:sp>
      <p:sp>
        <p:nvSpPr>
          <p:cNvPr id="80" name="Text 73"/>
          <p:cNvSpPr/>
          <p:nvPr/>
        </p:nvSpPr>
        <p:spPr>
          <a:xfrm>
            <a:off x="6868716" y="4793456"/>
            <a:ext cx="170378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11 / 17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04 모델 성능 비교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Performance Comparison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259086"/>
            <a:ext cx="800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학습 데이터(2019-2024) 기반 테스트셋 평가 결과 (9개 모델) (9개 모델) (9개 모델)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71500" y="1473398"/>
            <a:ext cx="8001000" cy="12930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85788" y="1473398"/>
            <a:ext cx="1996678" cy="321469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85788" y="1780580"/>
            <a:ext cx="1996678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85788" y="1473398"/>
            <a:ext cx="1996678" cy="321469"/>
          </a:xfrm>
          <a:prstGeom prst="rect">
            <a:avLst/>
          </a:prstGeom>
          <a:noFill/>
          <a:ln/>
        </p:spPr>
        <p:txBody>
          <a:bodyPr wrap="square" lIns="170053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모델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82466" y="1473398"/>
            <a:ext cx="1597326" cy="321469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582466" y="1780580"/>
            <a:ext cx="1597326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582466" y="1473398"/>
            <a:ext cx="1597326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MAE (%)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179791" y="1473398"/>
            <a:ext cx="1597326" cy="321469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179791" y="1780580"/>
            <a:ext cx="1597326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179791" y="1473398"/>
            <a:ext cx="1597326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RMSE (%)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77117" y="1473398"/>
            <a:ext cx="1597326" cy="321469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777117" y="1780580"/>
            <a:ext cx="1597326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5777117" y="1473398"/>
            <a:ext cx="1597326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방향 정확도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374443" y="1473398"/>
            <a:ext cx="1198057" cy="321469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7374443" y="1780580"/>
            <a:ext cx="1198057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374443" y="1473398"/>
            <a:ext cx="1198057" cy="321469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 시간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85788" y="1787723"/>
            <a:ext cx="7986713" cy="317897"/>
          </a:xfrm>
          <a:prstGeom prst="rect">
            <a:avLst/>
          </a:prstGeom>
          <a:solidFill>
            <a:srgbClr val="3366CC">
              <a:alpha val="5000"/>
            </a:srgbClr>
          </a:solidFill>
          <a:ln/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585788" y="1787723"/>
            <a:ext cx="28575" cy="317897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14375" y="1866444"/>
            <a:ext cx="39112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LSTM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162645" y="1889382"/>
            <a:ext cx="303609" cy="133945"/>
          </a:xfrm>
          <a:prstGeom prst="round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162645" y="1889382"/>
            <a:ext cx="303609" cy="133945"/>
          </a:xfrm>
          <a:prstGeom prst="rect">
            <a:avLst/>
          </a:prstGeom>
          <a:noFill/>
          <a:ln/>
        </p:spPr>
        <p:txBody>
          <a:bodyPr wrap="none" lIns="68072" tIns="17018" rIns="68072" bIns="17018" rtlCol="0" anchor="ctr">
            <a:sp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Best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2571750" y="1787723"/>
            <a:ext cx="1600200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2.8 ~ 3.5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171950" y="1787723"/>
            <a:ext cx="1600200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 ~ 5.2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772150" y="1787723"/>
            <a:ext cx="1600200" cy="317897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~ 54 %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372350" y="1787723"/>
            <a:ext cx="1200150" cy="317897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366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~15분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1500" y="2105620"/>
            <a:ext cx="2000250" cy="321469"/>
          </a:xfrm>
          <a:prstGeom prst="rect">
            <a:avLst/>
          </a:prstGeom>
          <a:noFill/>
          <a:ln/>
        </p:spPr>
        <p:txBody>
          <a:bodyPr wrap="square" lIns="170053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571750" y="2105620"/>
            <a:ext cx="1600200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~ 3.8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171950" y="2105620"/>
            <a:ext cx="1600200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 ~ 5.5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772150" y="2105620"/>
            <a:ext cx="1600200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~ 53 %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372350" y="2105620"/>
            <a:ext cx="1200150" cy="321469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~30초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71500" y="2427089"/>
            <a:ext cx="2000250" cy="321469"/>
          </a:xfrm>
          <a:prstGeom prst="rect">
            <a:avLst/>
          </a:prstGeom>
          <a:noFill/>
          <a:ln/>
        </p:spPr>
        <p:txBody>
          <a:bodyPr wrap="square" lIns="170053" tIns="85090" rIns="102108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43A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XGBoost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2571750" y="2427089"/>
            <a:ext cx="1600200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~ 3.7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171950" y="2427089"/>
            <a:ext cx="1600200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~ 5.3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5772150" y="2427089"/>
            <a:ext cx="1600200" cy="321469"/>
          </a:xfrm>
          <a:prstGeom prst="rect">
            <a:avLst/>
          </a:prstGeom>
          <a:noFill/>
          <a:ln/>
        </p:spPr>
        <p:txBody>
          <a:bodyPr wrap="squar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~ 53 %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372350" y="2427089"/>
            <a:ext cx="1200150" cy="321469"/>
          </a:xfrm>
          <a:prstGeom prst="rect">
            <a:avLst/>
          </a:prstGeom>
          <a:noFill/>
          <a:ln/>
        </p:spPr>
        <p:txBody>
          <a:bodyPr wrap="none" lIns="102108" tIns="85090" rIns="102108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950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~45초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71500" y="2837855"/>
            <a:ext cx="8001000" cy="149404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Shape 39"/>
          <p:cNvSpPr/>
          <p:nvPr/>
        </p:nvSpPr>
        <p:spPr>
          <a:xfrm>
            <a:off x="571500" y="2837855"/>
            <a:ext cx="8001000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2979837"/>
            <a:ext cx="117872" cy="157163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903684" y="2952155"/>
            <a:ext cx="9804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주요 인사이트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714375" y="3250406"/>
            <a:ext cx="7715250" cy="18286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방향 정확도 50~54%: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세 모델 모두 랜덤(50%) 대비 소폭 우위 → </a:t>
            </a: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단기 주가 예측의 근본적 어려움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을 시사</a:t>
            </a:r>
            <a:endParaRPr lang="en-US" sz="850" dirty="0"/>
          </a:p>
        </p:txBody>
      </p:sp>
      <p:sp>
        <p:nvSpPr>
          <p:cNvPr id="46" name="Text 42"/>
          <p:cNvSpPr/>
          <p:nvPr/>
        </p:nvSpPr>
        <p:spPr>
          <a:xfrm>
            <a:off x="714375" y="3504707"/>
            <a:ext cx="7715250" cy="18286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LSTM의 우위: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시퀀스 전체를 활용해 가장 낮은 MAE를 기록하여 </a:t>
            </a: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시간적 패턴 학습 효과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를 입증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714375" y="3759008"/>
            <a:ext cx="7715250" cy="18286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트리 기반 모델의 효율성: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RF와 XGB는 학습이 수십 초로 빠르며 특성 중요도 해석이 가능하여 빠른 실험·탐색에 유리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714375" y="4013309"/>
            <a:ext cx="7715250" cy="182863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주요 특성: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XGBoost 특성 중요도 상위 3개는 </a:t>
            </a: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거래량 비율(Volume_Ratio), RSI, MACD_Signal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로 나타남</a:t>
            </a:r>
            <a:endParaRPr lang="en-US" sz="850" dirty="0"/>
          </a:p>
        </p:txBody>
      </p:sp>
      <p:sp>
        <p:nvSpPr>
          <p:cNvPr id="49" name="Text 45"/>
          <p:cNvSpPr/>
          <p:nvPr/>
        </p:nvSpPr>
        <p:spPr>
          <a:xfrm>
            <a:off x="6849070" y="4793456"/>
            <a:ext cx="1723430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12 / 17</a:t>
            </a:r>
            <a:endParaRPr lang="en-US" sz="750" dirty="0"/>
          </a:p>
        </p:txBody>
      </p:sp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3264694"/>
            <a:ext cx="85725" cy="182863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3518995"/>
            <a:ext cx="85725" cy="182863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773295"/>
            <a:ext cx="85725" cy="182863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027596"/>
            <a:ext cx="85725" cy="18286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05 2025년 실전 검증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Out-of-Sample Validation (2025)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187648"/>
            <a:ext cx="800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학습에 사용되지 않은 2025년 데이터로 일반화 성능 측정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71500" y="1501973"/>
            <a:ext cx="8001000" cy="104120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571500" y="1501973"/>
            <a:ext cx="8001000" cy="214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641277"/>
            <a:ext cx="107156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681" y="1616273"/>
            <a:ext cx="6054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검증 설계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14375" y="1866305"/>
            <a:ext cx="514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 기간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300163" y="1866305"/>
            <a:ext cx="13037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2019-01-02 ~ 2024-12-31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4614863" y="1866305"/>
            <a:ext cx="514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검증 기간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200650" y="1866305"/>
            <a:ext cx="9554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2025-01-02 ~ 현재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714375" y="2107406"/>
            <a:ext cx="514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검증 종목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300163" y="2107406"/>
            <a:ext cx="143768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학습에 사용된 20개 대형주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6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(삼성전자, SK하이닉스, 현대차 등)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14863" y="2107406"/>
            <a:ext cx="514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366CC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입력/타깃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200650" y="2107406"/>
            <a:ext cx="18966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입력: 2025년 각 거래일 기준 직전 60일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타깃: 5거래일 후 실제 등락률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71500" y="2636044"/>
            <a:ext cx="3800475" cy="146089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571500" y="2636044"/>
            <a:ext cx="850748" cy="457200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20" name="Shape 16"/>
          <p:cNvSpPr/>
          <p:nvPr/>
        </p:nvSpPr>
        <p:spPr>
          <a:xfrm>
            <a:off x="571500" y="3086100"/>
            <a:ext cx="850748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1" name="Text 17"/>
          <p:cNvSpPr/>
          <p:nvPr/>
        </p:nvSpPr>
        <p:spPr>
          <a:xfrm>
            <a:off x="571500" y="2636044"/>
            <a:ext cx="850748" cy="457200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MAE 비교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422248" y="2636044"/>
            <a:ext cx="903126" cy="457200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23" name="Shape 19"/>
          <p:cNvSpPr/>
          <p:nvPr/>
        </p:nvSpPr>
        <p:spPr>
          <a:xfrm>
            <a:off x="1422248" y="3086100"/>
            <a:ext cx="903126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4" name="Text 20"/>
          <p:cNvSpPr/>
          <p:nvPr/>
        </p:nvSpPr>
        <p:spPr>
          <a:xfrm>
            <a:off x="1422248" y="2636044"/>
            <a:ext cx="903126" cy="457200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학습셋 (2019-2024)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2325374" y="2636044"/>
            <a:ext cx="1156925" cy="457200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26" name="Shape 22"/>
          <p:cNvSpPr/>
          <p:nvPr/>
        </p:nvSpPr>
        <p:spPr>
          <a:xfrm>
            <a:off x="2325374" y="3086100"/>
            <a:ext cx="1156925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27" name="Text 23"/>
          <p:cNvSpPr/>
          <p:nvPr/>
        </p:nvSpPr>
        <p:spPr>
          <a:xfrm>
            <a:off x="2325374" y="2636044"/>
            <a:ext cx="1156925" cy="457200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2025 실전 (Out-of-Sample)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3482299" y="2636044"/>
            <a:ext cx="889676" cy="457200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29" name="Shape 25"/>
          <p:cNvSpPr/>
          <p:nvPr/>
        </p:nvSpPr>
        <p:spPr>
          <a:xfrm>
            <a:off x="3482299" y="3086100"/>
            <a:ext cx="889676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0" name="Text 26"/>
          <p:cNvSpPr/>
          <p:nvPr/>
        </p:nvSpPr>
        <p:spPr>
          <a:xfrm>
            <a:off x="3482299" y="2636044"/>
            <a:ext cx="889676" cy="457200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차이 (과적합 지표)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571500" y="3089672"/>
            <a:ext cx="850748" cy="283964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</a:t>
            </a:r>
            <a:endParaRPr lang="en-US" sz="800" dirty="0"/>
          </a:p>
        </p:txBody>
      </p:sp>
      <p:sp>
        <p:nvSpPr>
          <p:cNvPr id="32" name="Text 28"/>
          <p:cNvSpPr/>
          <p:nvPr/>
        </p:nvSpPr>
        <p:spPr>
          <a:xfrm>
            <a:off x="1422248" y="3089672"/>
            <a:ext cx="903126" cy="283964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2325374" y="3089672"/>
            <a:ext cx="1156925" cy="283964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3482299" y="3089672"/>
            <a:ext cx="889676" cy="283964"/>
          </a:xfrm>
          <a:prstGeom prst="rect">
            <a:avLst/>
          </a:prstGeom>
          <a:solidFill>
            <a:srgbClr val="E67C73">
              <a:alpha val="5000"/>
            </a:srgbClr>
          </a:solidFill>
          <a:ln/>
        </p:spPr>
        <p:txBody>
          <a:bodyPr/>
          <a:p/>
        </p:txBody>
      </p:sp>
      <p:sp>
        <p:nvSpPr>
          <p:cNvPr id="35" name="Shape 31"/>
          <p:cNvSpPr/>
          <p:nvPr/>
        </p:nvSpPr>
        <p:spPr>
          <a:xfrm>
            <a:off x="3482299" y="3366492"/>
            <a:ext cx="889676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3482299" y="3089672"/>
            <a:ext cx="889676" cy="283964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+0.4%p</a:t>
            </a:r>
            <a:endParaRPr lang="en-US" sz="800" dirty="0"/>
          </a:p>
        </p:txBody>
      </p:sp>
      <p:sp>
        <p:nvSpPr>
          <p:cNvPr id="37" name="Text 33"/>
          <p:cNvSpPr/>
          <p:nvPr/>
        </p:nvSpPr>
        <p:spPr>
          <a:xfrm>
            <a:off x="571500" y="3373636"/>
            <a:ext cx="850748" cy="425053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Random Forest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1422248" y="3373636"/>
            <a:ext cx="903126" cy="425053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3.5%</a:t>
            </a:r>
            <a:endParaRPr lang="en-US" sz="850" dirty="0"/>
          </a:p>
        </p:txBody>
      </p:sp>
      <p:sp>
        <p:nvSpPr>
          <p:cNvPr id="39" name="Text 35"/>
          <p:cNvSpPr/>
          <p:nvPr/>
        </p:nvSpPr>
        <p:spPr>
          <a:xfrm>
            <a:off x="2325374" y="3373636"/>
            <a:ext cx="1156925" cy="425053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3.9%</a:t>
            </a:r>
            <a:endParaRPr lang="en-US" sz="850" dirty="0"/>
          </a:p>
        </p:txBody>
      </p:sp>
      <p:sp>
        <p:nvSpPr>
          <p:cNvPr id="40" name="Shape 36"/>
          <p:cNvSpPr/>
          <p:nvPr/>
        </p:nvSpPr>
        <p:spPr>
          <a:xfrm>
            <a:off x="3482299" y="3373636"/>
            <a:ext cx="889676" cy="425053"/>
          </a:xfrm>
          <a:prstGeom prst="rect">
            <a:avLst/>
          </a:prstGeom>
          <a:solidFill>
            <a:srgbClr val="E67C73">
              <a:alpha val="5000"/>
            </a:srgbClr>
          </a:solidFill>
          <a:ln/>
        </p:spPr>
        <p:txBody>
          <a:bodyPr/>
          <a:p/>
        </p:txBody>
      </p:sp>
      <p:sp>
        <p:nvSpPr>
          <p:cNvPr id="41" name="Shape 37"/>
          <p:cNvSpPr/>
          <p:nvPr/>
        </p:nvSpPr>
        <p:spPr>
          <a:xfrm>
            <a:off x="3482299" y="3791545"/>
            <a:ext cx="889676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3482299" y="3373636"/>
            <a:ext cx="889676" cy="425053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+0.4%p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571500" y="3798689"/>
            <a:ext cx="850748" cy="287536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XGBoost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1422248" y="3798689"/>
            <a:ext cx="903126" cy="287536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3.3%</a:t>
            </a:r>
            <a:endParaRPr lang="en-US" sz="850" dirty="0"/>
          </a:p>
        </p:txBody>
      </p:sp>
      <p:sp>
        <p:nvSpPr>
          <p:cNvPr id="45" name="Text 41"/>
          <p:cNvSpPr/>
          <p:nvPr/>
        </p:nvSpPr>
        <p:spPr>
          <a:xfrm>
            <a:off x="2325374" y="3798689"/>
            <a:ext cx="1156925" cy="287536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3.8%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3482299" y="3798689"/>
            <a:ext cx="889676" cy="287536"/>
          </a:xfrm>
          <a:prstGeom prst="rect">
            <a:avLst/>
          </a:prstGeom>
          <a:solidFill>
            <a:srgbClr val="E67C73">
              <a:alpha val="5000"/>
            </a:srgbClr>
          </a:solidFill>
          <a:ln/>
        </p:spPr>
        <p:txBody>
          <a:bodyPr/>
          <a:p/>
        </p:txBody>
      </p:sp>
      <p:sp>
        <p:nvSpPr>
          <p:cNvPr id="47" name="Shape 43"/>
          <p:cNvSpPr/>
          <p:nvPr/>
        </p:nvSpPr>
        <p:spPr>
          <a:xfrm>
            <a:off x="3482299" y="4079081"/>
            <a:ext cx="889676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3482299" y="3798689"/>
            <a:ext cx="889676" cy="287536"/>
          </a:xfrm>
          <a:prstGeom prst="rect">
            <a:avLst/>
          </a:prstGeom>
          <a:noFill/>
          <a:ln/>
        </p:spPr>
        <p:txBody>
          <a:bodyPr wrap="none" lIns="119126" tIns="85090" rIns="119126" bIns="85090" rtlCol="0" anchor="ctr">
            <a:sp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+0.5%p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4486275" y="2636044"/>
            <a:ext cx="4086225" cy="163234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" name="Shape 46"/>
          <p:cNvSpPr/>
          <p:nvPr/>
        </p:nvSpPr>
        <p:spPr>
          <a:xfrm>
            <a:off x="4486275" y="2636044"/>
            <a:ext cx="4086225" cy="21431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2775347"/>
            <a:ext cx="142875" cy="142875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829175" y="2750344"/>
            <a:ext cx="6054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발견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4629150" y="3028950"/>
            <a:ext cx="3800475" cy="3107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월별 방향 정확도:</a:t>
            </a:r>
            <a:r>
              <a:rPr lang="en-US" sz="8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2025년 1~4월 평균 50.3~52.8% 유지 → 학습 외 기간에서도 안정적 성능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4629150" y="3396853"/>
            <a:ext cx="3800475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과적합 수준:</a:t>
            </a:r>
            <a:r>
              <a:rPr lang="en-US" sz="8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학습셋 대비 MAE 증가폭 0.4~0.5%p → 과적합 크지 않음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4629150" y="3609380"/>
            <a:ext cx="3800475" cy="310753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외생 이벤트 취약성:</a:t>
            </a:r>
            <a:r>
              <a:rPr lang="en-US" sz="8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급변 구간에서 방향 정확도 일시 하락 → 구조적 이벤트에 취약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4629150" y="3977283"/>
            <a:ext cx="3800475" cy="155377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75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종목별 편차:</a:t>
            </a:r>
            <a:r>
              <a:rPr lang="en-US" sz="800" dirty="0">
                <a:solidFill>
                  <a:srgbClr val="343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삼성전자(LSTM 53.1%) / SK하이닉스(52.4%) 등 편차 존재</a:t>
            </a:r>
            <a:endParaRPr lang="en-US" sz="750" dirty="0"/>
          </a:p>
        </p:txBody>
      </p:sp>
      <p:sp>
        <p:nvSpPr>
          <p:cNvPr id="57" name="Text 52"/>
          <p:cNvSpPr/>
          <p:nvPr/>
        </p:nvSpPr>
        <p:spPr>
          <a:xfrm>
            <a:off x="6847284" y="4793456"/>
            <a:ext cx="172521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13 / 17</a:t>
            </a:r>
            <a:endParaRPr lang="en-US" sz="750" dirty="0"/>
          </a:p>
        </p:txBody>
      </p:sp>
      <p:pic>
        <p:nvPicPr>
          <p:cNvPr id="5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3043238"/>
            <a:ext cx="107156" cy="155377"/>
          </a:xfrm>
          <a:prstGeom prst="rect">
            <a:avLst/>
          </a:prstGeom>
        </p:spPr>
      </p:pic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150" y="3411141"/>
            <a:ext cx="107156" cy="155377"/>
          </a:xfrm>
          <a:prstGeom prst="rect">
            <a:avLst/>
          </a:prstGeom>
        </p:spPr>
      </p:pic>
      <p:pic>
        <p:nvPicPr>
          <p:cNvPr id="6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3623667"/>
            <a:ext cx="107156" cy="155377"/>
          </a:xfrm>
          <a:prstGeom prst="rect">
            <a:avLst/>
          </a:prstGeom>
        </p:spPr>
      </p:pic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9150" y="3991570"/>
            <a:ext cx="107156" cy="1553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06 백테스팅 결과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Backtesting Results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71500" y="1159073"/>
            <a:ext cx="800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기술적 지표 기반 매수/매도 신호 전략 성과 (2019-2024)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71500" y="1459111"/>
            <a:ext cx="1914525" cy="7108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571500" y="1459111"/>
            <a:ext cx="1914525" cy="28575"/>
          </a:xfrm>
          <a:prstGeom prst="rect">
            <a:avLst/>
          </a:prstGeom>
          <a:solidFill>
            <a:srgbClr val="00C9A7"/>
          </a:solidFill>
          <a:ln/>
        </p:spPr>
      </p:sp>
      <p:sp>
        <p:nvSpPr>
          <p:cNvPr id="8" name="Text 5"/>
          <p:cNvSpPr/>
          <p:nvPr/>
        </p:nvSpPr>
        <p:spPr>
          <a:xfrm>
            <a:off x="657225" y="1544836"/>
            <a:ext cx="174307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+8.2%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7225" y="1900238"/>
            <a:ext cx="17430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연평균 전략 수익률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600325" y="1459111"/>
            <a:ext cx="1914525" cy="7108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2600325" y="1459111"/>
            <a:ext cx="1914525" cy="28575"/>
          </a:xfrm>
          <a:prstGeom prst="rect">
            <a:avLst/>
          </a:prstGeom>
          <a:solidFill>
            <a:srgbClr val="8892B0"/>
          </a:solidFill>
          <a:ln/>
        </p:spPr>
      </p:sp>
      <p:sp>
        <p:nvSpPr>
          <p:cNvPr id="12" name="Text 9"/>
          <p:cNvSpPr/>
          <p:nvPr/>
        </p:nvSpPr>
        <p:spPr>
          <a:xfrm>
            <a:off x="2686050" y="1544836"/>
            <a:ext cx="174307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+6.1%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686050" y="1900238"/>
            <a:ext cx="17430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Buy-Hold 수익률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629150" y="1459111"/>
            <a:ext cx="1914525" cy="7108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629150" y="1459111"/>
            <a:ext cx="1914525" cy="28575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6" name="Text 13"/>
          <p:cNvSpPr/>
          <p:nvPr/>
        </p:nvSpPr>
        <p:spPr>
          <a:xfrm>
            <a:off x="4714875" y="1544836"/>
            <a:ext cx="174307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-18.4%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714875" y="1900238"/>
            <a:ext cx="174307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최대 낙폭 (MDD)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657975" y="1459111"/>
            <a:ext cx="1914525" cy="6929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6657975" y="1459111"/>
            <a:ext cx="1914525" cy="28575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20" name="Text 17"/>
          <p:cNvSpPr/>
          <p:nvPr/>
        </p:nvSpPr>
        <p:spPr>
          <a:xfrm>
            <a:off x="6743700" y="1544836"/>
            <a:ext cx="1743075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66C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0.71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743700" y="1900238"/>
            <a:ext cx="174307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6C757D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Sharpe Ratio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71500" y="2269927"/>
            <a:ext cx="3914775" cy="232707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83334"/>
            <a:ext cx="196453" cy="157163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53691" y="2355652"/>
            <a:ext cx="1017984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신호 생성 로직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96766"/>
            <a:ext cx="96441" cy="128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9391" y="2675334"/>
            <a:ext cx="16207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매수 조건 (Total_Score ≥ 2)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71525" y="2903934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RSI &lt; 30 (과매도 구간 진입)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771525" y="3096816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MACD 시그널 상향 돌파 (골든크로스)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771525" y="3289697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볼린저밴드 하단 근접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771525" y="3482578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20일 이동평균선 위에 위치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771525" y="2903934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771525" y="3096816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771525" y="3289697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771525" y="3482578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25466"/>
            <a:ext cx="96441" cy="128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39391" y="3704034"/>
            <a:ext cx="16779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매도 조건 (Total_Score ≤ -2)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771525" y="3932634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RSI &gt; 70 (과매수 구간 진입)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771525" y="4125516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MACD 시그널 하향 돌파 (데드크로스)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771525" y="4318397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볼린저밴드 상단 근접</a:t>
            </a:r>
            <a:endParaRPr lang="en-US" sz="800" dirty="0"/>
          </a:p>
        </p:txBody>
      </p:sp>
      <p:sp>
        <p:nvSpPr>
          <p:cNvPr id="40" name="Shape 34"/>
          <p:cNvSpPr/>
          <p:nvPr/>
        </p:nvSpPr>
        <p:spPr>
          <a:xfrm>
            <a:off x="4657725" y="2269927"/>
            <a:ext cx="3914775" cy="25574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771525" y="3932634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36"/>
          <p:cNvSpPr/>
          <p:nvPr/>
        </p:nvSpPr>
        <p:spPr>
          <a:xfrm>
            <a:off x="771525" y="4125516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771525" y="4318397"/>
            <a:ext cx="1071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800" dirty="0"/>
          </a:p>
        </p:txBody>
      </p:sp>
      <p:pic>
        <p:nvPicPr>
          <p:cNvPr id="4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025" y="2383334"/>
            <a:ext cx="176808" cy="157163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5020270" y="2355652"/>
            <a:ext cx="980480" cy="2125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스크리닝 결과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4772025" y="2675334"/>
            <a:ext cx="3686175" cy="2411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7" name="Shape 40"/>
          <p:cNvSpPr/>
          <p:nvPr/>
        </p:nvSpPr>
        <p:spPr>
          <a:xfrm>
            <a:off x="4772025" y="2675334"/>
            <a:ext cx="21431" cy="241102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48" name="Text 41"/>
          <p:cNvSpPr/>
          <p:nvPr/>
        </p:nvSpPr>
        <p:spPr>
          <a:xfrm>
            <a:off x="4772025" y="2675334"/>
            <a:ext cx="3686175" cy="241102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3A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전체 2,700여 종목 신호 집계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4857750" y="2959298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매수 신호: 약 58개 </a:t>
            </a: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(2.2%)</a:t>
            </a:r>
            <a:endParaRPr lang="en-US" sz="800" dirty="0"/>
          </a:p>
        </p:txBody>
      </p:sp>
      <p:sp>
        <p:nvSpPr>
          <p:cNvPr id="50" name="Text 43"/>
          <p:cNvSpPr/>
          <p:nvPr/>
        </p:nvSpPr>
        <p:spPr>
          <a:xfrm>
            <a:off x="4857750" y="3152180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매도 신호: 약 43개 </a:t>
            </a: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(1.6%)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4857750" y="3345061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중립: 나머지 </a:t>
            </a: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96.2%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4857750" y="2987873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53" name="Text 46"/>
          <p:cNvSpPr/>
          <p:nvPr/>
        </p:nvSpPr>
        <p:spPr>
          <a:xfrm>
            <a:off x="4857750" y="3180755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54" name="Text 47"/>
          <p:cNvSpPr/>
          <p:nvPr/>
        </p:nvSpPr>
        <p:spPr>
          <a:xfrm>
            <a:off x="4857750" y="3373636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55" name="Shape 48"/>
          <p:cNvSpPr/>
          <p:nvPr/>
        </p:nvSpPr>
        <p:spPr>
          <a:xfrm>
            <a:off x="4772025" y="3566517"/>
            <a:ext cx="3686175" cy="2411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6" name="Shape 49"/>
          <p:cNvSpPr/>
          <p:nvPr/>
        </p:nvSpPr>
        <p:spPr>
          <a:xfrm>
            <a:off x="4772025" y="3566517"/>
            <a:ext cx="21431" cy="241102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57" name="Text 50"/>
          <p:cNvSpPr/>
          <p:nvPr/>
        </p:nvSpPr>
        <p:spPr>
          <a:xfrm>
            <a:off x="4772025" y="3566517"/>
            <a:ext cx="3686175" cy="241102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3A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단일 종목 (삼성전자) 백테스팅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4857750" y="3850481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전략 누적 수익: Buy-Hold 대비 </a:t>
            </a: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+2.1%p</a:t>
            </a:r>
            <a:endParaRPr lang="en-US" sz="800" dirty="0"/>
          </a:p>
        </p:txBody>
      </p:sp>
      <p:sp>
        <p:nvSpPr>
          <p:cNvPr id="59" name="Text 52"/>
          <p:cNvSpPr/>
          <p:nvPr/>
        </p:nvSpPr>
        <p:spPr>
          <a:xfrm>
            <a:off x="4857750" y="4043363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승률: </a:t>
            </a: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54.3%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(총 거래 건수 47건)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4857750" y="3879056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61" name="Text 54"/>
          <p:cNvSpPr/>
          <p:nvPr/>
        </p:nvSpPr>
        <p:spPr>
          <a:xfrm>
            <a:off x="4857750" y="407193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  <p:sp>
        <p:nvSpPr>
          <p:cNvPr id="62" name="Shape 55"/>
          <p:cNvSpPr/>
          <p:nvPr/>
        </p:nvSpPr>
        <p:spPr>
          <a:xfrm>
            <a:off x="4772025" y="4264819"/>
            <a:ext cx="3686175" cy="241102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3" name="Shape 56"/>
          <p:cNvSpPr/>
          <p:nvPr/>
        </p:nvSpPr>
        <p:spPr>
          <a:xfrm>
            <a:off x="4772025" y="4264819"/>
            <a:ext cx="21431" cy="241102"/>
          </a:xfrm>
          <a:prstGeom prst="rect">
            <a:avLst/>
          </a:prstGeom>
          <a:solidFill>
            <a:srgbClr val="3366CC"/>
          </a:solidFill>
          <a:ln/>
        </p:spPr>
      </p:sp>
      <p:sp>
        <p:nvSpPr>
          <p:cNvPr id="64" name="Text 57"/>
          <p:cNvSpPr/>
          <p:nvPr/>
        </p:nvSpPr>
        <p:spPr>
          <a:xfrm>
            <a:off x="4772025" y="4264819"/>
            <a:ext cx="3686175" cy="241102"/>
          </a:xfrm>
          <a:prstGeom prst="rect">
            <a:avLst/>
          </a:prstGeom>
          <a:noFill/>
          <a:ln/>
        </p:spPr>
        <p:txBody>
          <a:bodyPr wrap="square" lIns="102108" tIns="51054" rIns="102108" bIns="51054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43A4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300종목 샘플 포트폴리오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4857750" y="4548783"/>
            <a:ext cx="3600450" cy="150019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KOSPI 지수 대비 초과수익 </a:t>
            </a: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+1.8%p</a:t>
            </a: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달성</a:t>
            </a:r>
            <a:endParaRPr lang="en-US" sz="800" dirty="0"/>
          </a:p>
        </p:txBody>
      </p:sp>
      <p:sp>
        <p:nvSpPr>
          <p:cNvPr id="66" name="Text 59"/>
          <p:cNvSpPr/>
          <p:nvPr/>
        </p:nvSpPr>
        <p:spPr>
          <a:xfrm>
            <a:off x="6845498" y="4864894"/>
            <a:ext cx="1727002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14 / 17</a:t>
            </a:r>
            <a:endParaRPr lang="en-US" sz="750" dirty="0"/>
          </a:p>
        </p:txBody>
      </p:sp>
      <p:sp>
        <p:nvSpPr>
          <p:cNvPr id="67" name="Text 60"/>
          <p:cNvSpPr/>
          <p:nvPr/>
        </p:nvSpPr>
        <p:spPr>
          <a:xfrm>
            <a:off x="4857750" y="4577358"/>
            <a:ext cx="43169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500" dirty="0">
                <a:solidFill>
                  <a:srgbClr val="3366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07 한계 및 개선 방향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821531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Future Work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344811"/>
            <a:ext cx="8001000" cy="1001520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71500" y="1344811"/>
            <a:ext cx="3644010" cy="98723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7" name="Shape 4"/>
          <p:cNvSpPr/>
          <p:nvPr/>
        </p:nvSpPr>
        <p:spPr>
          <a:xfrm>
            <a:off x="4208366" y="1344811"/>
            <a:ext cx="7144" cy="987233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3" y="1541264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0125" y="1516261"/>
            <a:ext cx="8893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2A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과적합 위험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85813" y="1794867"/>
            <a:ext cx="32114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 가격 및 거래량 데이터에만 의존하여 특정 시장 국면(상승장/하락장)의 패턴에 과적합될 위험이 존재함.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211575" y="1344811"/>
            <a:ext cx="713649" cy="98723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889" y="1738415"/>
            <a:ext cx="175022" cy="20002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925225" y="1344811"/>
            <a:ext cx="3647219" cy="987233"/>
          </a:xfrm>
          <a:prstGeom prst="rect">
            <a:avLst/>
          </a:prstGeom>
          <a:solidFill>
            <a:srgbClr val="F1F8FF"/>
          </a:solidFill>
          <a:ln/>
        </p:spPr>
      </p:sp>
      <p:sp>
        <p:nvSpPr>
          <p:cNvPr id="14" name="Shape 9"/>
          <p:cNvSpPr/>
          <p:nvPr/>
        </p:nvSpPr>
        <p:spPr>
          <a:xfrm>
            <a:off x="4925225" y="1344811"/>
            <a:ext cx="7144" cy="987233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0" y="1541264"/>
            <a:ext cx="142875" cy="14287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57813" y="1516261"/>
            <a:ext cx="10679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다양한 피처 추가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5143500" y="1794867"/>
            <a:ext cx="32146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거시경제 지표(금리, 환율), 산업별 인덱스, 글로벌 증시 동향 등 외부 변수를 모델 입력에 추가하여 강건성 확보.</a:t>
            </a:r>
            <a:endParaRPr lang="en-US" sz="850" dirty="0"/>
          </a:p>
        </p:txBody>
      </p:sp>
      <p:sp>
        <p:nvSpPr>
          <p:cNvPr id="18" name="Shape 12"/>
          <p:cNvSpPr/>
          <p:nvPr/>
        </p:nvSpPr>
        <p:spPr>
          <a:xfrm>
            <a:off x="571500" y="2503494"/>
            <a:ext cx="8001000" cy="1001520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71500" y="2503494"/>
            <a:ext cx="3644010" cy="98723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20" name="Shape 14"/>
          <p:cNvSpPr/>
          <p:nvPr/>
        </p:nvSpPr>
        <p:spPr>
          <a:xfrm>
            <a:off x="4208366" y="2503494"/>
            <a:ext cx="7144" cy="987233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813" y="2699947"/>
            <a:ext cx="107156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64406" y="2674944"/>
            <a:ext cx="7733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2A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정보 부재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785813" y="2953550"/>
            <a:ext cx="32114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재무제표(실적 발표), 기업 공시, 뉴스 등 주가에 결정적 영향을 미치는 펀더멘털 및 정성적 데이터가 누락됨.</a:t>
            </a:r>
            <a:endParaRPr lang="en-US" sz="850" dirty="0"/>
          </a:p>
        </p:txBody>
      </p:sp>
      <p:sp>
        <p:nvSpPr>
          <p:cNvPr id="24" name="Shape 17"/>
          <p:cNvSpPr/>
          <p:nvPr/>
        </p:nvSpPr>
        <p:spPr>
          <a:xfrm>
            <a:off x="4211575" y="2503494"/>
            <a:ext cx="713649" cy="98723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889" y="2897098"/>
            <a:ext cx="175022" cy="200025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925225" y="2503494"/>
            <a:ext cx="3647219" cy="987233"/>
          </a:xfrm>
          <a:prstGeom prst="rect">
            <a:avLst/>
          </a:prstGeom>
          <a:solidFill>
            <a:srgbClr val="F1F8FF"/>
          </a:solidFill>
          <a:ln/>
        </p:spPr>
      </p:sp>
      <p:sp>
        <p:nvSpPr>
          <p:cNvPr id="27" name="Shape 19"/>
          <p:cNvSpPr/>
          <p:nvPr/>
        </p:nvSpPr>
        <p:spPr>
          <a:xfrm>
            <a:off x="4925225" y="2503494"/>
            <a:ext cx="7144" cy="987233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43500" y="2699947"/>
            <a:ext cx="142875" cy="142875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357813" y="2674944"/>
            <a:ext cx="129659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멀티모달 / NLP 도입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5143500" y="2953550"/>
            <a:ext cx="32146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뉴스 기사 감성 분석(Sentiment Analysis) 및 분기별 재무 데이터를 시계열 데이터와 결합하는 하이브리드 모델 구축.</a:t>
            </a:r>
            <a:endParaRPr lang="en-US" sz="850" dirty="0"/>
          </a:p>
        </p:txBody>
      </p:sp>
      <p:sp>
        <p:nvSpPr>
          <p:cNvPr id="31" name="Shape 22"/>
          <p:cNvSpPr/>
          <p:nvPr/>
        </p:nvSpPr>
        <p:spPr>
          <a:xfrm>
            <a:off x="571500" y="3662176"/>
            <a:ext cx="8001000" cy="1001520"/>
          </a:xfrm>
          <a:prstGeom prst="rect">
            <a:avLst/>
          </a:prstGeom>
          <a:solidFill>
            <a:srgbClr val="FFFFFF"/>
          </a:solidFill>
          <a:ln w="9144">
            <a:solidFill>
              <a:srgbClr val="DEE2E6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571500" y="3662176"/>
            <a:ext cx="3644010" cy="98723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33" name="Shape 24"/>
          <p:cNvSpPr/>
          <p:nvPr/>
        </p:nvSpPr>
        <p:spPr>
          <a:xfrm>
            <a:off x="4208366" y="3662176"/>
            <a:ext cx="7144" cy="987233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813" y="3858630"/>
            <a:ext cx="142875" cy="142875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1000125" y="3833626"/>
            <a:ext cx="9161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2A2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전략 단순성</a:t>
            </a:r>
            <a:endParaRPr lang="en-US" sz="1000" dirty="0"/>
          </a:p>
        </p:txBody>
      </p:sp>
      <p:sp>
        <p:nvSpPr>
          <p:cNvPr id="36" name="Text 26"/>
          <p:cNvSpPr/>
          <p:nvPr/>
        </p:nvSpPr>
        <p:spPr>
          <a:xfrm>
            <a:off x="785813" y="4112233"/>
            <a:ext cx="3211450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고정된 매수/매도 임계값(Threshold)을 사용하여 시장 변동성(Volatility) 변화에 유연하게 대응하지 못함.</a:t>
            </a:r>
            <a:endParaRPr lang="en-US" sz="850" dirty="0"/>
          </a:p>
        </p:txBody>
      </p:sp>
      <p:sp>
        <p:nvSpPr>
          <p:cNvPr id="37" name="Shape 27"/>
          <p:cNvSpPr/>
          <p:nvPr/>
        </p:nvSpPr>
        <p:spPr>
          <a:xfrm>
            <a:off x="4211575" y="3662176"/>
            <a:ext cx="713649" cy="98723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0889" y="4055780"/>
            <a:ext cx="175022" cy="200025"/>
          </a:xfrm>
          <a:prstGeom prst="rect">
            <a:avLst/>
          </a:prstGeom>
        </p:spPr>
      </p:pic>
      <p:sp>
        <p:nvSpPr>
          <p:cNvPr id="39" name="Shape 28"/>
          <p:cNvSpPr/>
          <p:nvPr/>
        </p:nvSpPr>
        <p:spPr>
          <a:xfrm>
            <a:off x="4925225" y="3662176"/>
            <a:ext cx="3647219" cy="987233"/>
          </a:xfrm>
          <a:prstGeom prst="rect">
            <a:avLst/>
          </a:prstGeom>
          <a:solidFill>
            <a:srgbClr val="F1F8FF"/>
          </a:solidFill>
          <a:ln/>
        </p:spPr>
      </p:sp>
      <p:sp>
        <p:nvSpPr>
          <p:cNvPr id="40" name="Shape 29"/>
          <p:cNvSpPr/>
          <p:nvPr/>
        </p:nvSpPr>
        <p:spPr>
          <a:xfrm>
            <a:off x="4925225" y="3662176"/>
            <a:ext cx="7144" cy="987233"/>
          </a:xfrm>
          <a:prstGeom prst="rect">
            <a:avLst/>
          </a:prstGeom>
          <a:solidFill>
            <a:srgbClr val="DEE2E6"/>
          </a:solidFill>
          <a:ln/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3500" y="3858630"/>
            <a:ext cx="178594" cy="142875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5393531" y="3833626"/>
            <a:ext cx="117336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967D2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강화학습(RL) 적용</a:t>
            </a:r>
            <a:endParaRPr lang="en-US" sz="1000" dirty="0"/>
          </a:p>
        </p:txBody>
      </p:sp>
      <p:sp>
        <p:nvSpPr>
          <p:cNvPr id="43" name="Text 31"/>
          <p:cNvSpPr/>
          <p:nvPr/>
        </p:nvSpPr>
        <p:spPr>
          <a:xfrm>
            <a:off x="5143500" y="4112233"/>
            <a:ext cx="321468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시장 상황에 따라 동적으로 포지션 비중과 임계값을 조절하는 강화학습 기반 트레이딩 에이전트 도입.</a:t>
            </a:r>
            <a:endParaRPr lang="en-US" sz="850" dirty="0"/>
          </a:p>
        </p:txBody>
      </p:sp>
      <p:sp>
        <p:nvSpPr>
          <p:cNvPr id="44" name="Text 32"/>
          <p:cNvSpPr/>
          <p:nvPr/>
        </p:nvSpPr>
        <p:spPr>
          <a:xfrm>
            <a:off x="6847284" y="4793456"/>
            <a:ext cx="1725216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16 / 17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30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08 Summary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44736"/>
            <a:ext cx="80010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예측 AI, 무엇을 배웠는가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01936"/>
            <a:ext cx="3957638" cy="12629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201936"/>
            <a:ext cx="3957638" cy="28575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42950" y="1344811"/>
            <a:ext cx="285750" cy="285750"/>
          </a:xfrm>
          <a:prstGeom prst="ellipse">
            <a:avLst/>
          </a:prstGeom>
          <a:solidFill>
            <a:srgbClr val="F8F9FA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68" y="1423392"/>
            <a:ext cx="11251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4425" y="1391245"/>
            <a:ext cx="15478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규모의 한계 극복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42950" y="1744861"/>
            <a:ext cx="36147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전 종목 학습의 메모리 한계를 </a:t>
            </a: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층화 샘플링(200종목)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해결하여, 대/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중/소형주의 패턴을 고르게 학습하는 효율적인 파이프라인을 구축했습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니다.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614863" y="1201936"/>
            <a:ext cx="3957638" cy="12629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4614863" y="1201936"/>
            <a:ext cx="3957638" cy="28575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786313" y="1344811"/>
            <a:ext cx="285750" cy="285750"/>
          </a:xfrm>
          <a:prstGeom prst="ellipse">
            <a:avLst/>
          </a:prstGeom>
          <a:solidFill>
            <a:srgbClr val="F8F9FA"/>
          </a:solidFill>
          <a:ln/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8820" y="1423392"/>
            <a:ext cx="160734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7788" y="1391245"/>
            <a:ext cx="1404975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모델 간의 장단점 확인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4786313" y="1744861"/>
            <a:ext cx="36147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LSTM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은 시계열 패턴 인식에서 가장 높은 정확도를 보였고, </a:t>
            </a: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트리 기반 </a:t>
            </a: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모델(RF, XGB)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은 빠른 학습 속도와 특성 중요도 해석이라는 강점을 확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인했습니다.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571500" y="2522051"/>
            <a:ext cx="3957638" cy="12629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571500" y="2522051"/>
            <a:ext cx="3957638" cy="28575"/>
          </a:xfrm>
          <a:prstGeom prst="rect">
            <a:avLst/>
          </a:prstGeom>
          <a:solidFill>
            <a:srgbClr val="00C9A7"/>
          </a:solidFill>
          <a:ln/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742950" y="2664926"/>
            <a:ext cx="285750" cy="285750"/>
          </a:xfrm>
          <a:prstGeom prst="ellipse">
            <a:avLst/>
          </a:prstGeom>
          <a:solidFill>
            <a:srgbClr val="F8F9FA"/>
          </a:solidFill>
          <a:ln/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31" y="2743507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14425" y="2711360"/>
            <a:ext cx="12223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실전 검증의 중요성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742950" y="3064976"/>
            <a:ext cx="3614738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학습되지 않은 </a:t>
            </a: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2025년 OOS(Out-of-Sample) 데이터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테스트를 통해 모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델의 과적합 여부를 점검하고, 실제 시장에서의 일반화 성능을 검증했습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니다.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4614863" y="2522051"/>
            <a:ext cx="3957638" cy="123439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4614863" y="2522051"/>
            <a:ext cx="3957638" cy="28575"/>
          </a:xfrm>
          <a:prstGeom prst="rect">
            <a:avLst/>
          </a:prstGeom>
          <a:solidFill>
            <a:srgbClr val="8892B0"/>
          </a:solidFill>
          <a:ln/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786313" y="2664926"/>
            <a:ext cx="285750" cy="285750"/>
          </a:xfrm>
          <a:prstGeom prst="ellipse">
            <a:avLst/>
          </a:prstGeom>
          <a:solidFill>
            <a:srgbClr val="F8F9FA"/>
          </a:solidFill>
          <a:ln/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894" y="2743507"/>
            <a:ext cx="128588" cy="1285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57788" y="2711360"/>
            <a:ext cx="107951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끝없는 개선 과정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786313" y="3064976"/>
            <a:ext cx="3614738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단순한 등락률 예측을 넘어, </a:t>
            </a: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기술적 지표 스크리닝과 결합한 포트폴리오 </a:t>
            </a:r>
            <a:r>
              <a:rPr lang="en-US" sz="8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전략</a:t>
            </a:r>
            <a:r>
              <a:rPr lang="en-US" sz="85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으로 발전시키며 AI 모델의 실질적 활용 가치를 높였습니다.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571500" y="3956465"/>
            <a:ext cx="8001000" cy="528638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571500" y="3956465"/>
            <a:ext cx="42863" cy="528638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4042190"/>
            <a:ext cx="189309" cy="21431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2950" y="4042190"/>
            <a:ext cx="7658100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212529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"All models are wrong, but some are useful."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42950" y="4272576"/>
            <a:ext cx="765810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C757D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— George E. P. Box (통계학자)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6851526" y="4793456"/>
            <a:ext cx="1720974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17 / 17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선형 회귀 계열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 · Ridge · Lasso · ElasticNet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75159"/>
            <a:ext cx="8001000" cy="42148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275159"/>
            <a:ext cx="28575" cy="42148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017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389459"/>
            <a:ext cx="5029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아이디어: 입력 지표 × 가중치의 합으로 등락률을 예측. 규제(Alpha)로 과적합 방지.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1500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43113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011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선형 회귀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14375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규제 없이 가중치를 최적화. 가장 단순한 기준선(Baseline) 모델.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14375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"다른 모델 성능의 기준점 역할"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29564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29564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43113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425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Ridge / Lasso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43851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Ridge: 모든 계수를 조금씩 줄임 / Lasso: 불필요 계수를 정확히 0으로 만들어 변수 자동 선택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343851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"탐색 결과: Ridge α=0.1, Lasso α=0.001"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01978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601978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56" y="204311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48394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ElasticNet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6265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+ Lasso 혼합(l1_ratio=0.5). 두 방식의 장점을 균형 있게 결합.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16265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"탐색 결과: α=0.001, l1_ratio=0.5"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71500" y="3318272"/>
            <a:ext cx="46291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선형 모델 비교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1500" y="3625453"/>
            <a:ext cx="4629150" cy="13215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571500" y="3939778"/>
            <a:ext cx="694367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구분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1265867" y="3939778"/>
            <a:ext cx="1620738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선형 회귀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2886605" y="3939778"/>
            <a:ext cx="2314045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Ridge/Lasso/ElasticNet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571500" y="4264819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6" name="Text 39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1265867" y="3946922"/>
            <a:ext cx="1620738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하루 데이터만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000905" y="4043363"/>
            <a:ext cx="12626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60일치 데이터를 순서대로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0" name="Shape 43"/>
          <p:cNvSpPr/>
          <p:nvPr/>
        </p:nvSpPr>
        <p:spPr>
          <a:xfrm>
            <a:off x="571500" y="4593431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1" name="Text 44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규제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1265867" y="427196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없음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00905" y="4371975"/>
            <a:ext cx="1518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날의 규제을 다음 날로 전달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5" name="Shape 48"/>
          <p:cNvSpPr/>
          <p:nvPr/>
        </p:nvSpPr>
        <p:spPr>
          <a:xfrm>
            <a:off x="571500" y="4922044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6" name="Text 49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학습속도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1265867" y="4600575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1초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3000905" y="4700588"/>
            <a:ext cx="11108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'흐름 전체'를 보고 학습속도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486400" y="3318272"/>
            <a:ext cx="30861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장단점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5486400" y="3625453"/>
            <a:ext cx="3086100" cy="1271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5629275" y="3768328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초고속 학습 — 실험·탐색에 최적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29275" y="4043363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Lasso: 중요 지표 자동 선택 (계수 0 확인)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629275" y="4318397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비선형 관계 포착 불가 (선형 구조)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5629275" y="4593431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시계열 순서 미반영 — 오늘 하루 지표만 입력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893719" y="4793456"/>
            <a:ext cx="16787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7 / 17</a:t>
            </a:r>
            <a:endParaRPr lang="en-US" sz="7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782616"/>
            <a:ext cx="107156" cy="160734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4057650"/>
            <a:ext cx="107156" cy="160734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332684"/>
            <a:ext cx="107156" cy="160734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4607719"/>
            <a:ext cx="107156" cy="16073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결정 트리 (Decision Tree)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Recursive Binary Splitting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75159"/>
            <a:ext cx="8001000" cy="42148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275159"/>
            <a:ext cx="28575" cy="42148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017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389459"/>
            <a:ext cx="5029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아이디어: "RSI &lt; 30 이면서 거래량이 평균보다 높으면 → 상승" 처럼 조건 분기를 반복해 예측한다.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1500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43113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011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분기 1: 과매도?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14375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RSI &lt; 30 인가? → 과매도 구간 판별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14375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"Yes/No 로 나뉘어 다음 분기로"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29564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29564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43113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425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분기 2: 거래량?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43851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Volume_Ratio &gt; 1.5 인가? → 거래량 급증 여부 확인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343851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"Yes → 상승 가능성 높음"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01978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601978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56" y="204311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48394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예측 (Leaf Node)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6265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분기에 도달한 그룹의 평균 등락률 = 예측값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16265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"max_depth=8 로 깊이 제한"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71500" y="3318272"/>
            <a:ext cx="46291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결정 트리 vs Random Forest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1500" y="3625453"/>
            <a:ext cx="4629150" cy="13215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571500" y="3939778"/>
            <a:ext cx="694367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구분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1265867" y="3939778"/>
            <a:ext cx="1620738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결정 트리 1개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2886605" y="3939778"/>
            <a:ext cx="2314045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Random Forest (RF)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571500" y="4264819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6" name="Text 39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1265867" y="3946922"/>
            <a:ext cx="1620738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하루 데이터만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000905" y="4043363"/>
            <a:ext cx="12626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60일치 데이터를 순서대로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0" name="Shape 43"/>
          <p:cNvSpPr/>
          <p:nvPr/>
        </p:nvSpPr>
        <p:spPr>
          <a:xfrm>
            <a:off x="571500" y="4593431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1" name="Text 44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과적합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1265867" y="427196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깊어지면 훈련 데이터 외움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00905" y="4371975"/>
            <a:ext cx="1518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날의 과적합을 다음 날로 전달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5" name="Shape 48"/>
          <p:cNvSpPr/>
          <p:nvPr/>
        </p:nvSpPr>
        <p:spPr>
          <a:xfrm>
            <a:off x="571500" y="4922044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6" name="Text 49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해석성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1265867" y="4600575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규칙 직접 읽기 가능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3000905" y="4700588"/>
            <a:ext cx="11108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'흐름 전체'를 보고 해석성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486400" y="3318272"/>
            <a:ext cx="30861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장단점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5486400" y="3625453"/>
            <a:ext cx="3086100" cy="1271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5629275" y="3768328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규칙을 사람이 직접 읽을 수 있어 해석성 최고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29275" y="4043363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비선형 관계 및 특성 간 상호작용 포착 가능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629275" y="4318397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깊어질수록 과적합 심화 (과적합 갭 +0.7%p 가장 큼)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5629275" y="4593431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max_depth=8 제한에도 불구 일반화 성능 가장 낮음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893719" y="4793456"/>
            <a:ext cx="16787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7 / 17</a:t>
            </a:r>
            <a:endParaRPr lang="en-US" sz="7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782616"/>
            <a:ext cx="107156" cy="160734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4057650"/>
            <a:ext cx="107156" cy="160734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332684"/>
            <a:ext cx="107156" cy="160734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4607719"/>
            <a:ext cx="107156" cy="16073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KNN 회귀 (K-Nearest Neighbors)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Instance-Based Learning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75159"/>
            <a:ext cx="8001000" cy="42148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275159"/>
            <a:ext cx="28575" cy="42148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017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389459"/>
            <a:ext cx="5029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아이디어: 오늘과 가장 비슷했던 과거 k=20개 날을 찾아, 그 날들의 5일 후 등락률 평균을 예측한다.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1500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43113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011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단계 1: 거리 계산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14375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기술적 지표 11개 vs 과거 모든 날의 지표를 유클리드 거리로 비교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14375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"가장 가까운 20개 날 선택"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29564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29564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43113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425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단계 2: 이웃 선택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43851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k=20개의 이웃 날짜를 거리 기준으로 정렬해 선택 (탐색에서 MAE 최소 확인)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343851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"k가 클수록 안정적, 작을수록 민감"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01978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601978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56" y="204311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48394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단계 3: 예측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6265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선택된 20개 날의 5일 후 실제 등락률 평균 = 최종 예측값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16265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"학습 없음 — 데이터 자체가 모델"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71500" y="3318272"/>
            <a:ext cx="46291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KNN 특징 요약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1500" y="3625453"/>
            <a:ext cx="4629150" cy="13215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571500" y="3939778"/>
            <a:ext cx="694367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구분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1265867" y="3939778"/>
            <a:ext cx="1620738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항목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2886605" y="3939778"/>
            <a:ext cx="2314045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내용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571500" y="4264819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6" name="Text 39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1265867" y="3946922"/>
            <a:ext cx="1620738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하루 데이터만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000905" y="4043363"/>
            <a:ext cx="12626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60일치 데이터를 순서대로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0" name="Shape 43"/>
          <p:cNvSpPr/>
          <p:nvPr/>
        </p:nvSpPr>
        <p:spPr>
          <a:xfrm>
            <a:off x="571500" y="4593431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1" name="Text 44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예측 방식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1265867" y="427196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거리 계산 후 k개 평균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00905" y="4371975"/>
            <a:ext cx="1518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날의 예측 방식을 다음 날로 전달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5" name="Shape 48"/>
          <p:cNvSpPr/>
          <p:nvPr/>
        </p:nvSpPr>
        <p:spPr>
          <a:xfrm>
            <a:off x="571500" y="4922044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6" name="Text 49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속도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1265867" y="4600575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학습: 즉시 / 예측: 느림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3000905" y="4700588"/>
            <a:ext cx="11108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'흐름 전체'를 보고 속도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486400" y="3318272"/>
            <a:ext cx="30861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장단점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5486400" y="3625453"/>
            <a:ext cx="3086100" cy="1271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5629275" y="3768328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과정 없이 즉시 사용 가능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29275" y="4043363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"비슷한 상황은 비슷하게 움직인다" 직관적 원리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629275" y="4318397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예측 시마다 전체 데이터 검색 → 느림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5629275" y="4593431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고차원 데이터에서 거리 의미 희석 (차원의 저주)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893719" y="4793456"/>
            <a:ext cx="16787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7 / 17</a:t>
            </a:r>
            <a:endParaRPr lang="en-US" sz="7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782616"/>
            <a:ext cx="107156" cy="160734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4057650"/>
            <a:ext cx="107156" cy="160734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332684"/>
            <a:ext cx="107156" cy="160734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4607719"/>
            <a:ext cx="107156" cy="16073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선형 회귀 계열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 · Ridge · Lasso · ElasticNet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75159"/>
            <a:ext cx="8001000" cy="42148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275159"/>
            <a:ext cx="28575" cy="42148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017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389459"/>
            <a:ext cx="5029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아이디어: 입력 지표 × 가중치의 합으로 등락률을 예측. 규제(Alpha)로 과적합 방지.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1500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43113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011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선형 회귀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14375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규제 없이 가중치를 최적화. 가장 단순한 기준선(Baseline) 모델.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14375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"다른 모델 성능의 기준점 역할"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29564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29564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43113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425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Ridge / Lasso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43851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Ridge: 모든 계수를 조금씩 줄임 / Lasso: 불필요 계수를 정확히 0으로 만들어 변수 자동 선택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343851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"탐색 결과: Ridge α=0.1, Lasso α=0.001"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01978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601978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56" y="204311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48394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ElasticNet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6265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Ridge + Lasso 혼합(l1_ratio=0.5). 두 방식의 장점을 균형 있게 결합.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16265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"탐색 결과: α=0.001, l1_ratio=0.5"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71500" y="3318272"/>
            <a:ext cx="46291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선형 모델 비교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1500" y="3625453"/>
            <a:ext cx="4629150" cy="13215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571500" y="3939778"/>
            <a:ext cx="694367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구분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1265867" y="3939778"/>
            <a:ext cx="1620738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선형 회귀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2886605" y="3939778"/>
            <a:ext cx="2314045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Ridge/Lasso/ElasticNet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571500" y="4264819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6" name="Text 39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1265867" y="3946922"/>
            <a:ext cx="1620738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하루 데이터만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000905" y="4043363"/>
            <a:ext cx="12626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60일치 데이터를 순서대로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0" name="Shape 43"/>
          <p:cNvSpPr/>
          <p:nvPr/>
        </p:nvSpPr>
        <p:spPr>
          <a:xfrm>
            <a:off x="571500" y="4593431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1" name="Text 44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규제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1265867" y="427196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없음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00905" y="4371975"/>
            <a:ext cx="1518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날의 규제을 다음 날로 전달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5" name="Shape 48"/>
          <p:cNvSpPr/>
          <p:nvPr/>
        </p:nvSpPr>
        <p:spPr>
          <a:xfrm>
            <a:off x="571500" y="4922044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6" name="Text 49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학습속도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1265867" y="4600575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 1초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3000905" y="4700588"/>
            <a:ext cx="11108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'흐름 전체'를 보고 학습속도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486400" y="3318272"/>
            <a:ext cx="30861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장단점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5486400" y="3625453"/>
            <a:ext cx="3086100" cy="1271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5629275" y="3768328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초고속 학습 — 실험·탐색에 최적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29275" y="4043363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Lasso: 중요 지표 자동 선택 (계수 0 확인)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629275" y="4318397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비선형 관계 포착 불가 (선형 구조)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5629275" y="4593431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시계열 순서 미반영 — 오늘 하루 지표만 입력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893719" y="4793456"/>
            <a:ext cx="16787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7 / 17</a:t>
            </a:r>
            <a:endParaRPr lang="en-US" sz="7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782616"/>
            <a:ext cx="107156" cy="160734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4057650"/>
            <a:ext cx="107156" cy="160734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332684"/>
            <a:ext cx="107156" cy="160734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4607719"/>
            <a:ext cx="107156" cy="16073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결정 트리 (Decision Tree)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Recursive Binary Splitting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75159"/>
            <a:ext cx="8001000" cy="42148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275159"/>
            <a:ext cx="28575" cy="42148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017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389459"/>
            <a:ext cx="5029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아이디어: "RSI &lt; 30 이면서 거래량이 평균보다 높으면 → 상승" 처럼 조건 분기를 반복해 예측한다.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1500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43113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011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분기 1: 과매도?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14375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RSI &lt; 30 인가? → 과매도 구간 판별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14375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"Yes/No 로 나뉘어 다음 분기로"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29564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29564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43113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425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분기 2: 거래량?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43851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Volume_Ratio &gt; 1.5 인가? → 거래량 급증 여부 확인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343851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"Yes → 상승 가능성 높음"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01978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601978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56" y="204311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48394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예측 (Leaf Node)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6265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최종 분기에 도달한 그룹의 평균 등락률 = 예측값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16265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"max_depth=8 로 깊이 제한"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71500" y="3318272"/>
            <a:ext cx="46291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결정 트리 vs Random Forest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1500" y="3625453"/>
            <a:ext cx="4629150" cy="13215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571500" y="3939778"/>
            <a:ext cx="694367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구분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1265867" y="3939778"/>
            <a:ext cx="1620738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결정 트리 1개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2886605" y="3939778"/>
            <a:ext cx="2314045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Random Forest (RF)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571500" y="4264819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6" name="Text 39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1265867" y="3946922"/>
            <a:ext cx="1620738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하루 데이터만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000905" y="4043363"/>
            <a:ext cx="12626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60일치 데이터를 순서대로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0" name="Shape 43"/>
          <p:cNvSpPr/>
          <p:nvPr/>
        </p:nvSpPr>
        <p:spPr>
          <a:xfrm>
            <a:off x="571500" y="4593431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1" name="Text 44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과적합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1265867" y="427196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깊어지면 훈련 데이터 외움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00905" y="4371975"/>
            <a:ext cx="1518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날의 과적합을 다음 날로 전달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5" name="Shape 48"/>
          <p:cNvSpPr/>
          <p:nvPr/>
        </p:nvSpPr>
        <p:spPr>
          <a:xfrm>
            <a:off x="571500" y="4922044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6" name="Text 49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해석성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1265867" y="4600575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규칙 직접 읽기 가능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3000905" y="4700588"/>
            <a:ext cx="11108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'흐름 전체'를 보고 해석성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486400" y="3318272"/>
            <a:ext cx="30861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장단점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5486400" y="3625453"/>
            <a:ext cx="3086100" cy="1271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5629275" y="3768328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규칙을 사람이 직접 읽을 수 있어 해석성 최고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29275" y="4043363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비선형 관계 및 특성 간 상호작용 포착 가능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629275" y="4318397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깊어질수록 과적합 심화 (과적합 갭 +0.7%p 가장 큼)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5629275" y="4593431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max_depth=8 제한에도 불구 일반화 성능 가장 낮음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893719" y="4793456"/>
            <a:ext cx="16787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7 / 17</a:t>
            </a:r>
            <a:endParaRPr lang="en-US" sz="7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782616"/>
            <a:ext cx="107156" cy="160734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4057650"/>
            <a:ext cx="107156" cy="160734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332684"/>
            <a:ext cx="107156" cy="160734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4607719"/>
            <a:ext cx="107156" cy="16073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380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03 KNN 회귀 (K-Nearest Neighbors)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71500" y="794742"/>
            <a:ext cx="800100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68E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Instance-Based Learning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275159"/>
            <a:ext cx="8001000" cy="421481"/>
          </a:xfrm>
          <a:prstGeom prst="rect">
            <a:avLst/>
          </a:prstGeom>
          <a:solidFill>
            <a:srgbClr val="E8F0FE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71500" y="1275159"/>
            <a:ext cx="28575" cy="42148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400175"/>
            <a:ext cx="128588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85838" y="1389459"/>
            <a:ext cx="50292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핵심 아이디어: 오늘과 가장 비슷했던 과거 k=20개 날을 찾아, 그 날들의 5일 후 등락률 평균을 예측한다.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71500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571500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2043113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011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단계 1: 거리 계산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714375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오늘의 기술적 지표 11개 vs 과거 모든 날의 지표를 유클리드 거리로 비교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714375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714375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"가장 가까운 20개 날 선택"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329564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329564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8516" y="2043113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624253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단계 2: 이웃 선택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343851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k=20개의 이웃 날짜를 거리 기준으로 정렬해 선택 (탐색에서 MAE 최소 확인)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343851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24" name="Text 18"/>
          <p:cNvSpPr/>
          <p:nvPr/>
        </p:nvSpPr>
        <p:spPr>
          <a:xfrm>
            <a:off x="343851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"k가 클수록 안정적, 작을수록 민감"</a:t>
            </a:r>
            <a:endParaRPr lang="en-US" sz="750" dirty="0"/>
          </a:p>
        </p:txBody>
      </p:sp>
      <p:sp>
        <p:nvSpPr>
          <p:cNvPr id="25" name="Shape 19"/>
          <p:cNvSpPr/>
          <p:nvPr/>
        </p:nvSpPr>
        <p:spPr>
          <a:xfrm>
            <a:off x="6019781" y="1868091"/>
            <a:ext cx="2552691" cy="1243013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6019781" y="1868091"/>
            <a:ext cx="2552691" cy="21431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656" y="204311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48394" y="2010966"/>
            <a:ext cx="74830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단계 3: 예측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62656" y="2289572"/>
            <a:ext cx="2266941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선택된 20개 날의 5일 후 실제 등락률 평균 = 최종 예측값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6162656" y="2696766"/>
            <a:ext cx="14288" cy="250031"/>
          </a:xfrm>
          <a:prstGeom prst="rect">
            <a:avLst/>
          </a:prstGeom>
          <a:solidFill>
            <a:srgbClr val="3366CC"/>
          </a:solidFill>
          <a:ln/>
        </p:spPr>
        <p:txBody>
          <a:bodyPr/>
          <a:p/>
        </p:txBody>
      </p:sp>
      <p:sp>
        <p:nvSpPr>
          <p:cNvPr id="32" name="Text 25"/>
          <p:cNvSpPr/>
          <p:nvPr/>
        </p:nvSpPr>
        <p:spPr>
          <a:xfrm>
            <a:off x="6162656" y="2696766"/>
            <a:ext cx="2266941" cy="25003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66CC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"학습 없음 — 데이터 자체가 모델"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71500" y="3318272"/>
            <a:ext cx="462915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KNN 특징 요약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71500" y="3625453"/>
            <a:ext cx="4629150" cy="132159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6" name="Shape 29"/>
          <p:cNvSpPr/>
          <p:nvPr/>
        </p:nvSpPr>
        <p:spPr>
          <a:xfrm>
            <a:off x="571500" y="3939778"/>
            <a:ext cx="694367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71500" y="362545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구분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1265867" y="3939778"/>
            <a:ext cx="1620738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0" name="Text 33"/>
          <p:cNvSpPr/>
          <p:nvPr/>
        </p:nvSpPr>
        <p:spPr>
          <a:xfrm>
            <a:off x="1265867" y="362545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항목</a:t>
            </a:r>
            <a:endParaRPr lang="en-US" sz="750" dirty="0"/>
          </a:p>
        </p:txBody>
      </p:sp>
      <p:sp>
        <p:nvSpPr>
          <p:cNvPr id="41" name="Shape 34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solidFill>
            <a:srgbClr val="F1F3F5"/>
          </a:solidFill>
          <a:ln/>
        </p:spPr>
        <p:txBody>
          <a:bodyPr/>
          <a:p/>
        </p:txBody>
      </p:sp>
      <p:sp>
        <p:nvSpPr>
          <p:cNvPr id="42" name="Shape 35"/>
          <p:cNvSpPr/>
          <p:nvPr/>
        </p:nvSpPr>
        <p:spPr>
          <a:xfrm>
            <a:off x="2886605" y="3939778"/>
            <a:ext cx="2314045" cy="14288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3" name="Text 36"/>
          <p:cNvSpPr/>
          <p:nvPr/>
        </p:nvSpPr>
        <p:spPr>
          <a:xfrm>
            <a:off x="2886605" y="3625453"/>
            <a:ext cx="2314045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212529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내용</a:t>
            </a:r>
            <a:endParaRPr lang="en-US" sz="750" dirty="0"/>
          </a:p>
        </p:txBody>
      </p:sp>
      <p:sp>
        <p:nvSpPr>
          <p:cNvPr id="44" name="Shape 37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45" name="Shape 38"/>
          <p:cNvSpPr/>
          <p:nvPr/>
        </p:nvSpPr>
        <p:spPr>
          <a:xfrm>
            <a:off x="571500" y="4264819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46" name="Text 39"/>
          <p:cNvSpPr/>
          <p:nvPr/>
        </p:nvSpPr>
        <p:spPr>
          <a:xfrm>
            <a:off x="571500" y="3946922"/>
            <a:ext cx="694367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입력</a:t>
            </a:r>
            <a:endParaRPr lang="en-US" sz="750" dirty="0"/>
          </a:p>
        </p:txBody>
      </p:sp>
      <p:sp>
        <p:nvSpPr>
          <p:cNvPr id="47" name="Text 40"/>
          <p:cNvSpPr/>
          <p:nvPr/>
        </p:nvSpPr>
        <p:spPr>
          <a:xfrm>
            <a:off x="1265867" y="3946922"/>
            <a:ext cx="1620738" cy="32504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오늘 하루 데이터만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3000905" y="4043363"/>
            <a:ext cx="126265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60일치 데이터를 순서대로</a:t>
            </a:r>
            <a:endParaRPr lang="en-US" sz="750" dirty="0"/>
          </a:p>
        </p:txBody>
      </p:sp>
      <p:sp>
        <p:nvSpPr>
          <p:cNvPr id="49" name="Shape 42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0" name="Shape 43"/>
          <p:cNvSpPr/>
          <p:nvPr/>
        </p:nvSpPr>
        <p:spPr>
          <a:xfrm>
            <a:off x="571500" y="4593431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1" name="Text 44"/>
          <p:cNvSpPr/>
          <p:nvPr/>
        </p:nvSpPr>
        <p:spPr>
          <a:xfrm>
            <a:off x="571500" y="4271963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예측 방식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1265867" y="4271963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거리 계산 후 k개 평균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3000905" y="4371975"/>
            <a:ext cx="15180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이전 날의 예측 방식을 다음 날로 전달</a:t>
            </a:r>
            <a:endParaRPr lang="en-US" sz="750" dirty="0"/>
          </a:p>
        </p:txBody>
      </p:sp>
      <p:sp>
        <p:nvSpPr>
          <p:cNvPr id="54" name="Shape 47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p/>
        </p:txBody>
      </p:sp>
      <p:sp>
        <p:nvSpPr>
          <p:cNvPr id="55" name="Shape 48"/>
          <p:cNvSpPr/>
          <p:nvPr/>
        </p:nvSpPr>
        <p:spPr>
          <a:xfrm>
            <a:off x="571500" y="4922044"/>
            <a:ext cx="694367" cy="7144"/>
          </a:xfrm>
          <a:prstGeom prst="rect">
            <a:avLst/>
          </a:prstGeom>
          <a:solidFill>
            <a:srgbClr val="DEE2E6"/>
          </a:solidFill>
          <a:ln/>
        </p:spPr>
        <p:txBody>
          <a:bodyPr/>
          <a:p/>
        </p:txBody>
      </p:sp>
      <p:sp>
        <p:nvSpPr>
          <p:cNvPr id="56" name="Text 49"/>
          <p:cNvSpPr/>
          <p:nvPr/>
        </p:nvSpPr>
        <p:spPr>
          <a:xfrm>
            <a:off x="571500" y="4600575"/>
            <a:ext cx="694367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dirty="0">
                <a:solidFill>
                  <a:srgbClr val="343A40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속도</a:t>
            </a:r>
            <a:endParaRPr lang="en-US" sz="750" dirty="0"/>
          </a:p>
        </p:txBody>
      </p:sp>
      <p:sp>
        <p:nvSpPr>
          <p:cNvPr id="57" name="Text 50"/>
          <p:cNvSpPr/>
          <p:nvPr/>
        </p:nvSpPr>
        <p:spPr>
          <a:xfrm>
            <a:off x="1265867" y="4600575"/>
            <a:ext cx="1620738" cy="32861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학습: 즉시 / 예측: 느림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3000905" y="4700588"/>
            <a:ext cx="111085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750" b="1" dirty="0">
                <a:solidFill>
                  <a:srgbClr val="495057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'흐름 전체'를 보고 속도</a:t>
            </a:r>
            <a:endParaRPr lang="en-US" sz="750" dirty="0"/>
          </a:p>
        </p:txBody>
      </p:sp>
      <p:sp>
        <p:nvSpPr>
          <p:cNvPr id="59" name="Text 52"/>
          <p:cNvSpPr/>
          <p:nvPr/>
        </p:nvSpPr>
        <p:spPr>
          <a:xfrm>
            <a:off x="5486400" y="3318272"/>
            <a:ext cx="3086100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12529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장단점</a:t>
            </a:r>
            <a:endParaRPr lang="en-US" sz="1000" dirty="0"/>
          </a:p>
        </p:txBody>
      </p:sp>
      <p:sp>
        <p:nvSpPr>
          <p:cNvPr id="60" name="Shape 53"/>
          <p:cNvSpPr/>
          <p:nvPr/>
        </p:nvSpPr>
        <p:spPr>
          <a:xfrm>
            <a:off x="5486400" y="3625453"/>
            <a:ext cx="3086100" cy="127158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Text 54"/>
          <p:cNvSpPr/>
          <p:nvPr/>
        </p:nvSpPr>
        <p:spPr>
          <a:xfrm>
            <a:off x="5629275" y="3768328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학습 과정 없이 즉시 사용 가능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5629275" y="4043363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"비슷한 상황은 비슷하게 움직인다" 직관적 원리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5629275" y="4318397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예측 시마다 전체 데이터 검색 → 느림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5629275" y="4593431"/>
            <a:ext cx="2800350" cy="160734"/>
          </a:xfrm>
          <a:prstGeom prst="rect">
            <a:avLst/>
          </a:prstGeom>
          <a:noFill/>
          <a:ln/>
        </p:spPr>
        <p:txBody>
          <a:bodyPr wrap="none" lIns="23812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4950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고차원 데이터에서 거리 의미 희석 (차원의 저주)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6893719" y="4793456"/>
            <a:ext cx="167878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DB5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주식 등락률 예측 AI 모델 개발 | 7 / 17</a:t>
            </a:r>
            <a:endParaRPr lang="en-US" sz="750" dirty="0"/>
          </a:p>
        </p:txBody>
      </p:sp>
      <p:pic>
        <p:nvPicPr>
          <p:cNvPr id="6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3782616"/>
            <a:ext cx="107156" cy="160734"/>
          </a:xfrm>
          <a:prstGeom prst="rect">
            <a:avLst/>
          </a:prstGeom>
        </p:spPr>
      </p:pic>
      <p:pic>
        <p:nvPicPr>
          <p:cNvPr id="6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4057650"/>
            <a:ext cx="107156" cy="160734"/>
          </a:xfrm>
          <a:prstGeom prst="rect">
            <a:avLst/>
          </a:prstGeom>
        </p:spPr>
      </p:pic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29275" y="4332684"/>
            <a:ext cx="107156" cy="160734"/>
          </a:xfrm>
          <a:prstGeom prst="rect">
            <a:avLst/>
          </a:prstGeom>
        </p:spPr>
      </p:pic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29275" y="4607719"/>
            <a:ext cx="107156" cy="1607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1934</ep:Words>
  <ep:PresentationFormat>On-screen Show (16:9)</ep:PresentationFormat>
  <ep:Paragraphs>549</ep:Paragraphs>
  <ep:Slides>16</ep:Slides>
  <ep:Notes>16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ep:HeadingPairs>
  <ep:TitlesOfParts>
    <vt:vector size="1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2026-04-25T11:16:27.000</dcterms:created>
  <dc:creator>PptxGenJS</dc:creator>
  <cp:lastModifiedBy>KimSoonHa</cp:lastModifiedBy>
  <dcterms:modified xsi:type="dcterms:W3CDTF">2026-04-25T11:31:41.460</dcterms:modified>
  <cp:revision>3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