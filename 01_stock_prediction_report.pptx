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 ?><Relationships xmlns="http://schemas.openxmlformats.org/package/2006/relationships"><Relationship Id="rId1" Type="http://schemas.openxmlformats.org/officeDocument/2006/relationships/officeDocument" Target="ppt/presentation.xml"  /><Relationship Id="rId2" Type="http://schemas.openxmlformats.org/package/2006/relationships/metadata/thumbnail" Target="docProps/thumbnail.jpeg"  /><Relationship Id="rId3" Type="http://schemas.openxmlformats.org/package/2006/relationships/metadata/core-properties" Target="docProps/core.xml"  /><Relationship Id="rId4" Type="http://schemas.openxmlformats.org/officeDocument/2006/relationships/extended-properties" Target="docProps/app.xml"  /><Relationship Id="rId5" Type="http://schemas.openxmlformats.org/officeDocument/2006/relationships/custom-properties" Target="docProps/custom.xml"  /></Relationships>
</file>

<file path=ppt/presentation.xml><?xml version="1.0" encoding="utf-8"?>
<p:presentation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autoCompressPictures="0">
  <p:sldMasterIdLst>
    <p:sldMasterId id="2147483648" r:id="rId1"/>
  </p:sldMasterIdLst>
  <p:notesMasterIdLst>
    <p:notesMasterId r:id="rId2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/>
</file>

<file path=ppt/tableStyles.xml><?xml version="1.0" encoding="utf-8"?>
<a:tblStyleLst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def="{5C22544A-7EE6-4342-B048-85BDC9FD1C3A}"/>
</file>

<file path=ppt/viewProps.xml><?xml version="1.0" encoding="utf-8"?>
<p:view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0" d="100"/>
          <a:sy n="100" d="100"/>
        </p:scale>
        <p:origin x="216" y="312"/>
      </p:cViewPr>
      <p:guideLst>
        <p:guide orient="horz" pos="1619"/>
        <p:guide pos="2879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 ?><Relationships xmlns="http://schemas.openxmlformats.org/package/2006/relationships"><Relationship Id="rId1" Type="http://schemas.openxmlformats.org/officeDocument/2006/relationships/slideMaster" Target="slideMasters/slideMaster1.xml"  /><Relationship Id="rId10" Type="http://schemas.openxmlformats.org/officeDocument/2006/relationships/slide" Target="slides/slide8.xml"  /><Relationship Id="rId11" Type="http://schemas.openxmlformats.org/officeDocument/2006/relationships/slide" Target="slides/slide9.xml"  /><Relationship Id="rId12" Type="http://schemas.openxmlformats.org/officeDocument/2006/relationships/slide" Target="slides/slide10.xml"  /><Relationship Id="rId13" Type="http://schemas.openxmlformats.org/officeDocument/2006/relationships/slide" Target="slides/slide11.xml"  /><Relationship Id="rId14" Type="http://schemas.openxmlformats.org/officeDocument/2006/relationships/slide" Target="slides/slide12.xml"  /><Relationship Id="rId15" Type="http://schemas.openxmlformats.org/officeDocument/2006/relationships/presProps" Target="presProps.xml"  /><Relationship Id="rId16" Type="http://schemas.openxmlformats.org/officeDocument/2006/relationships/viewProps" Target="viewProps.xml"  /><Relationship Id="rId17" Type="http://schemas.openxmlformats.org/officeDocument/2006/relationships/theme" Target="theme/theme1.xml"  /><Relationship Id="rId18" Type="http://schemas.openxmlformats.org/officeDocument/2006/relationships/tableStyles" Target="tableStyles.xml"  /><Relationship Id="rId2" Type="http://schemas.openxmlformats.org/officeDocument/2006/relationships/notesMaster" Target="notesMasters/notesMaster1.xml"  /><Relationship Id="rId3" Type="http://schemas.openxmlformats.org/officeDocument/2006/relationships/slide" Target="slides/slide1.xml"  /><Relationship Id="rId4" Type="http://schemas.openxmlformats.org/officeDocument/2006/relationships/slide" Target="slides/slide2.xml"  /><Relationship Id="rId5" Type="http://schemas.openxmlformats.org/officeDocument/2006/relationships/slide" Target="slides/slide3.xml"  /><Relationship Id="rId6" Type="http://schemas.openxmlformats.org/officeDocument/2006/relationships/slide" Target="slides/slide4.xml"  /><Relationship Id="rId7" Type="http://schemas.openxmlformats.org/officeDocument/2006/relationships/slide" Target="slides/slide5.xml"  /><Relationship Id="rId8" Type="http://schemas.openxmlformats.org/officeDocument/2006/relationships/slide" Target="slides/slide6.xml"  /><Relationship Id="rId9" Type="http://schemas.openxmlformats.org/officeDocument/2006/relationships/slide" Target="slides/slide7.xml"  /></Relationships>
</file>

<file path=ppt/notesMasters/_rels/notesMaster1.xml.rels><?xml version="1.0" encoding="UTF-8" standalone="yes" ?><Relationships xmlns="http://schemas.openxmlformats.org/package/2006/relationships"><Relationship Id="rId1" Type="http://schemas.openxmlformats.org/officeDocument/2006/relationships/theme" Target="../theme/theme2.xml"  /></Relationships>
</file>

<file path=ppt/notesMasters/notesMaster1.xml><?xml version="1.0" encoding="utf-8"?>
<p:notesMaste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 idx="0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lvl="0"/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lvl="0"/>
            <a:fld id="{5282F153-3F37-0F45-9E97-73ACFA13230C}" type="datetime1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lvl="0"/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lvl="0"/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1.xml"  /></Relationships>
</file>

<file path=ppt/notesSlides/_rels/notesSlide2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2.xml"  /></Relationships>
</file>

<file path=ppt/notesSlides/_rels/notesSlide3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3.xml"  /></Relationships>
</file>

<file path=ppt/notesSlides/_rels/notesSlide4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4.xml"  /></Relationships>
</file>

<file path=ppt/notesSlides/_rels/notesSlide5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5.xml"  /></Relationships>
</file>

<file path=ppt/notesSlides/_rels/notesSlide6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6.xml"  /></Relationships>
</file>

<file path=ppt/notesSlides/_rels/notesSlide7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7.xml"  /></Relationships>
</file>

<file path=ppt/notesSlides/_rels/notesSlide8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8.xml"  /></Relationships>
</file>

<file path=ppt/notesSlides/_rels/notesSlide9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9.xml"  /></Relationships>
</file>

<file path=ppt/notesSlides/_rels/notesSlide10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10.xml"  /></Relationships>
</file>

<file path=ppt/notesSlides/_rels/notesSlide11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11.xml"  /></Relationships>
</file>

<file path=ppt/notesSlides/_rels/notesSlide12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12.xml" 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theme" Target="../theme/theme1.xml" 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 ?><Relationships xmlns="http://schemas.openxmlformats.org/package/2006/relationships"><Relationship Id="rId1" Type="http://schemas.openxmlformats.org/officeDocument/2006/relationships/image" Target="../media/image1.jpeg"  /><Relationship Id="rId2" Type="http://schemas.openxmlformats.org/officeDocument/2006/relationships/slideLayout" Target="../slideLayouts/slideLayout1.xml"  /><Relationship Id="rId3" Type="http://schemas.openxmlformats.org/officeDocument/2006/relationships/notesSlide" Target="../notesSlides/notesSlide1.xml"  /></Relationships>
</file>

<file path=ppt/slides/_rels/slide2.xml.rels><?xml version="1.0" encoding="UTF-8" standalone="yes" ?><Relationships xmlns="http://schemas.openxmlformats.org/package/2006/relationships"><Relationship Id="rId1" Type="http://schemas.openxmlformats.org/officeDocument/2006/relationships/image" Target="../media/image2.jpeg"  /><Relationship Id="rId2" Type="http://schemas.openxmlformats.org/officeDocument/2006/relationships/slideLayout" Target="../slideLayouts/slideLayout1.xml"  /><Relationship Id="rId3" Type="http://schemas.openxmlformats.org/officeDocument/2006/relationships/notesSlide" Target="../notesSlides/notesSlide2.xml"  /></Relationships>
</file>

<file path=ppt/slides/_rels/slide3.xml.rels><?xml version="1.0" encoding="UTF-8" standalone="yes" ?><Relationships xmlns="http://schemas.openxmlformats.org/package/2006/relationships"><Relationship Id="rId1" Type="http://schemas.openxmlformats.org/officeDocument/2006/relationships/image" Target="../media/image3.jpeg"  /><Relationship Id="rId2" Type="http://schemas.openxmlformats.org/officeDocument/2006/relationships/slideLayout" Target="../slideLayouts/slideLayout1.xml"  /><Relationship Id="rId3" Type="http://schemas.openxmlformats.org/officeDocument/2006/relationships/notesSlide" Target="../notesSlides/notesSlide3.xml"  /></Relationships>
</file>

<file path=ppt/slides/_rels/slide4.xml.rels><?xml version="1.0" encoding="UTF-8" standalone="yes" ?><Relationships xmlns="http://schemas.openxmlformats.org/package/2006/relationships"><Relationship Id="rId1" Type="http://schemas.openxmlformats.org/officeDocument/2006/relationships/image" Target="../media/image4.jpeg"  /><Relationship Id="rId2" Type="http://schemas.openxmlformats.org/officeDocument/2006/relationships/image" Target="../media/image5.png"  /><Relationship Id="rId3" Type="http://schemas.openxmlformats.org/officeDocument/2006/relationships/image" Target="../media/image6.png"  /><Relationship Id="rId4" Type="http://schemas.openxmlformats.org/officeDocument/2006/relationships/image" Target="../media/image7.png"  /><Relationship Id="rId5" Type="http://schemas.openxmlformats.org/officeDocument/2006/relationships/image" Target="../media/image8.png"  /><Relationship Id="rId6" Type="http://schemas.openxmlformats.org/officeDocument/2006/relationships/slideLayout" Target="../slideLayouts/slideLayout1.xml"  /><Relationship Id="rId7" Type="http://schemas.openxmlformats.org/officeDocument/2006/relationships/notesSlide" Target="../notesSlides/notesSlide4.xml"  /></Relationships>
</file>

<file path=ppt/slides/_rels/slide5.xml.rels><?xml version="1.0" encoding="UTF-8" standalone="yes" ?><Relationships xmlns="http://schemas.openxmlformats.org/package/2006/relationships"><Relationship Id="rId1" Type="http://schemas.openxmlformats.org/officeDocument/2006/relationships/image" Target="../media/image9.jpeg"  /><Relationship Id="rId2" Type="http://schemas.openxmlformats.org/officeDocument/2006/relationships/slideLayout" Target="../slideLayouts/slideLayout1.xml"  /><Relationship Id="rId3" Type="http://schemas.openxmlformats.org/officeDocument/2006/relationships/notesSlide" Target="../notesSlides/notesSlide5.xml"  /></Relationships>
</file>

<file path=ppt/slides/_rels/slide6.xml.rels><?xml version="1.0" encoding="UTF-8" standalone="yes" ?><Relationships xmlns="http://schemas.openxmlformats.org/package/2006/relationships"><Relationship Id="rId1" Type="http://schemas.openxmlformats.org/officeDocument/2006/relationships/image" Target="../media/image10.jpeg"  /><Relationship Id="rId2" Type="http://schemas.openxmlformats.org/officeDocument/2006/relationships/slideLayout" Target="../slideLayouts/slideLayout1.xml"  /><Relationship Id="rId3" Type="http://schemas.openxmlformats.org/officeDocument/2006/relationships/notesSlide" Target="../notesSlides/notesSlide6.xml"  /></Relationships>
</file>

<file path=ppt/slides/_rels/slide7.xml.rels><?xml version="1.0" encoding="UTF-8" standalone="yes" ?><Relationships xmlns="http://schemas.openxmlformats.org/package/2006/relationships"><Relationship Id="rId1" Type="http://schemas.openxmlformats.org/officeDocument/2006/relationships/image" Target="../media/image11.jpeg"  /><Relationship Id="rId2" Type="http://schemas.openxmlformats.org/officeDocument/2006/relationships/slideLayout" Target="../slideLayouts/slideLayout1.xml"  /><Relationship Id="rId3" Type="http://schemas.openxmlformats.org/officeDocument/2006/relationships/notesSlide" Target="../notesSlides/notesSlide7.xml"  /></Relationships>
</file>

<file path=ppt/slides/_rels/slide8.xml.rels><?xml version="1.0" encoding="UTF-8" standalone="yes" ?><Relationships xmlns="http://schemas.openxmlformats.org/package/2006/relationships"><Relationship Id="rId1" Type="http://schemas.openxmlformats.org/officeDocument/2006/relationships/image" Target="../media/image12.jpeg"  /><Relationship Id="rId2" Type="http://schemas.openxmlformats.org/officeDocument/2006/relationships/slideLayout" Target="../slideLayouts/slideLayout1.xml"  /><Relationship Id="rId3" Type="http://schemas.openxmlformats.org/officeDocument/2006/relationships/notesSlide" Target="../notesSlides/notesSlide8.xml"  /></Relationships>
</file>

<file path=ppt/slides/_rels/slide9.xml.rels><?xml version="1.0" encoding="UTF-8" standalone="yes" ?><Relationships xmlns="http://schemas.openxmlformats.org/package/2006/relationships"><Relationship Id="rId1" Type="http://schemas.openxmlformats.org/officeDocument/2006/relationships/image" Target="../media/image13.jpeg"  /><Relationship Id="rId2" Type="http://schemas.openxmlformats.org/officeDocument/2006/relationships/image" Target="../media/image14.png"  /><Relationship Id="rId3" Type="http://schemas.openxmlformats.org/officeDocument/2006/relationships/slideLayout" Target="../slideLayouts/slideLayout1.xml"  /><Relationship Id="rId4" Type="http://schemas.openxmlformats.org/officeDocument/2006/relationships/notesSlide" Target="../notesSlides/notesSlide9.xml"  /></Relationships>
</file>

<file path=ppt/slides/_rels/slide10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0.xml"  /><Relationship Id="rId2" Type="http://schemas.openxmlformats.org/officeDocument/2006/relationships/slideLayout" Target="../slideLayouts/slideLayout1.xml"  /><Relationship Id="rId3" Type="http://schemas.openxmlformats.org/officeDocument/2006/relationships/image" Target="../media/image15.jpeg"  /></Relationships>
</file>

<file path=ppt/slides/_rels/slide11.xml.rels><?xml version="1.0" encoding="UTF-8" standalone="yes" ?><Relationships xmlns="http://schemas.openxmlformats.org/package/2006/relationships"><Relationship Id="rId1" Type="http://schemas.openxmlformats.org/officeDocument/2006/relationships/image" Target="../media/image16.jpeg"  /><Relationship Id="rId2" Type="http://schemas.openxmlformats.org/officeDocument/2006/relationships/slideLayout" Target="../slideLayouts/slideLayout1.xml"  /><Relationship Id="rId3" Type="http://schemas.openxmlformats.org/officeDocument/2006/relationships/notesSlide" Target="../notesSlides/notesSlide11.xml"  /></Relationships>
</file>

<file path=ppt/slides/_rels/slide12.xml.rels><?xml version="1.0" encoding="UTF-8" standalone="yes" ?><Relationships xmlns="http://schemas.openxmlformats.org/package/2006/relationships"><Relationship Id="rId1" Type="http://schemas.openxmlformats.org/officeDocument/2006/relationships/image" Target="../media/image17.jpeg"  /><Relationship Id="rId2" Type="http://schemas.openxmlformats.org/officeDocument/2006/relationships/slideLayout" Target="../slideLayouts/slideLayout1.xml"  /><Relationship Id="rId3" Type="http://schemas.openxmlformats.org/officeDocument/2006/relationships/notesSlide" Target="../notesSlides/notesSlide12.xml" 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28625" y="764381"/>
            <a:ext cx="8286750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150" b="1" dirty="0">
                <a:solidFill>
                  <a:srgbClr val="1A202C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주식 등락률 예측</a:t>
            </a:r>
            <a:r>
              <a:rPr lang="en-US" sz="4150" b="1" dirty="0">
                <a:solidFill>
                  <a:srgbClr val="1A202C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
</a:t>
            </a:r>
            <a:r>
              <a:rPr lang="en-US" sz="4150" b="1" dirty="0">
                <a:solidFill>
                  <a:srgbClr val="1A202C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AI 모델 개발</a:t>
            </a:r>
            <a:endParaRPr lang="en-US" sz="4150" dirty="0"/>
          </a:p>
        </p:txBody>
      </p:sp>
      <p:sp>
        <p:nvSpPr>
          <p:cNvPr id="4" name="Text 1"/>
          <p:cNvSpPr/>
          <p:nvPr/>
        </p:nvSpPr>
        <p:spPr>
          <a:xfrm>
            <a:off x="428625" y="2364581"/>
            <a:ext cx="6429375" cy="6179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KOSPI/KOSDAQ 전 종목 대상 9개 회귀 모델 비교 분석 및 실전 검증 보고서</a:t>
            </a:r>
            <a:endParaRPr lang="en-US" sz="1700" dirty="0"/>
          </a:p>
        </p:txBody>
      </p:sp>
      <p:sp>
        <p:nvSpPr>
          <p:cNvPr id="5" name="Shape 2"/>
          <p:cNvSpPr/>
          <p:nvPr/>
        </p:nvSpPr>
        <p:spPr>
          <a:xfrm>
            <a:off x="428625" y="4729163"/>
            <a:ext cx="8286750" cy="271463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</p:sp>
      <p:sp>
        <p:nvSpPr>
          <p:cNvPr id="6" name="Shape 3"/>
          <p:cNvSpPr/>
          <p:nvPr/>
        </p:nvSpPr>
        <p:spPr>
          <a:xfrm>
            <a:off x="428625" y="4729163"/>
            <a:ext cx="8286750" cy="14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7" name="Text 4"/>
          <p:cNvSpPr/>
          <p:nvPr/>
        </p:nvSpPr>
        <p:spPr>
          <a:xfrm>
            <a:off x="428625" y="4829175"/>
            <a:ext cx="769739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spc="1" kern="0" dirty="0">
                <a:solidFill>
                  <a:srgbClr val="2B6CB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#데이터수집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398389" y="4829175"/>
            <a:ext cx="769739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spc="1" kern="0" dirty="0">
                <a:solidFill>
                  <a:srgbClr val="2B6CB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#기술적지표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2368153" y="4829175"/>
            <a:ext cx="498277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spc="1" kern="0" dirty="0">
                <a:solidFill>
                  <a:srgbClr val="2B6CB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#딥러닝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3066455" y="4829175"/>
            <a:ext cx="634008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spc="1" kern="0" dirty="0">
                <a:solidFill>
                  <a:srgbClr val="2B6CB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#백테스팅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3900488" y="4829175"/>
            <a:ext cx="998339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spc="1" kern="0" dirty="0">
                <a:solidFill>
                  <a:srgbClr val="2B6CB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#2025실전검증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7934920" y="4845248"/>
            <a:ext cx="780455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A0AEC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2026. 04. 26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2286000" cy="5143500"/>
          </a:xfrm>
          <a:prstGeom prst="rect">
            <a:avLst/>
          </a:prstGeom>
          <a:solidFill>
            <a:srgbClr val="1A202C"/>
          </a:solidFill>
          <a:ln/>
        </p:spPr>
      </p:sp>
      <p:sp>
        <p:nvSpPr>
          <p:cNvPr id="4" name="Text 1"/>
          <p:cNvSpPr/>
          <p:nvPr/>
        </p:nvSpPr>
        <p:spPr>
          <a:xfrm>
            <a:off x="428625" y="571500"/>
            <a:ext cx="1857375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2450" b="1" spc="2" kern="0" dirty="0">
                <a:solidFill>
                  <a:srgbClr val="FFFFFF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CONTENTS</a:t>
            </a:r>
            <a:endParaRPr lang="en-US" sz="2450" dirty="0"/>
          </a:p>
        </p:txBody>
      </p:sp>
      <p:sp>
        <p:nvSpPr>
          <p:cNvPr id="5" name="Text 2"/>
          <p:cNvSpPr/>
          <p:nvPr/>
        </p:nvSpPr>
        <p:spPr>
          <a:xfrm>
            <a:off x="2857500" y="571500"/>
            <a:ext cx="5715000" cy="4625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2450" b="1" dirty="0">
                <a:solidFill>
                  <a:srgbClr val="1A202C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목차</a:t>
            </a:r>
            <a:endParaRPr lang="en-US" sz="2450" dirty="0"/>
          </a:p>
        </p:txBody>
      </p:sp>
      <p:sp>
        <p:nvSpPr>
          <p:cNvPr id="6" name="Text 3"/>
          <p:cNvSpPr/>
          <p:nvPr/>
        </p:nvSpPr>
        <p:spPr>
          <a:xfrm>
            <a:off x="2857500" y="1685925"/>
            <a:ext cx="571500" cy="20716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B6CB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01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3429000" y="1562695"/>
            <a:ext cx="5143500" cy="2696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A202C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프로젝트 개요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3429000" y="1860947"/>
            <a:ext cx="5143500" cy="1553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연구 배경, 목적 및 데이터 범위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2857500" y="2325291"/>
            <a:ext cx="571500" cy="20716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B6CB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02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3429000" y="2202061"/>
            <a:ext cx="5143500" cy="2696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A202C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기술 스택 &amp; 아키텍처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3429000" y="2500313"/>
            <a:ext cx="5143500" cy="1553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수집 파이프라인, 특성 공학, 모델 구조</a:t>
            </a:r>
            <a:endParaRPr lang="en-US" sz="850" dirty="0"/>
          </a:p>
        </p:txBody>
      </p:sp>
      <p:sp>
        <p:nvSpPr>
          <p:cNvPr id="12" name="Text 9"/>
          <p:cNvSpPr/>
          <p:nvPr/>
        </p:nvSpPr>
        <p:spPr>
          <a:xfrm>
            <a:off x="2857500" y="2964656"/>
            <a:ext cx="571500" cy="20716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B6CB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03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3429000" y="2841427"/>
            <a:ext cx="5143500" cy="2696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A202C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모델별 상세 분석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3429000" y="3139678"/>
            <a:ext cx="5143500" cy="1553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LSTM, Random Forest, XGBoost 등 9개 모델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2857500" y="3604022"/>
            <a:ext cx="571500" cy="20716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B6CB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04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429000" y="3480792"/>
            <a:ext cx="5143500" cy="2696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A202C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성능 비교 및 실전 검증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3429000" y="3779044"/>
            <a:ext cx="5143500" cy="1553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모델별 지표 비교 및 2025년 OOS 검증</a:t>
            </a:r>
            <a:endParaRPr lang="en-US" sz="850" dirty="0"/>
          </a:p>
        </p:txBody>
      </p:sp>
      <p:sp>
        <p:nvSpPr>
          <p:cNvPr id="18" name="Text 15"/>
          <p:cNvSpPr/>
          <p:nvPr/>
        </p:nvSpPr>
        <p:spPr>
          <a:xfrm>
            <a:off x="2857500" y="4243388"/>
            <a:ext cx="571500" cy="20716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B6CB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05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3429000" y="4120158"/>
            <a:ext cx="5143500" cy="2696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A202C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백테스팅 및 결론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3429000" y="4418409"/>
            <a:ext cx="5143500" cy="1553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전략 성과 분석 및 향후 개선 방향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28625" y="428625"/>
            <a:ext cx="8286750" cy="30896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202C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01 프로젝트 개요: 시장 대표성 확보를 위한 데이터 설계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428625" y="1309092"/>
            <a:ext cx="2571750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2B6CB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RESEARCH OBJECTIVE</a:t>
            </a:r>
            <a:endParaRPr lang="en-US" sz="700" dirty="0"/>
          </a:p>
        </p:txBody>
      </p:sp>
      <p:sp>
        <p:nvSpPr>
          <p:cNvPr id="5" name="Text 2"/>
          <p:cNvSpPr/>
          <p:nvPr/>
        </p:nvSpPr>
        <p:spPr>
          <a:xfrm>
            <a:off x="428625" y="1516261"/>
            <a:ext cx="2571750" cy="2321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202C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범용 모델 개발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428625" y="1862733"/>
            <a:ext cx="2571750" cy="3657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단일 종목 분석의 한계를 극복하고 시장 규모별 다양한 패턴을 학습하는 AI 모델을 구축합니다.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3286125" y="1309092"/>
            <a:ext cx="2571750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2B6CB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DATA SCOPE</a:t>
            </a:r>
            <a:endParaRPr lang="en-US" sz="700" dirty="0"/>
          </a:p>
        </p:txBody>
      </p:sp>
      <p:sp>
        <p:nvSpPr>
          <p:cNvPr id="8" name="Text 5"/>
          <p:cNvSpPr/>
          <p:nvPr/>
        </p:nvSpPr>
        <p:spPr>
          <a:xfrm>
            <a:off x="3286125" y="1516261"/>
            <a:ext cx="2571750" cy="2321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202C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2,731개 전 종목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3286125" y="1862733"/>
            <a:ext cx="2571750" cy="3657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KOSPI/KOSDAQ 전 종목 데이터를 수집하여 시장 전체의 흐름을 반영하는 데이터셋을 구성했습니다.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6143625" y="1309092"/>
            <a:ext cx="2571750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2B6CB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VALIDATION SYSTEM</a:t>
            </a:r>
            <a:endParaRPr lang="en-US" sz="700" dirty="0"/>
          </a:p>
        </p:txBody>
      </p:sp>
      <p:sp>
        <p:nvSpPr>
          <p:cNvPr id="11" name="Text 8"/>
          <p:cNvSpPr/>
          <p:nvPr/>
        </p:nvSpPr>
        <p:spPr>
          <a:xfrm>
            <a:off x="6143625" y="1516261"/>
            <a:ext cx="2571750" cy="2321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202C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2025 실전 검증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143625" y="1862733"/>
            <a:ext cx="2571750" cy="3657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2019-2024 학습 데이터와 별개로 2025년 OOS 데이터를 통해 모델의 일반화 성능을 측정합니다.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428625" y="2916436"/>
            <a:ext cx="8286750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2B6CB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STRATIFIED SAMPLING STRATEGY</a:t>
            </a:r>
            <a:endParaRPr lang="en-US" sz="700" dirty="0"/>
          </a:p>
        </p:txBody>
      </p:sp>
      <p:sp>
        <p:nvSpPr>
          <p:cNvPr id="14" name="Shape 11"/>
          <p:cNvSpPr/>
          <p:nvPr/>
        </p:nvSpPr>
        <p:spPr>
          <a:xfrm>
            <a:off x="428625" y="3180755"/>
            <a:ext cx="1667228" cy="391120"/>
          </a:xfrm>
          <a:prstGeom prst="rect">
            <a:avLst/>
          </a:prstGeom>
          <a:solidFill>
            <a:srgbClr val="F7FAFC"/>
          </a:solidFill>
          <a:ln/>
        </p:spPr>
      </p:sp>
      <p:sp>
        <p:nvSpPr>
          <p:cNvPr id="15" name="Shape 12"/>
          <p:cNvSpPr/>
          <p:nvPr/>
        </p:nvSpPr>
        <p:spPr>
          <a:xfrm>
            <a:off x="428625" y="3557588"/>
            <a:ext cx="1667228" cy="14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6" name="Text 13"/>
          <p:cNvSpPr/>
          <p:nvPr/>
        </p:nvSpPr>
        <p:spPr>
          <a:xfrm>
            <a:off x="428625" y="3180755"/>
            <a:ext cx="1667228" cy="391120"/>
          </a:xfrm>
          <a:prstGeom prst="rect">
            <a:avLst/>
          </a:prstGeom>
          <a:noFill/>
          <a:ln/>
        </p:spPr>
        <p:txBody>
          <a:bodyPr wrap="square" lIns="136017" tIns="136017" rIns="136017" bIns="136017" rtlCol="0" anchor="ctr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A202C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시가총액 구간</a:t>
            </a:r>
            <a:endParaRPr lang="en-US" sz="800" dirty="0"/>
          </a:p>
        </p:txBody>
      </p:sp>
      <p:sp>
        <p:nvSpPr>
          <p:cNvPr id="17" name="Shape 14"/>
          <p:cNvSpPr/>
          <p:nvPr/>
        </p:nvSpPr>
        <p:spPr>
          <a:xfrm>
            <a:off x="2095853" y="3180755"/>
            <a:ext cx="1271615" cy="391120"/>
          </a:xfrm>
          <a:prstGeom prst="rect">
            <a:avLst/>
          </a:prstGeom>
          <a:solidFill>
            <a:srgbClr val="F7FAFC"/>
          </a:solidFill>
          <a:ln/>
        </p:spPr>
      </p:sp>
      <p:sp>
        <p:nvSpPr>
          <p:cNvPr id="18" name="Shape 15"/>
          <p:cNvSpPr/>
          <p:nvPr/>
        </p:nvSpPr>
        <p:spPr>
          <a:xfrm>
            <a:off x="2095853" y="3557588"/>
            <a:ext cx="1271615" cy="14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9" name="Text 16"/>
          <p:cNvSpPr/>
          <p:nvPr/>
        </p:nvSpPr>
        <p:spPr>
          <a:xfrm>
            <a:off x="2095853" y="3180755"/>
            <a:ext cx="1271615" cy="391120"/>
          </a:xfrm>
          <a:prstGeom prst="rect">
            <a:avLst/>
          </a:prstGeom>
          <a:noFill/>
          <a:ln/>
        </p:spPr>
        <p:txBody>
          <a:bodyPr wrap="none" lIns="136017" tIns="136017" rIns="136017" bIns="136017" rtlCol="0" anchor="ctr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A202C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샘플링 종목 수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3367469" y="3180755"/>
            <a:ext cx="3021276" cy="391120"/>
          </a:xfrm>
          <a:prstGeom prst="rect">
            <a:avLst/>
          </a:prstGeom>
          <a:solidFill>
            <a:srgbClr val="F7FAFC"/>
          </a:solidFill>
          <a:ln/>
        </p:spPr>
      </p:sp>
      <p:sp>
        <p:nvSpPr>
          <p:cNvPr id="21" name="Shape 18"/>
          <p:cNvSpPr/>
          <p:nvPr/>
        </p:nvSpPr>
        <p:spPr>
          <a:xfrm>
            <a:off x="3367469" y="3557588"/>
            <a:ext cx="3021276" cy="14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2" name="Text 19"/>
          <p:cNvSpPr/>
          <p:nvPr/>
        </p:nvSpPr>
        <p:spPr>
          <a:xfrm>
            <a:off x="3367469" y="3180755"/>
            <a:ext cx="3021276" cy="391120"/>
          </a:xfrm>
          <a:prstGeom prst="rect">
            <a:avLst/>
          </a:prstGeom>
          <a:noFill/>
          <a:ln/>
        </p:spPr>
        <p:txBody>
          <a:bodyPr wrap="square" lIns="136017" tIns="136017" rIns="136017" bIns="136017" rtlCol="0" anchor="ctr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A202C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주요 특징</a:t>
            </a:r>
            <a:endParaRPr lang="en-US" sz="800" dirty="0"/>
          </a:p>
        </p:txBody>
      </p:sp>
      <p:sp>
        <p:nvSpPr>
          <p:cNvPr id="23" name="Shape 20"/>
          <p:cNvSpPr/>
          <p:nvPr/>
        </p:nvSpPr>
        <p:spPr>
          <a:xfrm>
            <a:off x="6388745" y="3180755"/>
            <a:ext cx="2326630" cy="391120"/>
          </a:xfrm>
          <a:prstGeom prst="rect">
            <a:avLst/>
          </a:prstGeom>
          <a:solidFill>
            <a:srgbClr val="F7FAFC"/>
          </a:solidFill>
          <a:ln/>
        </p:spPr>
      </p:sp>
      <p:sp>
        <p:nvSpPr>
          <p:cNvPr id="24" name="Shape 21"/>
          <p:cNvSpPr/>
          <p:nvPr/>
        </p:nvSpPr>
        <p:spPr>
          <a:xfrm>
            <a:off x="6388745" y="3557588"/>
            <a:ext cx="2326630" cy="14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5" name="Text 22"/>
          <p:cNvSpPr/>
          <p:nvPr/>
        </p:nvSpPr>
        <p:spPr>
          <a:xfrm>
            <a:off x="6388745" y="3180755"/>
            <a:ext cx="2326630" cy="391120"/>
          </a:xfrm>
          <a:prstGeom prst="rect">
            <a:avLst/>
          </a:prstGeom>
          <a:noFill/>
          <a:ln/>
        </p:spPr>
        <p:txBody>
          <a:bodyPr wrap="square" lIns="136017" tIns="136017" rIns="136017" bIns="136017" rtlCol="0" anchor="ctr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A202C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대표 종목 예시</a:t>
            </a:r>
            <a:endParaRPr lang="en-US" sz="800" dirty="0"/>
          </a:p>
        </p:txBody>
      </p:sp>
      <p:sp>
        <p:nvSpPr>
          <p:cNvPr id="26" name="Text 23"/>
          <p:cNvSpPr/>
          <p:nvPr/>
        </p:nvSpPr>
        <p:spPr>
          <a:xfrm>
            <a:off x="428625" y="3579019"/>
            <a:ext cx="1667228" cy="387548"/>
          </a:xfrm>
          <a:prstGeom prst="rect">
            <a:avLst/>
          </a:prstGeom>
          <a:noFill/>
          <a:ln/>
        </p:spPr>
        <p:txBody>
          <a:bodyPr wrap="square" lIns="136017" tIns="136017" rIns="136017" bIns="136017" rtlCol="0" anchor="ctr">
            <a:sp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대형주 (상위 25%)</a:t>
            </a:r>
            <a:endParaRPr lang="en-US" sz="850" dirty="0"/>
          </a:p>
        </p:txBody>
      </p:sp>
      <p:sp>
        <p:nvSpPr>
          <p:cNvPr id="27" name="Text 24"/>
          <p:cNvSpPr/>
          <p:nvPr/>
        </p:nvSpPr>
        <p:spPr>
          <a:xfrm>
            <a:off x="2210153" y="3698677"/>
            <a:ext cx="380405" cy="13751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2B6CB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50종목</a:t>
            </a:r>
            <a:endParaRPr lang="en-US" sz="800" dirty="0"/>
          </a:p>
        </p:txBody>
      </p:sp>
      <p:sp>
        <p:nvSpPr>
          <p:cNvPr id="28" name="Text 25"/>
          <p:cNvSpPr/>
          <p:nvPr/>
        </p:nvSpPr>
        <p:spPr>
          <a:xfrm>
            <a:off x="3367469" y="3579019"/>
            <a:ext cx="3021276" cy="387548"/>
          </a:xfrm>
          <a:prstGeom prst="rect">
            <a:avLst/>
          </a:prstGeom>
          <a:noFill/>
          <a:ln/>
        </p:spPr>
        <p:txBody>
          <a:bodyPr wrap="square" lIns="136017" tIns="136017" rIns="136017" bIns="136017" rtlCol="0" anchor="ctr">
            <a:sp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외국인/기관 수급 중심, 지수 연동성 높음</a:t>
            </a:r>
            <a:endParaRPr lang="en-US" sz="850" dirty="0"/>
          </a:p>
        </p:txBody>
      </p:sp>
      <p:sp>
        <p:nvSpPr>
          <p:cNvPr id="29" name="Text 26"/>
          <p:cNvSpPr/>
          <p:nvPr/>
        </p:nvSpPr>
        <p:spPr>
          <a:xfrm>
            <a:off x="6388745" y="3579019"/>
            <a:ext cx="2326630" cy="387548"/>
          </a:xfrm>
          <a:prstGeom prst="rect">
            <a:avLst/>
          </a:prstGeom>
          <a:noFill/>
          <a:ln/>
        </p:spPr>
        <p:txBody>
          <a:bodyPr wrap="square" lIns="136017" tIns="136017" rIns="136017" bIns="136017" rtlCol="0" anchor="ctr">
            <a:sp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삼성전자, SK하이닉스, 현대차</a:t>
            </a:r>
            <a:endParaRPr lang="en-US" sz="850" dirty="0"/>
          </a:p>
        </p:txBody>
      </p:sp>
      <p:sp>
        <p:nvSpPr>
          <p:cNvPr id="30" name="Text 27"/>
          <p:cNvSpPr/>
          <p:nvPr/>
        </p:nvSpPr>
        <p:spPr>
          <a:xfrm>
            <a:off x="428625" y="3966567"/>
            <a:ext cx="1667228" cy="391120"/>
          </a:xfrm>
          <a:prstGeom prst="rect">
            <a:avLst/>
          </a:prstGeom>
          <a:noFill/>
          <a:ln/>
        </p:spPr>
        <p:txBody>
          <a:bodyPr wrap="square" lIns="136017" tIns="136017" rIns="136017" bIns="136017" rtlCol="0" anchor="ctr">
            <a:sp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중대형주 (25~50%)</a:t>
            </a:r>
            <a:endParaRPr lang="en-US" sz="850" dirty="0"/>
          </a:p>
        </p:txBody>
      </p:sp>
      <p:sp>
        <p:nvSpPr>
          <p:cNvPr id="31" name="Text 28"/>
          <p:cNvSpPr/>
          <p:nvPr/>
        </p:nvSpPr>
        <p:spPr>
          <a:xfrm>
            <a:off x="2210153" y="4089797"/>
            <a:ext cx="380405" cy="13751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2B6CB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50종목</a:t>
            </a:r>
            <a:endParaRPr lang="en-US" sz="800" dirty="0"/>
          </a:p>
        </p:txBody>
      </p:sp>
      <p:sp>
        <p:nvSpPr>
          <p:cNvPr id="32" name="Text 29"/>
          <p:cNvSpPr/>
          <p:nvPr/>
        </p:nvSpPr>
        <p:spPr>
          <a:xfrm>
            <a:off x="3367469" y="3966567"/>
            <a:ext cx="3021276" cy="391120"/>
          </a:xfrm>
          <a:prstGeom prst="rect">
            <a:avLst/>
          </a:prstGeom>
          <a:noFill/>
          <a:ln/>
        </p:spPr>
        <p:txBody>
          <a:bodyPr wrap="square" lIns="136017" tIns="136017" rIns="136017" bIns="136017" rtlCol="0" anchor="ctr">
            <a:sp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업종 대표주, 안정적인 펀더멘털</a:t>
            </a:r>
            <a:endParaRPr lang="en-US" sz="850" dirty="0"/>
          </a:p>
        </p:txBody>
      </p:sp>
      <p:sp>
        <p:nvSpPr>
          <p:cNvPr id="33" name="Text 30"/>
          <p:cNvSpPr/>
          <p:nvPr/>
        </p:nvSpPr>
        <p:spPr>
          <a:xfrm>
            <a:off x="6388745" y="3966567"/>
            <a:ext cx="2326630" cy="391120"/>
          </a:xfrm>
          <a:prstGeom prst="rect">
            <a:avLst/>
          </a:prstGeom>
          <a:noFill/>
          <a:ln/>
        </p:spPr>
        <p:txBody>
          <a:bodyPr wrap="square" lIns="136017" tIns="136017" rIns="136017" bIns="136017" rtlCol="0" anchor="ctr">
            <a:sp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KB금융, 포스코홀딩스</a:t>
            </a:r>
            <a:endParaRPr lang="en-US" sz="850" dirty="0"/>
          </a:p>
        </p:txBody>
      </p:sp>
      <p:sp>
        <p:nvSpPr>
          <p:cNvPr id="34" name="Text 31"/>
          <p:cNvSpPr/>
          <p:nvPr/>
        </p:nvSpPr>
        <p:spPr>
          <a:xfrm>
            <a:off x="428625" y="4357688"/>
            <a:ext cx="1667228" cy="391120"/>
          </a:xfrm>
          <a:prstGeom prst="rect">
            <a:avLst/>
          </a:prstGeom>
          <a:noFill/>
          <a:ln/>
        </p:spPr>
        <p:txBody>
          <a:bodyPr wrap="square" lIns="136017" tIns="136017" rIns="136017" bIns="136017" rtlCol="0" anchor="ctr">
            <a:sp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중소형주 (50~75%)</a:t>
            </a:r>
            <a:endParaRPr lang="en-US" sz="850" dirty="0"/>
          </a:p>
        </p:txBody>
      </p:sp>
      <p:sp>
        <p:nvSpPr>
          <p:cNvPr id="35" name="Text 32"/>
          <p:cNvSpPr/>
          <p:nvPr/>
        </p:nvSpPr>
        <p:spPr>
          <a:xfrm>
            <a:off x="2210153" y="4480917"/>
            <a:ext cx="380405" cy="13751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2B6CB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50종목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3367469" y="4357688"/>
            <a:ext cx="3021276" cy="391120"/>
          </a:xfrm>
          <a:prstGeom prst="rect">
            <a:avLst/>
          </a:prstGeom>
          <a:noFill/>
          <a:ln/>
        </p:spPr>
        <p:txBody>
          <a:bodyPr wrap="square" lIns="136017" tIns="136017" rIns="136017" bIns="136017" rtlCol="0" anchor="ctr">
            <a:sp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개별 모멘텀 및 수급 영향력 확대</a:t>
            </a:r>
            <a:endParaRPr lang="en-US" sz="850" dirty="0"/>
          </a:p>
        </p:txBody>
      </p:sp>
      <p:sp>
        <p:nvSpPr>
          <p:cNvPr id="37" name="Text 34"/>
          <p:cNvSpPr/>
          <p:nvPr/>
        </p:nvSpPr>
        <p:spPr>
          <a:xfrm>
            <a:off x="6388745" y="4357688"/>
            <a:ext cx="2326630" cy="391120"/>
          </a:xfrm>
          <a:prstGeom prst="rect">
            <a:avLst/>
          </a:prstGeom>
          <a:noFill/>
          <a:ln/>
        </p:spPr>
        <p:txBody>
          <a:bodyPr wrap="square" lIns="136017" tIns="136017" rIns="136017" bIns="136017" rtlCol="0" anchor="ctr">
            <a:sp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대원제약, 율촌화학</a:t>
            </a:r>
            <a:endParaRPr lang="en-US" sz="850" dirty="0"/>
          </a:p>
        </p:txBody>
      </p:sp>
      <p:sp>
        <p:nvSpPr>
          <p:cNvPr id="38" name="Text 35"/>
          <p:cNvSpPr/>
          <p:nvPr/>
        </p:nvSpPr>
        <p:spPr>
          <a:xfrm>
            <a:off x="428625" y="4748808"/>
            <a:ext cx="1667228" cy="391120"/>
          </a:xfrm>
          <a:prstGeom prst="rect">
            <a:avLst/>
          </a:prstGeom>
          <a:noFill/>
          <a:ln/>
        </p:spPr>
        <p:txBody>
          <a:bodyPr wrap="square" lIns="136017" tIns="136017" rIns="136017" bIns="136017" rtlCol="0" anchor="ctr">
            <a:sp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소형주 (하위 25%)</a:t>
            </a:r>
            <a:endParaRPr lang="en-US" sz="850" dirty="0"/>
          </a:p>
        </p:txBody>
      </p:sp>
      <p:sp>
        <p:nvSpPr>
          <p:cNvPr id="39" name="Text 36"/>
          <p:cNvSpPr/>
          <p:nvPr/>
        </p:nvSpPr>
        <p:spPr>
          <a:xfrm>
            <a:off x="2210153" y="4872038"/>
            <a:ext cx="380405" cy="13751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2B6CB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50종목</a:t>
            </a:r>
            <a:endParaRPr lang="en-US" sz="800" dirty="0"/>
          </a:p>
        </p:txBody>
      </p:sp>
      <p:sp>
        <p:nvSpPr>
          <p:cNvPr id="40" name="Text 37"/>
          <p:cNvSpPr/>
          <p:nvPr/>
        </p:nvSpPr>
        <p:spPr>
          <a:xfrm>
            <a:off x="3367469" y="4748808"/>
            <a:ext cx="3021276" cy="391120"/>
          </a:xfrm>
          <a:prstGeom prst="rect">
            <a:avLst/>
          </a:prstGeom>
          <a:noFill/>
          <a:ln/>
        </p:spPr>
        <p:txBody>
          <a:bodyPr wrap="square" lIns="136017" tIns="136017" rIns="136017" bIns="136017" rtlCol="0" anchor="ctr">
            <a:sp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높은 변동성, 테마 및 수급 중심 패턴</a:t>
            </a:r>
            <a:endParaRPr lang="en-US" sz="850" dirty="0"/>
          </a:p>
        </p:txBody>
      </p:sp>
      <p:sp>
        <p:nvSpPr>
          <p:cNvPr id="41" name="Text 38"/>
          <p:cNvSpPr/>
          <p:nvPr/>
        </p:nvSpPr>
        <p:spPr>
          <a:xfrm>
            <a:off x="6388745" y="4748808"/>
            <a:ext cx="2326630" cy="391120"/>
          </a:xfrm>
          <a:prstGeom prst="rect">
            <a:avLst/>
          </a:prstGeom>
          <a:noFill/>
          <a:ln/>
        </p:spPr>
        <p:txBody>
          <a:bodyPr wrap="square" lIns="136017" tIns="136017" rIns="136017" bIns="136017" rtlCol="0" anchor="ctr">
            <a:sp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KR모터스, 영흥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28625" y="428625"/>
            <a:ext cx="8286750" cy="30896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202C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02 기술 스택 &amp; 아키텍처: 고성능 예측 파이프라인</a:t>
            </a:r>
            <a:endParaRPr lang="en-US" sz="1600" dirty="0"/>
          </a:p>
        </p:txBody>
      </p:sp>
      <p:sp>
        <p:nvSpPr>
          <p:cNvPr id="4" name="Shape 1"/>
          <p:cNvSpPr/>
          <p:nvPr/>
        </p:nvSpPr>
        <p:spPr>
          <a:xfrm>
            <a:off x="428625" y="1285261"/>
            <a:ext cx="2060972" cy="3348047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5" name="Shape 2"/>
          <p:cNvSpPr/>
          <p:nvPr/>
        </p:nvSpPr>
        <p:spPr>
          <a:xfrm>
            <a:off x="428625" y="1285261"/>
            <a:ext cx="2060972" cy="28575"/>
          </a:xfrm>
          <a:prstGeom prst="rect">
            <a:avLst/>
          </a:prstGeom>
          <a:solidFill>
            <a:srgbClr val="2B6CB0"/>
          </a:solidFill>
          <a:ln/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75" y="1521005"/>
            <a:ext cx="285750" cy="2286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600075" y="1919269"/>
            <a:ext cx="1718072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718096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STEP 01</a:t>
            </a:r>
            <a:endParaRPr lang="en-US" sz="700" dirty="0"/>
          </a:p>
        </p:txBody>
      </p:sp>
      <p:sp>
        <p:nvSpPr>
          <p:cNvPr id="8" name="Text 4"/>
          <p:cNvSpPr/>
          <p:nvPr/>
        </p:nvSpPr>
        <p:spPr>
          <a:xfrm>
            <a:off x="600075" y="2097863"/>
            <a:ext cx="1718072" cy="3857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202C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데이터 수집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700088" y="2655075"/>
            <a:ext cx="1618059" cy="1375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2B6CB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FinanceDataReader</a:t>
            </a:r>
            <a:endParaRPr lang="en-US" sz="800" dirty="0"/>
          </a:p>
        </p:txBody>
      </p:sp>
      <p:sp>
        <p:nvSpPr>
          <p:cNvPr id="10" name="Text 6"/>
          <p:cNvSpPr/>
          <p:nvPr/>
        </p:nvSpPr>
        <p:spPr>
          <a:xfrm>
            <a:off x="700088" y="2821167"/>
            <a:ext cx="1618059" cy="2800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7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KOSPI/KOSDAQ 전 종목 시세 데이터 확보</a:t>
            </a:r>
            <a:endParaRPr lang="en-US" sz="750" dirty="0"/>
          </a:p>
        </p:txBody>
      </p:sp>
      <p:sp>
        <p:nvSpPr>
          <p:cNvPr id="11" name="Text 7"/>
          <p:cNvSpPr/>
          <p:nvPr/>
        </p:nvSpPr>
        <p:spPr>
          <a:xfrm>
            <a:off x="700088" y="3215469"/>
            <a:ext cx="1618059" cy="1375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2B6CB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Parallel Processing</a:t>
            </a:r>
            <a:endParaRPr lang="en-US" sz="800" dirty="0"/>
          </a:p>
        </p:txBody>
      </p:sp>
      <p:sp>
        <p:nvSpPr>
          <p:cNvPr id="12" name="Text 8"/>
          <p:cNvSpPr/>
          <p:nvPr/>
        </p:nvSpPr>
        <p:spPr>
          <a:xfrm>
            <a:off x="700088" y="3381561"/>
            <a:ext cx="1618059" cy="2800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7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ThreadPoolExecutor 기반 병렬 다운로드 최적화</a:t>
            </a:r>
            <a:endParaRPr lang="en-US" sz="750" dirty="0"/>
          </a:p>
        </p:txBody>
      </p:sp>
      <p:sp>
        <p:nvSpPr>
          <p:cNvPr id="13" name="Shape 9"/>
          <p:cNvSpPr/>
          <p:nvPr/>
        </p:nvSpPr>
        <p:spPr>
          <a:xfrm>
            <a:off x="2503884" y="1285261"/>
            <a:ext cx="2060972" cy="3348047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14" name="Shape 10"/>
          <p:cNvSpPr/>
          <p:nvPr/>
        </p:nvSpPr>
        <p:spPr>
          <a:xfrm>
            <a:off x="2503884" y="1285261"/>
            <a:ext cx="2060972" cy="28575"/>
          </a:xfrm>
          <a:prstGeom prst="rect">
            <a:avLst/>
          </a:prstGeom>
          <a:solidFill>
            <a:srgbClr val="2B6CB0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5334" y="1521005"/>
            <a:ext cx="228600" cy="22860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2675334" y="1919269"/>
            <a:ext cx="1718072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718096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STEP 02</a:t>
            </a:r>
            <a:endParaRPr lang="en-US" sz="700" dirty="0"/>
          </a:p>
        </p:txBody>
      </p:sp>
      <p:sp>
        <p:nvSpPr>
          <p:cNvPr id="17" name="Text 12"/>
          <p:cNvSpPr/>
          <p:nvPr/>
        </p:nvSpPr>
        <p:spPr>
          <a:xfrm>
            <a:off x="2675334" y="2097863"/>
            <a:ext cx="1718072" cy="3857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202C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종목 선정</a:t>
            </a:r>
            <a:endParaRPr lang="en-US" sz="1100" dirty="0"/>
          </a:p>
        </p:txBody>
      </p:sp>
      <p:sp>
        <p:nvSpPr>
          <p:cNvPr id="18" name="Text 13"/>
          <p:cNvSpPr/>
          <p:nvPr/>
        </p:nvSpPr>
        <p:spPr>
          <a:xfrm>
            <a:off x="2775347" y="2655075"/>
            <a:ext cx="1618059" cy="1375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2B6CB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Stratified Sampling</a:t>
            </a:r>
            <a:endParaRPr lang="en-US" sz="800" dirty="0"/>
          </a:p>
        </p:txBody>
      </p:sp>
      <p:sp>
        <p:nvSpPr>
          <p:cNvPr id="19" name="Text 14"/>
          <p:cNvSpPr/>
          <p:nvPr/>
        </p:nvSpPr>
        <p:spPr>
          <a:xfrm>
            <a:off x="2775347" y="2821167"/>
            <a:ext cx="1618059" cy="2800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7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시가총액 4분위 기준 200종목 층화 추출</a:t>
            </a:r>
            <a:endParaRPr lang="en-US" sz="750" dirty="0"/>
          </a:p>
        </p:txBody>
      </p:sp>
      <p:sp>
        <p:nvSpPr>
          <p:cNvPr id="20" name="Text 15"/>
          <p:cNvSpPr/>
          <p:nvPr/>
        </p:nvSpPr>
        <p:spPr>
          <a:xfrm>
            <a:off x="2775347" y="3215469"/>
            <a:ext cx="1618059" cy="1375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2B6CB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Market Cap Tier</a:t>
            </a:r>
            <a:endParaRPr lang="en-US" sz="800" dirty="0"/>
          </a:p>
        </p:txBody>
      </p:sp>
      <p:sp>
        <p:nvSpPr>
          <p:cNvPr id="21" name="Text 16"/>
          <p:cNvSpPr/>
          <p:nvPr/>
        </p:nvSpPr>
        <p:spPr>
          <a:xfrm>
            <a:off x="2775347" y="3381561"/>
            <a:ext cx="1618059" cy="2800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7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대/중/소형주 패턴의 균등한 학습 데이터 구성</a:t>
            </a:r>
            <a:endParaRPr lang="en-US" sz="750" dirty="0"/>
          </a:p>
        </p:txBody>
      </p:sp>
      <p:sp>
        <p:nvSpPr>
          <p:cNvPr id="22" name="Shape 17"/>
          <p:cNvSpPr/>
          <p:nvPr/>
        </p:nvSpPr>
        <p:spPr>
          <a:xfrm>
            <a:off x="4579144" y="1285261"/>
            <a:ext cx="2060972" cy="3348047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23" name="Shape 18"/>
          <p:cNvSpPr/>
          <p:nvPr/>
        </p:nvSpPr>
        <p:spPr>
          <a:xfrm>
            <a:off x="4579144" y="1285261"/>
            <a:ext cx="2060972" cy="28575"/>
          </a:xfrm>
          <a:prstGeom prst="rect">
            <a:avLst/>
          </a:prstGeom>
          <a:solidFill>
            <a:srgbClr val="2B6CB0"/>
          </a:solidFill>
          <a:ln/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0594" y="1521005"/>
            <a:ext cx="228600" cy="228600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4750594" y="1919269"/>
            <a:ext cx="1718072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718096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STEP 03</a:t>
            </a:r>
            <a:endParaRPr lang="en-US" sz="700" dirty="0"/>
          </a:p>
        </p:txBody>
      </p:sp>
      <p:sp>
        <p:nvSpPr>
          <p:cNvPr id="26" name="Text 20"/>
          <p:cNvSpPr/>
          <p:nvPr/>
        </p:nvSpPr>
        <p:spPr>
          <a:xfrm>
            <a:off x="4750594" y="2097863"/>
            <a:ext cx="1718072" cy="3857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202C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모델 구축</a:t>
            </a:r>
            <a:endParaRPr lang="en-US" sz="1100" dirty="0"/>
          </a:p>
        </p:txBody>
      </p:sp>
      <p:sp>
        <p:nvSpPr>
          <p:cNvPr id="27" name="Text 21"/>
          <p:cNvSpPr/>
          <p:nvPr/>
        </p:nvSpPr>
        <p:spPr>
          <a:xfrm>
            <a:off x="4850606" y="2655075"/>
            <a:ext cx="1618059" cy="1375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2B6CB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LSTM Architecture</a:t>
            </a:r>
            <a:endParaRPr lang="en-US" sz="800" dirty="0"/>
          </a:p>
        </p:txBody>
      </p:sp>
      <p:sp>
        <p:nvSpPr>
          <p:cNvPr id="28" name="Text 22"/>
          <p:cNvSpPr/>
          <p:nvPr/>
        </p:nvSpPr>
        <p:spPr>
          <a:xfrm>
            <a:off x="4850606" y="2821167"/>
            <a:ext cx="1618059" cy="2800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7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3층 구조(128-64-32) 시계열 딥러닝 모델</a:t>
            </a:r>
            <a:endParaRPr lang="en-US" sz="750" dirty="0"/>
          </a:p>
        </p:txBody>
      </p:sp>
      <p:sp>
        <p:nvSpPr>
          <p:cNvPr id="29" name="Text 23"/>
          <p:cNvSpPr/>
          <p:nvPr/>
        </p:nvSpPr>
        <p:spPr>
          <a:xfrm>
            <a:off x="4850606" y="3215469"/>
            <a:ext cx="1618059" cy="1375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2B6CB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9 Regression Models</a:t>
            </a:r>
            <a:endParaRPr lang="en-US" sz="800" dirty="0"/>
          </a:p>
        </p:txBody>
      </p:sp>
      <p:sp>
        <p:nvSpPr>
          <p:cNvPr id="30" name="Text 24"/>
          <p:cNvSpPr/>
          <p:nvPr/>
        </p:nvSpPr>
        <p:spPr>
          <a:xfrm>
            <a:off x="4850606" y="3381561"/>
            <a:ext cx="1618059" cy="2800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7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RF, XGB, Ridge, Lasso 등 다각도 성능 비교</a:t>
            </a:r>
            <a:endParaRPr lang="en-US" sz="750" dirty="0"/>
          </a:p>
        </p:txBody>
      </p:sp>
      <p:sp>
        <p:nvSpPr>
          <p:cNvPr id="31" name="Shape 25"/>
          <p:cNvSpPr/>
          <p:nvPr/>
        </p:nvSpPr>
        <p:spPr>
          <a:xfrm>
            <a:off x="6654403" y="1285261"/>
            <a:ext cx="2060972" cy="3348047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32" name="Shape 26"/>
          <p:cNvSpPr/>
          <p:nvPr/>
        </p:nvSpPr>
        <p:spPr>
          <a:xfrm>
            <a:off x="6654403" y="1285261"/>
            <a:ext cx="2060972" cy="28575"/>
          </a:xfrm>
          <a:prstGeom prst="rect">
            <a:avLst/>
          </a:prstGeom>
          <a:solidFill>
            <a:srgbClr val="2B6CB0"/>
          </a:solidFill>
          <a:ln/>
        </p:spPr>
      </p:sp>
      <p:pic>
        <p:nvPicPr>
          <p:cNvPr id="3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25853" y="1521005"/>
            <a:ext cx="228600" cy="228600"/>
          </a:xfrm>
          <a:prstGeom prst="rect">
            <a:avLst/>
          </a:prstGeom>
        </p:spPr>
      </p:pic>
      <p:sp>
        <p:nvSpPr>
          <p:cNvPr id="34" name="Text 27"/>
          <p:cNvSpPr/>
          <p:nvPr/>
        </p:nvSpPr>
        <p:spPr>
          <a:xfrm>
            <a:off x="6825853" y="1919269"/>
            <a:ext cx="1718072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718096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STEP 04</a:t>
            </a:r>
            <a:endParaRPr lang="en-US" sz="700" dirty="0"/>
          </a:p>
        </p:txBody>
      </p:sp>
      <p:sp>
        <p:nvSpPr>
          <p:cNvPr id="35" name="Text 28"/>
          <p:cNvSpPr/>
          <p:nvPr/>
        </p:nvSpPr>
        <p:spPr>
          <a:xfrm>
            <a:off x="6825853" y="2097863"/>
            <a:ext cx="1718072" cy="3857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202C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검증 및 분석</a:t>
            </a:r>
            <a:endParaRPr lang="en-US" sz="1100" dirty="0"/>
          </a:p>
        </p:txBody>
      </p:sp>
      <p:sp>
        <p:nvSpPr>
          <p:cNvPr id="36" name="Text 29"/>
          <p:cNvSpPr/>
          <p:nvPr/>
        </p:nvSpPr>
        <p:spPr>
          <a:xfrm>
            <a:off x="6925866" y="2655075"/>
            <a:ext cx="1618059" cy="1375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2B6CB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Evaluation Metrics</a:t>
            </a:r>
            <a:endParaRPr lang="en-US" sz="800" dirty="0"/>
          </a:p>
        </p:txBody>
      </p:sp>
      <p:sp>
        <p:nvSpPr>
          <p:cNvPr id="37" name="Text 30"/>
          <p:cNvSpPr/>
          <p:nvPr/>
        </p:nvSpPr>
        <p:spPr>
          <a:xfrm>
            <a:off x="6925866" y="2821167"/>
            <a:ext cx="1618059" cy="2800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7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MAE, RMSE, 방향 정확도 기반 정밀 평가</a:t>
            </a:r>
            <a:endParaRPr lang="en-US" sz="750" dirty="0"/>
          </a:p>
        </p:txBody>
      </p:sp>
      <p:sp>
        <p:nvSpPr>
          <p:cNvPr id="38" name="Text 31"/>
          <p:cNvSpPr/>
          <p:nvPr/>
        </p:nvSpPr>
        <p:spPr>
          <a:xfrm>
            <a:off x="6925866" y="3215469"/>
            <a:ext cx="1618059" cy="1375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2B6CB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Backtesting Engine</a:t>
            </a:r>
            <a:endParaRPr lang="en-US" sz="800" dirty="0"/>
          </a:p>
        </p:txBody>
      </p:sp>
      <p:sp>
        <p:nvSpPr>
          <p:cNvPr id="39" name="Text 32"/>
          <p:cNvSpPr/>
          <p:nvPr/>
        </p:nvSpPr>
        <p:spPr>
          <a:xfrm>
            <a:off x="6925866" y="3381561"/>
            <a:ext cx="1618059" cy="2800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7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MDD, Sharpe Ratio 등 실전 투자 지표 산출</a:t>
            </a:r>
            <a:endParaRPr lang="en-US" sz="750" dirty="0"/>
          </a:p>
        </p:txBody>
      </p:sp>
      <p:sp>
        <p:nvSpPr>
          <p:cNvPr id="40" name="Shape 33"/>
          <p:cNvSpPr/>
          <p:nvPr/>
        </p:nvSpPr>
        <p:spPr>
          <a:xfrm>
            <a:off x="428625" y="4914286"/>
            <a:ext cx="960834" cy="16252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41" name="Text 34"/>
          <p:cNvSpPr/>
          <p:nvPr/>
        </p:nvSpPr>
        <p:spPr>
          <a:xfrm>
            <a:off x="428625" y="4914286"/>
            <a:ext cx="960834" cy="162520"/>
          </a:xfrm>
          <a:prstGeom prst="rect">
            <a:avLst/>
          </a:prstGeom>
          <a:noFill/>
          <a:ln/>
        </p:spPr>
        <p:txBody>
          <a:bodyPr wrap="none" lIns="102108" tIns="34036" rIns="102108" bIns="34036" rtlCol="0" anchor="t">
            <a:spAutoFit/>
          </a:bodyPr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1A202C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INFRASTRUCTURE</a:t>
            </a:r>
            <a:endParaRPr lang="en-US" sz="600" dirty="0"/>
          </a:p>
        </p:txBody>
      </p:sp>
      <p:sp>
        <p:nvSpPr>
          <p:cNvPr id="42" name="Text 35"/>
          <p:cNvSpPr/>
          <p:nvPr/>
        </p:nvSpPr>
        <p:spPr>
          <a:xfrm>
            <a:off x="1475184" y="4927681"/>
            <a:ext cx="4697016" cy="1357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7180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Parquet 포맷 캐싱을 통한 고속 I/O 및 메모리 효율성 확보 | random_state=42 고정으로 실험 재현성 보장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28625" y="428625"/>
            <a:ext cx="8286750" cy="30896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202C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02 입력 설계 근거: 60일 시퀀스와 11개 핵심 지표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0" y="1281578"/>
            <a:ext cx="9144000" cy="251092"/>
          </a:xfrm>
          <a:prstGeom prst="rect">
            <a:avLst/>
          </a:prstGeom>
          <a:noFill/>
          <a:ln/>
        </p:spPr>
        <p:txBody>
          <a:bodyPr wrap="square" lIns="510286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2B6CB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SEQUENCE LENGTH: WHY 60 DAYS?</a:t>
            </a:r>
            <a:endParaRPr lang="en-US" sz="700" dirty="0"/>
          </a:p>
        </p:txBody>
      </p:sp>
      <p:sp>
        <p:nvSpPr>
          <p:cNvPr id="5" name="Text 2"/>
          <p:cNvSpPr/>
          <p:nvPr/>
        </p:nvSpPr>
        <p:spPr>
          <a:xfrm>
            <a:off x="428625" y="1832707"/>
            <a:ext cx="2571750" cy="1928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A202C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중기 추세 학습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428625" y="2111313"/>
            <a:ext cx="25717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MA_60 형성 전 과정을 입력에 포함하여 단기 노이즈</a:t>
            </a:r>
            <a:r>
              <a:rPr lang="en-US" sz="8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를 억제하고 </a:t>
            </a:r>
            <a:r>
              <a:rPr lang="en-US" sz="750" b="1" dirty="0">
                <a:solidFill>
                  <a:srgbClr val="2B6CB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중기적 방향성</a:t>
            </a:r>
            <a:r>
              <a:rPr lang="en-US" sz="8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을 직접 학습합니다.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3286125" y="1832707"/>
            <a:ext cx="2571750" cy="1928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A202C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지표 수렴 구간 확보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3286125" y="2111313"/>
            <a:ext cx="25717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RSI, MACD 등 주요 지표의 계산 윈도우(14~26일)가 </a:t>
            </a:r>
            <a:r>
              <a:rPr lang="en-US" sz="8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충분히 수렴하여 </a:t>
            </a:r>
            <a:r>
              <a:rPr lang="en-US" sz="750" b="1" dirty="0">
                <a:solidFill>
                  <a:srgbClr val="2B6CB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신뢰도 높은 신호</a:t>
            </a:r>
            <a:r>
              <a:rPr lang="en-US" sz="8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를 생성합니다.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6143625" y="1832707"/>
            <a:ext cx="2571750" cy="1928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A202C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데이터 균형 달성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6143625" y="2111313"/>
            <a:ext cx="25717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총 31,894개 시퀀스를 생성하여 학습에 필요한 </a:t>
            </a:r>
            <a:r>
              <a:rPr lang="en-US" sz="750" b="1" dirty="0">
                <a:solidFill>
                  <a:srgbClr val="2B6CB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충분한 </a:t>
            </a:r>
            <a:r>
              <a:rPr lang="en-US" sz="750" b="1" dirty="0">
                <a:solidFill>
                  <a:srgbClr val="2B6CB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샘플 수</a:t>
            </a:r>
            <a:r>
              <a:rPr lang="en-US" sz="8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와 정보의 질 사이의 균형을 확보했습니다.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0" y="3012486"/>
            <a:ext cx="9144000" cy="251120"/>
          </a:xfrm>
          <a:prstGeom prst="rect">
            <a:avLst/>
          </a:prstGeom>
          <a:noFill/>
          <a:ln/>
        </p:spPr>
        <p:txBody>
          <a:bodyPr wrap="square" lIns="510286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2B6CB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FEATURE ENGINEERING: 11 TECHNICAL INDICATORS</a:t>
            </a:r>
            <a:endParaRPr lang="en-US" sz="700" dirty="0"/>
          </a:p>
        </p:txBody>
      </p:sp>
      <p:sp>
        <p:nvSpPr>
          <p:cNvPr id="12" name="Shape 9"/>
          <p:cNvSpPr/>
          <p:nvPr/>
        </p:nvSpPr>
        <p:spPr>
          <a:xfrm>
            <a:off x="428625" y="3406480"/>
            <a:ext cx="1071563" cy="314325"/>
          </a:xfrm>
          <a:prstGeom prst="rect">
            <a:avLst/>
          </a:prstGeom>
          <a:solidFill>
            <a:srgbClr val="F7FAFC"/>
          </a:solidFill>
          <a:ln/>
        </p:spPr>
      </p:sp>
      <p:sp>
        <p:nvSpPr>
          <p:cNvPr id="13" name="Shape 10"/>
          <p:cNvSpPr/>
          <p:nvPr/>
        </p:nvSpPr>
        <p:spPr>
          <a:xfrm>
            <a:off x="428625" y="3706518"/>
            <a:ext cx="1071563" cy="14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4" name="Text 11"/>
          <p:cNvSpPr/>
          <p:nvPr/>
        </p:nvSpPr>
        <p:spPr>
          <a:xfrm>
            <a:off x="428625" y="3406480"/>
            <a:ext cx="1071563" cy="314325"/>
          </a:xfrm>
          <a:prstGeom prst="rect">
            <a:avLst/>
          </a:prstGeom>
          <a:noFill/>
          <a:ln/>
        </p:spPr>
        <p:txBody>
          <a:bodyPr wrap="none" lIns="136017" tIns="102108" rIns="136017" bIns="102108" rtlCol="0" anchor="ctr">
            <a:spAutoFit/>
          </a:bodyPr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1A202C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카테고리</a:t>
            </a:r>
            <a:endParaRPr lang="en-US" sz="700" dirty="0"/>
          </a:p>
        </p:txBody>
      </p:sp>
      <p:sp>
        <p:nvSpPr>
          <p:cNvPr id="15" name="Shape 12"/>
          <p:cNvSpPr/>
          <p:nvPr/>
        </p:nvSpPr>
        <p:spPr>
          <a:xfrm>
            <a:off x="1500188" y="3412201"/>
            <a:ext cx="1785938" cy="314325"/>
          </a:xfrm>
          <a:prstGeom prst="rect">
            <a:avLst/>
          </a:prstGeom>
          <a:solidFill>
            <a:srgbClr val="F7FAFC"/>
          </a:solidFill>
          <a:ln/>
        </p:spPr>
      </p:sp>
      <p:sp>
        <p:nvSpPr>
          <p:cNvPr id="16" name="Shape 13"/>
          <p:cNvSpPr/>
          <p:nvPr/>
        </p:nvSpPr>
        <p:spPr>
          <a:xfrm>
            <a:off x="1500188" y="3712239"/>
            <a:ext cx="1785938" cy="14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7" name="Text 14"/>
          <p:cNvSpPr/>
          <p:nvPr/>
        </p:nvSpPr>
        <p:spPr>
          <a:xfrm>
            <a:off x="1500188" y="3412201"/>
            <a:ext cx="1785938" cy="314325"/>
          </a:xfrm>
          <a:prstGeom prst="rect">
            <a:avLst/>
          </a:prstGeom>
          <a:noFill/>
          <a:ln/>
        </p:spPr>
        <p:txBody>
          <a:bodyPr wrap="square" lIns="136017" tIns="102108" rIns="136017" bIns="102108" rtlCol="0" anchor="ctr">
            <a:spAutoFit/>
          </a:bodyPr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1A202C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핵심 지표</a:t>
            </a:r>
            <a:endParaRPr lang="en-US" sz="700" dirty="0"/>
          </a:p>
        </p:txBody>
      </p:sp>
      <p:sp>
        <p:nvSpPr>
          <p:cNvPr id="18" name="Shape 15"/>
          <p:cNvSpPr/>
          <p:nvPr/>
        </p:nvSpPr>
        <p:spPr>
          <a:xfrm>
            <a:off x="3286125" y="3412201"/>
            <a:ext cx="5429250" cy="314325"/>
          </a:xfrm>
          <a:prstGeom prst="rect">
            <a:avLst/>
          </a:prstGeom>
          <a:solidFill>
            <a:srgbClr val="F7FAFC"/>
          </a:solidFill>
          <a:ln/>
        </p:spPr>
      </p:sp>
      <p:sp>
        <p:nvSpPr>
          <p:cNvPr id="19" name="Shape 16"/>
          <p:cNvSpPr/>
          <p:nvPr/>
        </p:nvSpPr>
        <p:spPr>
          <a:xfrm>
            <a:off x="3286125" y="3712239"/>
            <a:ext cx="5429250" cy="14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0" name="Text 17"/>
          <p:cNvSpPr/>
          <p:nvPr/>
        </p:nvSpPr>
        <p:spPr>
          <a:xfrm>
            <a:off x="3286125" y="3412201"/>
            <a:ext cx="5429250" cy="314325"/>
          </a:xfrm>
          <a:prstGeom prst="rect">
            <a:avLst/>
          </a:prstGeom>
          <a:noFill/>
          <a:ln/>
        </p:spPr>
        <p:txBody>
          <a:bodyPr wrap="square" lIns="136017" tIns="102108" rIns="136017" bIns="102108" rtlCol="0" anchor="ctr">
            <a:spAutoFit/>
          </a:bodyPr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1A202C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설계 역할 및 기대 효과</a:t>
            </a:r>
            <a:endParaRPr lang="en-US" sz="700" dirty="0"/>
          </a:p>
        </p:txBody>
      </p:sp>
      <p:sp>
        <p:nvSpPr>
          <p:cNvPr id="21" name="Shape 18"/>
          <p:cNvSpPr/>
          <p:nvPr/>
        </p:nvSpPr>
        <p:spPr>
          <a:xfrm>
            <a:off x="542925" y="3810828"/>
            <a:ext cx="641152" cy="14287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2" name="Text 19"/>
          <p:cNvSpPr/>
          <p:nvPr/>
        </p:nvSpPr>
        <p:spPr>
          <a:xfrm>
            <a:off x="542925" y="3810828"/>
            <a:ext cx="641152" cy="142875"/>
          </a:xfrm>
          <a:prstGeom prst="rect">
            <a:avLst/>
          </a:prstGeom>
          <a:noFill/>
          <a:ln/>
        </p:spPr>
        <p:txBody>
          <a:bodyPr wrap="none" lIns="68072" tIns="17018" rIns="68072" bIns="17018" rtlCol="0" anchor="t">
            <a:spAutoFit/>
          </a:bodyPr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D3748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가격 &amp; 거래량</a:t>
            </a:r>
            <a:endParaRPr lang="en-US" sz="600" dirty="0"/>
          </a:p>
        </p:txBody>
      </p:sp>
      <p:sp>
        <p:nvSpPr>
          <p:cNvPr id="23" name="Text 20"/>
          <p:cNvSpPr/>
          <p:nvPr/>
        </p:nvSpPr>
        <p:spPr>
          <a:xfrm>
            <a:off x="1500188" y="3725103"/>
            <a:ext cx="1785938" cy="317897"/>
          </a:xfrm>
          <a:prstGeom prst="rect">
            <a:avLst/>
          </a:prstGeom>
          <a:noFill/>
          <a:ln/>
        </p:spPr>
        <p:txBody>
          <a:bodyPr wrap="square" lIns="136017" tIns="102108" rIns="136017" bIns="102108" rtlCol="0" anchor="t"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Close, Volume, Volume_Ratio</a:t>
            </a:r>
            <a:endParaRPr lang="en-US" sz="750" dirty="0"/>
          </a:p>
        </p:txBody>
      </p:sp>
      <p:sp>
        <p:nvSpPr>
          <p:cNvPr id="24" name="Text 21"/>
          <p:cNvSpPr/>
          <p:nvPr/>
        </p:nvSpPr>
        <p:spPr>
          <a:xfrm>
            <a:off x="3286125" y="3725103"/>
            <a:ext cx="5429250" cy="317897"/>
          </a:xfrm>
          <a:prstGeom prst="rect">
            <a:avLst/>
          </a:prstGeom>
          <a:noFill/>
          <a:ln/>
        </p:spPr>
        <p:txBody>
          <a:bodyPr wrap="square" lIns="136017" tIns="102108" rIns="136017" bIns="102108" rtlCol="0" anchor="t"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절대 가격 수준 정규화 및 매매 참여도/이상 거래 감지를 통한 수급 분석</a:t>
            </a:r>
            <a:endParaRPr lang="en-US" sz="750" dirty="0"/>
          </a:p>
        </p:txBody>
      </p:sp>
      <p:sp>
        <p:nvSpPr>
          <p:cNvPr id="25" name="Shape 22"/>
          <p:cNvSpPr/>
          <p:nvPr/>
        </p:nvSpPr>
        <p:spPr>
          <a:xfrm>
            <a:off x="542925" y="4132297"/>
            <a:ext cx="371475" cy="14287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6" name="Text 23"/>
          <p:cNvSpPr/>
          <p:nvPr/>
        </p:nvSpPr>
        <p:spPr>
          <a:xfrm>
            <a:off x="542925" y="4132297"/>
            <a:ext cx="371475" cy="142875"/>
          </a:xfrm>
          <a:prstGeom prst="rect">
            <a:avLst/>
          </a:prstGeom>
          <a:noFill/>
          <a:ln/>
        </p:spPr>
        <p:txBody>
          <a:bodyPr wrap="none" lIns="68072" tIns="17018" rIns="68072" bIns="17018" rtlCol="0" anchor="t">
            <a:spAutoFit/>
          </a:bodyPr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D3748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모멘텀</a:t>
            </a:r>
            <a:endParaRPr lang="en-US" sz="600" dirty="0"/>
          </a:p>
        </p:txBody>
      </p:sp>
      <p:sp>
        <p:nvSpPr>
          <p:cNvPr id="27" name="Text 24"/>
          <p:cNvSpPr/>
          <p:nvPr/>
        </p:nvSpPr>
        <p:spPr>
          <a:xfrm>
            <a:off x="1500188" y="4043000"/>
            <a:ext cx="1785938" cy="321469"/>
          </a:xfrm>
          <a:prstGeom prst="rect">
            <a:avLst/>
          </a:prstGeom>
          <a:noFill/>
          <a:ln/>
        </p:spPr>
        <p:txBody>
          <a:bodyPr wrap="square" lIns="136017" tIns="102108" rIns="136017" bIns="102108" rtlCol="0" anchor="t"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RSI, MACD, MACD_Signal</a:t>
            </a:r>
            <a:endParaRPr lang="en-US" sz="750" dirty="0"/>
          </a:p>
        </p:txBody>
      </p:sp>
      <p:sp>
        <p:nvSpPr>
          <p:cNvPr id="28" name="Text 25"/>
          <p:cNvSpPr/>
          <p:nvPr/>
        </p:nvSpPr>
        <p:spPr>
          <a:xfrm>
            <a:off x="3286125" y="4043000"/>
            <a:ext cx="5429250" cy="321469"/>
          </a:xfrm>
          <a:prstGeom prst="rect">
            <a:avLst/>
          </a:prstGeom>
          <a:noFill/>
          <a:ln/>
        </p:spPr>
        <p:txBody>
          <a:bodyPr wrap="square" lIns="136017" tIns="102108" rIns="136017" bIns="102108" rtlCol="0" anchor="t"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추세의 강도와 방향, 전환 타이밍 포착 (과매수/과매도 및 골든/데드크로스)</a:t>
            </a:r>
            <a:endParaRPr lang="en-US" sz="750" dirty="0"/>
          </a:p>
        </p:txBody>
      </p:sp>
      <p:sp>
        <p:nvSpPr>
          <p:cNvPr id="29" name="Shape 26"/>
          <p:cNvSpPr/>
          <p:nvPr/>
        </p:nvSpPr>
        <p:spPr>
          <a:xfrm>
            <a:off x="542925" y="4453765"/>
            <a:ext cx="371475" cy="14287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30" name="Text 27"/>
          <p:cNvSpPr/>
          <p:nvPr/>
        </p:nvSpPr>
        <p:spPr>
          <a:xfrm>
            <a:off x="542925" y="4453765"/>
            <a:ext cx="371475" cy="142875"/>
          </a:xfrm>
          <a:prstGeom prst="rect">
            <a:avLst/>
          </a:prstGeom>
          <a:noFill/>
          <a:ln/>
        </p:spPr>
        <p:txBody>
          <a:bodyPr wrap="none" lIns="68072" tIns="17018" rIns="68072" bIns="17018" rtlCol="0" anchor="t">
            <a:spAutoFit/>
          </a:bodyPr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D3748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변동성</a:t>
            </a:r>
            <a:endParaRPr lang="en-US" sz="600" dirty="0"/>
          </a:p>
        </p:txBody>
      </p:sp>
      <p:sp>
        <p:nvSpPr>
          <p:cNvPr id="31" name="Text 28"/>
          <p:cNvSpPr/>
          <p:nvPr/>
        </p:nvSpPr>
        <p:spPr>
          <a:xfrm>
            <a:off x="1500188" y="4364468"/>
            <a:ext cx="1785938" cy="321469"/>
          </a:xfrm>
          <a:prstGeom prst="rect">
            <a:avLst/>
          </a:prstGeom>
          <a:noFill/>
          <a:ln/>
        </p:spPr>
        <p:txBody>
          <a:bodyPr wrap="square" lIns="136017" tIns="102108" rIns="136017" bIns="102108" rtlCol="0" anchor="t"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BB_Pct, BB_Width, ATR</a:t>
            </a:r>
            <a:endParaRPr lang="en-US" sz="750" dirty="0"/>
          </a:p>
        </p:txBody>
      </p:sp>
      <p:sp>
        <p:nvSpPr>
          <p:cNvPr id="32" name="Text 29"/>
          <p:cNvSpPr/>
          <p:nvPr/>
        </p:nvSpPr>
        <p:spPr>
          <a:xfrm>
            <a:off x="3286125" y="4364468"/>
            <a:ext cx="5429250" cy="321469"/>
          </a:xfrm>
          <a:prstGeom prst="rect">
            <a:avLst/>
          </a:prstGeom>
          <a:noFill/>
          <a:ln/>
        </p:spPr>
        <p:txBody>
          <a:bodyPr wrap="square" lIns="136017" tIns="102108" rIns="136017" bIns="102108" rtlCol="0" anchor="t"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볼린저밴드 내 위치 및 시장 변동성 측정을 통한 리스크 및 돌파 신호 감지</a:t>
            </a:r>
            <a:endParaRPr lang="en-US" sz="750" dirty="0"/>
          </a:p>
        </p:txBody>
      </p:sp>
      <p:sp>
        <p:nvSpPr>
          <p:cNvPr id="33" name="Shape 30"/>
          <p:cNvSpPr/>
          <p:nvPr/>
        </p:nvSpPr>
        <p:spPr>
          <a:xfrm>
            <a:off x="542925" y="4775234"/>
            <a:ext cx="285750" cy="14287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34" name="Text 31"/>
          <p:cNvSpPr/>
          <p:nvPr/>
        </p:nvSpPr>
        <p:spPr>
          <a:xfrm>
            <a:off x="542925" y="4775234"/>
            <a:ext cx="285750" cy="142875"/>
          </a:xfrm>
          <a:prstGeom prst="rect">
            <a:avLst/>
          </a:prstGeom>
          <a:noFill/>
          <a:ln/>
        </p:spPr>
        <p:txBody>
          <a:bodyPr wrap="none" lIns="68072" tIns="17018" rIns="68072" bIns="17018" rtlCol="0" anchor="t">
            <a:spAutoFit/>
          </a:bodyPr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D3748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추세</a:t>
            </a:r>
            <a:endParaRPr lang="en-US" sz="600" dirty="0"/>
          </a:p>
        </p:txBody>
      </p:sp>
      <p:sp>
        <p:nvSpPr>
          <p:cNvPr id="35" name="Text 32"/>
          <p:cNvSpPr/>
          <p:nvPr/>
        </p:nvSpPr>
        <p:spPr>
          <a:xfrm>
            <a:off x="1500188" y="4685937"/>
            <a:ext cx="1785938" cy="321469"/>
          </a:xfrm>
          <a:prstGeom prst="rect">
            <a:avLst/>
          </a:prstGeom>
          <a:noFill/>
          <a:ln/>
        </p:spPr>
        <p:txBody>
          <a:bodyPr wrap="square" lIns="136017" tIns="102108" rIns="136017" bIns="102108" rtlCol="0" anchor="t"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MA_20, MA_60</a:t>
            </a:r>
            <a:endParaRPr lang="en-US" sz="750" dirty="0"/>
          </a:p>
        </p:txBody>
      </p:sp>
      <p:sp>
        <p:nvSpPr>
          <p:cNvPr id="36" name="Text 33"/>
          <p:cNvSpPr/>
          <p:nvPr/>
        </p:nvSpPr>
        <p:spPr>
          <a:xfrm>
            <a:off x="3286125" y="4685937"/>
            <a:ext cx="5429250" cy="321469"/>
          </a:xfrm>
          <a:prstGeom prst="rect">
            <a:avLst/>
          </a:prstGeom>
          <a:noFill/>
          <a:ln/>
        </p:spPr>
        <p:txBody>
          <a:bodyPr wrap="square" lIns="136017" tIns="102108" rIns="136017" bIns="102108" rtlCol="0" anchor="t"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단기 및 중기 이동평균선을 활용한 정배열/역배열 등 전반적인 시장 흐름 파악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28625" y="428625"/>
            <a:ext cx="8286750" cy="30896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202C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03 LSTM: 시계열 패턴 학습의 핵심 아키텍처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428625" y="1407319"/>
            <a:ext cx="3929063" cy="173236"/>
          </a:xfrm>
          <a:prstGeom prst="rect">
            <a:avLst/>
          </a:prstGeom>
          <a:noFill/>
          <a:ln/>
        </p:spPr>
        <p:txBody>
          <a:bodyPr wrap="square" lIns="102108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B6CB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CORE MECHANISM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428625" y="1873448"/>
            <a:ext cx="392906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A202C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망각 게이트 (Forget Gate)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428625" y="2102048"/>
            <a:ext cx="3929063" cy="16073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과거 기억 중 현재와 무관한 정보를 삭제하여 메모리를 효율적으로 관리합니다.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28625" y="2527102"/>
            <a:ext cx="392906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A202C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입력 게이트 (Input Gate)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28625" y="2755702"/>
            <a:ext cx="3929063" cy="16073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현재 입력 중 중요한 정보를 선별하여 새로운 기억으로 저장합니다.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428625" y="3180755"/>
            <a:ext cx="392906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A202C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출력 게이트 (Output Gate)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428625" y="3409355"/>
            <a:ext cx="3929063" cy="16073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저장된 누적 기억을 바탕으로 현재 시점의 최종 예측값을 출력합니다.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428625" y="3884414"/>
            <a:ext cx="1893094" cy="1375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A202C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Huber Loss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428625" y="4021931"/>
            <a:ext cx="1893094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6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이상치에 강건한 손실 함수 채택</a:t>
            </a:r>
            <a:endParaRPr lang="en-US" sz="650" dirty="0"/>
          </a:p>
        </p:txBody>
      </p:sp>
      <p:sp>
        <p:nvSpPr>
          <p:cNvPr id="13" name="Text 10"/>
          <p:cNvSpPr/>
          <p:nvPr/>
        </p:nvSpPr>
        <p:spPr>
          <a:xfrm>
            <a:off x="2464594" y="3884414"/>
            <a:ext cx="1893094" cy="1375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A202C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Early Stopping</a:t>
            </a:r>
            <a:endParaRPr lang="en-US" sz="800" dirty="0"/>
          </a:p>
        </p:txBody>
      </p:sp>
      <p:sp>
        <p:nvSpPr>
          <p:cNvPr id="14" name="Text 11"/>
          <p:cNvSpPr/>
          <p:nvPr/>
        </p:nvSpPr>
        <p:spPr>
          <a:xfrm>
            <a:off x="2464594" y="4021931"/>
            <a:ext cx="1893094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6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최적 에포크 자동 탐색 및 과적합 방지</a:t>
            </a:r>
            <a:endParaRPr lang="en-US" sz="650" dirty="0"/>
          </a:p>
        </p:txBody>
      </p:sp>
      <p:sp>
        <p:nvSpPr>
          <p:cNvPr id="15" name="Text 12"/>
          <p:cNvSpPr/>
          <p:nvPr/>
        </p:nvSpPr>
        <p:spPr>
          <a:xfrm>
            <a:off x="4786313" y="1407319"/>
            <a:ext cx="3929063" cy="173236"/>
          </a:xfrm>
          <a:prstGeom prst="rect">
            <a:avLst/>
          </a:prstGeom>
          <a:noFill/>
          <a:ln/>
        </p:spPr>
        <p:txBody>
          <a:bodyPr wrap="square" lIns="102108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B6CB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3-LAYER ARCHITECTURE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4786313" y="1752005"/>
            <a:ext cx="3929063" cy="3136106"/>
          </a:xfrm>
          <a:prstGeom prst="rect">
            <a:avLst/>
          </a:prstGeom>
          <a:solidFill>
            <a:srgbClr val="F7FAFC"/>
          </a:solidFill>
          <a:ln w="18288">
            <a:solidFill>
              <a:srgbClr val="E2E8F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5000625" y="1980605"/>
            <a:ext cx="3500438" cy="357188"/>
          </a:xfrm>
          <a:prstGeom prst="rect">
            <a:avLst/>
          </a:prstGeom>
          <a:solidFill>
            <a:srgbClr val="FFFFFF"/>
          </a:solidFill>
          <a:ln w="9144">
            <a:solidFill>
              <a:srgbClr val="CBD5E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114925" y="2066330"/>
            <a:ext cx="3386138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B6CB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INPUT LAYER</a:t>
            </a:r>
            <a:endParaRPr lang="en-US" sz="700" dirty="0"/>
          </a:p>
        </p:txBody>
      </p:sp>
      <p:sp>
        <p:nvSpPr>
          <p:cNvPr id="19" name="Text 16"/>
          <p:cNvSpPr/>
          <p:nvPr/>
        </p:nvSpPr>
        <p:spPr>
          <a:xfrm>
            <a:off x="5114925" y="2187773"/>
            <a:ext cx="3386138" cy="1053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600" dirty="0">
                <a:solidFill>
                  <a:srgbClr val="7180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(60, 11) Sequence Data</a:t>
            </a:r>
            <a:endParaRPr lang="en-US" sz="600" dirty="0"/>
          </a:p>
        </p:txBody>
      </p:sp>
      <p:sp>
        <p:nvSpPr>
          <p:cNvPr id="20" name="Text 17"/>
          <p:cNvSpPr/>
          <p:nvPr/>
        </p:nvSpPr>
        <p:spPr>
          <a:xfrm>
            <a:off x="5000625" y="2423517"/>
            <a:ext cx="3500438" cy="1053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600" dirty="0">
                <a:solidFill>
                  <a:srgbClr val="A0AEC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▼</a:t>
            </a:r>
            <a:endParaRPr lang="en-US" sz="600" dirty="0"/>
          </a:p>
        </p:txBody>
      </p:sp>
      <p:sp>
        <p:nvSpPr>
          <p:cNvPr id="21" name="Shape 18"/>
          <p:cNvSpPr/>
          <p:nvPr/>
        </p:nvSpPr>
        <p:spPr>
          <a:xfrm>
            <a:off x="5000625" y="2614613"/>
            <a:ext cx="3500438" cy="357188"/>
          </a:xfrm>
          <a:prstGeom prst="rect">
            <a:avLst/>
          </a:prstGeom>
          <a:solidFill>
            <a:srgbClr val="FFFFFF"/>
          </a:solidFill>
          <a:ln w="9144">
            <a:solidFill>
              <a:srgbClr val="CBD5E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5114925" y="2700338"/>
            <a:ext cx="3386138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B6CB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LSTM LAYER 1</a:t>
            </a:r>
            <a:endParaRPr lang="en-US" sz="700" dirty="0"/>
          </a:p>
        </p:txBody>
      </p:sp>
      <p:sp>
        <p:nvSpPr>
          <p:cNvPr id="23" name="Text 20"/>
          <p:cNvSpPr/>
          <p:nvPr/>
        </p:nvSpPr>
        <p:spPr>
          <a:xfrm>
            <a:off x="5114925" y="2821781"/>
            <a:ext cx="3386138" cy="1053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600" dirty="0">
                <a:solidFill>
                  <a:srgbClr val="7180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128 Units / BatchNorm / Dropout 0.2</a:t>
            </a:r>
            <a:endParaRPr lang="en-US" sz="600" dirty="0"/>
          </a:p>
        </p:txBody>
      </p:sp>
      <p:sp>
        <p:nvSpPr>
          <p:cNvPr id="24" name="Text 21"/>
          <p:cNvSpPr/>
          <p:nvPr/>
        </p:nvSpPr>
        <p:spPr>
          <a:xfrm>
            <a:off x="5000625" y="3057525"/>
            <a:ext cx="3500438" cy="1053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600" dirty="0">
                <a:solidFill>
                  <a:srgbClr val="A0AEC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▼</a:t>
            </a:r>
            <a:endParaRPr lang="en-US" sz="600" dirty="0"/>
          </a:p>
        </p:txBody>
      </p:sp>
      <p:sp>
        <p:nvSpPr>
          <p:cNvPr id="25" name="Shape 22"/>
          <p:cNvSpPr/>
          <p:nvPr/>
        </p:nvSpPr>
        <p:spPr>
          <a:xfrm>
            <a:off x="5000625" y="3248620"/>
            <a:ext cx="3500438" cy="357188"/>
          </a:xfrm>
          <a:prstGeom prst="rect">
            <a:avLst/>
          </a:prstGeom>
          <a:solidFill>
            <a:srgbClr val="FFFFFF"/>
          </a:solidFill>
          <a:ln w="9144">
            <a:solidFill>
              <a:srgbClr val="CBD5E0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5114925" y="3334345"/>
            <a:ext cx="3386138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B6CB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LSTM LAYER 2</a:t>
            </a:r>
            <a:endParaRPr lang="en-US" sz="700" dirty="0"/>
          </a:p>
        </p:txBody>
      </p:sp>
      <p:sp>
        <p:nvSpPr>
          <p:cNvPr id="27" name="Text 24"/>
          <p:cNvSpPr/>
          <p:nvPr/>
        </p:nvSpPr>
        <p:spPr>
          <a:xfrm>
            <a:off x="5114925" y="3455789"/>
            <a:ext cx="3386138" cy="1053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600" dirty="0">
                <a:solidFill>
                  <a:srgbClr val="7180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64 Units / BatchNorm / Dropout 0.2</a:t>
            </a:r>
            <a:endParaRPr lang="en-US" sz="600" dirty="0"/>
          </a:p>
        </p:txBody>
      </p:sp>
      <p:sp>
        <p:nvSpPr>
          <p:cNvPr id="28" name="Text 25"/>
          <p:cNvSpPr/>
          <p:nvPr/>
        </p:nvSpPr>
        <p:spPr>
          <a:xfrm>
            <a:off x="5000625" y="3691533"/>
            <a:ext cx="3500438" cy="1053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600" dirty="0">
                <a:solidFill>
                  <a:srgbClr val="A0AEC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▼</a:t>
            </a:r>
            <a:endParaRPr lang="en-US" sz="600" dirty="0"/>
          </a:p>
        </p:txBody>
      </p:sp>
      <p:sp>
        <p:nvSpPr>
          <p:cNvPr id="29" name="Shape 26"/>
          <p:cNvSpPr/>
          <p:nvPr/>
        </p:nvSpPr>
        <p:spPr>
          <a:xfrm>
            <a:off x="5000625" y="3882628"/>
            <a:ext cx="3500438" cy="357188"/>
          </a:xfrm>
          <a:prstGeom prst="rect">
            <a:avLst/>
          </a:prstGeom>
          <a:solidFill>
            <a:srgbClr val="FFFFFF"/>
          </a:solidFill>
          <a:ln w="9144">
            <a:solidFill>
              <a:srgbClr val="CBD5E0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5114925" y="3968353"/>
            <a:ext cx="3386138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B6CB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LSTM LAYER 3</a:t>
            </a:r>
            <a:endParaRPr lang="en-US" sz="700" dirty="0"/>
          </a:p>
        </p:txBody>
      </p:sp>
      <p:sp>
        <p:nvSpPr>
          <p:cNvPr id="31" name="Text 28"/>
          <p:cNvSpPr/>
          <p:nvPr/>
        </p:nvSpPr>
        <p:spPr>
          <a:xfrm>
            <a:off x="5114925" y="4089797"/>
            <a:ext cx="3386138" cy="1053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600" dirty="0">
                <a:solidFill>
                  <a:srgbClr val="7180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 Units / Dropout 0.1</a:t>
            </a:r>
            <a:endParaRPr lang="en-US" sz="600" dirty="0"/>
          </a:p>
        </p:txBody>
      </p:sp>
      <p:sp>
        <p:nvSpPr>
          <p:cNvPr id="32" name="Text 29"/>
          <p:cNvSpPr/>
          <p:nvPr/>
        </p:nvSpPr>
        <p:spPr>
          <a:xfrm>
            <a:off x="5000625" y="4325541"/>
            <a:ext cx="3500438" cy="1053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600" dirty="0">
                <a:solidFill>
                  <a:srgbClr val="A0AEC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▼</a:t>
            </a:r>
            <a:endParaRPr lang="en-US" sz="600" dirty="0"/>
          </a:p>
        </p:txBody>
      </p:sp>
      <p:sp>
        <p:nvSpPr>
          <p:cNvPr id="33" name="Shape 30"/>
          <p:cNvSpPr/>
          <p:nvPr/>
        </p:nvSpPr>
        <p:spPr>
          <a:xfrm>
            <a:off x="5000625" y="4516636"/>
            <a:ext cx="3500438" cy="357188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34" name="Text 31"/>
          <p:cNvSpPr/>
          <p:nvPr/>
        </p:nvSpPr>
        <p:spPr>
          <a:xfrm>
            <a:off x="5114925" y="4602361"/>
            <a:ext cx="3386138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OUTPUT LAYER</a:t>
            </a:r>
            <a:endParaRPr lang="en-US" sz="700" dirty="0"/>
          </a:p>
        </p:txBody>
      </p:sp>
      <p:sp>
        <p:nvSpPr>
          <p:cNvPr id="35" name="Text 32"/>
          <p:cNvSpPr/>
          <p:nvPr/>
        </p:nvSpPr>
        <p:spPr>
          <a:xfrm>
            <a:off x="5114925" y="4723805"/>
            <a:ext cx="3386138" cy="1053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600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Dense 1 (Regression)</a:t>
            </a:r>
            <a:endParaRPr lang="en-US" sz="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28625" y="428625"/>
            <a:ext cx="8286750" cy="30896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202C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03 앙상블 모델: Random Forest &amp; XGBoost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428625" y="1239469"/>
            <a:ext cx="3929063" cy="2071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B6CB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RANDOM FOREST (BAGGING)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428625" y="1718100"/>
            <a:ext cx="3929063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718096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CORE CONCEPT</a:t>
            </a:r>
            <a:endParaRPr lang="en-US" sz="700" dirty="0"/>
          </a:p>
        </p:txBody>
      </p:sp>
      <p:sp>
        <p:nvSpPr>
          <p:cNvPr id="6" name="Text 3"/>
          <p:cNvSpPr/>
          <p:nvPr/>
        </p:nvSpPr>
        <p:spPr>
          <a:xfrm>
            <a:off x="428625" y="1896694"/>
            <a:ext cx="3929063" cy="41143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900" b="1" dirty="0">
                <a:solidFill>
                  <a:srgbClr val="1A202C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집단지성 알고리즘:</a:t>
            </a:r>
            <a:r>
              <a:rPr lang="en-US" sz="9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300개의 결정 트리가 독립적으로 학습하여 평균</a:t>
            </a:r>
            <a:r>
              <a:rPr lang="en-US" sz="9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을 내는 방식으로 과적합을 억제하고 안정적인 예측을 제공합니다.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428625" y="2579591"/>
            <a:ext cx="3929063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718096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KEY PARAMETERS</a:t>
            </a:r>
            <a:endParaRPr lang="en-US" sz="700" dirty="0"/>
          </a:p>
        </p:txBody>
      </p:sp>
      <p:sp>
        <p:nvSpPr>
          <p:cNvPr id="8" name="Text 5"/>
          <p:cNvSpPr/>
          <p:nvPr/>
        </p:nvSpPr>
        <p:spPr>
          <a:xfrm>
            <a:off x="428625" y="2758185"/>
            <a:ext cx="3929063" cy="20571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9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n_estimators: </a:t>
            </a:r>
            <a:r>
              <a:rPr lang="en-US" sz="900" b="1" dirty="0">
                <a:solidFill>
                  <a:srgbClr val="1A202C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300</a:t>
            </a:r>
            <a:r>
              <a:rPr lang="en-US" sz="9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/ max_depth: </a:t>
            </a:r>
            <a:r>
              <a:rPr lang="en-US" sz="900" b="1" dirty="0">
                <a:solidFill>
                  <a:srgbClr val="1A202C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8</a:t>
            </a:r>
            <a:r>
              <a:rPr lang="en-US" sz="9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/ min_samples_leaf: </a:t>
            </a:r>
            <a:r>
              <a:rPr lang="en-US" sz="900" b="1" dirty="0">
                <a:solidFill>
                  <a:srgbClr val="1A202C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20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428625" y="3235365"/>
            <a:ext cx="3929063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718096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ADVANTAGE</a:t>
            </a:r>
            <a:endParaRPr lang="en-US" sz="700" dirty="0"/>
          </a:p>
        </p:txBody>
      </p:sp>
      <p:sp>
        <p:nvSpPr>
          <p:cNvPr id="10" name="Text 7"/>
          <p:cNvSpPr/>
          <p:nvPr/>
        </p:nvSpPr>
        <p:spPr>
          <a:xfrm>
            <a:off x="428625" y="3413959"/>
            <a:ext cx="3929063" cy="41143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9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데이터 노이즈에 강건하며, 파라미터 튜닝에 따른 성능 변화가 비교적 완만하여 안정적인 베이스라인 확보에 유리합니다.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4786313" y="1239469"/>
            <a:ext cx="3929063" cy="2071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B6CB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XGBOOST (BOOSTING)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4786313" y="1718100"/>
            <a:ext cx="3929063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718096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CORE CONCEPT</a:t>
            </a:r>
            <a:endParaRPr lang="en-US" sz="700" dirty="0"/>
          </a:p>
        </p:txBody>
      </p:sp>
      <p:sp>
        <p:nvSpPr>
          <p:cNvPr id="13" name="Text 10"/>
          <p:cNvSpPr/>
          <p:nvPr/>
        </p:nvSpPr>
        <p:spPr>
          <a:xfrm>
            <a:off x="4786313" y="1896694"/>
            <a:ext cx="3929063" cy="41143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900" b="1" dirty="0">
                <a:solidFill>
                  <a:srgbClr val="1A202C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오답 노트 학습:</a:t>
            </a:r>
            <a:r>
              <a:rPr lang="en-US" sz="9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이전 트리의 오차를 다음 트리가 집중적으로 보완하</a:t>
            </a:r>
            <a:r>
              <a:rPr lang="en-US" sz="9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는 순차적 학습을 통해 예측 정확도를 극대화합니다.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4786313" y="2579591"/>
            <a:ext cx="3929063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718096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KEY PARAMETERS</a:t>
            </a:r>
            <a:endParaRPr lang="en-US" sz="700" dirty="0"/>
          </a:p>
        </p:txBody>
      </p:sp>
      <p:sp>
        <p:nvSpPr>
          <p:cNvPr id="15" name="Text 12"/>
          <p:cNvSpPr/>
          <p:nvPr/>
        </p:nvSpPr>
        <p:spPr>
          <a:xfrm>
            <a:off x="4786313" y="2758185"/>
            <a:ext cx="3929063" cy="20571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9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n_estimators: </a:t>
            </a:r>
            <a:r>
              <a:rPr lang="en-US" sz="900" b="1" dirty="0">
                <a:solidFill>
                  <a:srgbClr val="1A202C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500</a:t>
            </a:r>
            <a:r>
              <a:rPr lang="en-US" sz="9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/ learning_rate: </a:t>
            </a:r>
            <a:r>
              <a:rPr lang="en-US" sz="900" b="1" dirty="0">
                <a:solidFill>
                  <a:srgbClr val="1A202C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0.05</a:t>
            </a:r>
            <a:r>
              <a:rPr lang="en-US" sz="9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/ subsample: </a:t>
            </a:r>
            <a:r>
              <a:rPr lang="en-US" sz="900" b="1" dirty="0">
                <a:solidFill>
                  <a:srgbClr val="1A202C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0.8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4786313" y="3235365"/>
            <a:ext cx="3929063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718096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ADVANTAGE</a:t>
            </a:r>
            <a:endParaRPr lang="en-US" sz="700" dirty="0"/>
          </a:p>
        </p:txBody>
      </p:sp>
      <p:sp>
        <p:nvSpPr>
          <p:cNvPr id="17" name="Text 14"/>
          <p:cNvSpPr/>
          <p:nvPr/>
        </p:nvSpPr>
        <p:spPr>
          <a:xfrm>
            <a:off x="4786313" y="3413959"/>
            <a:ext cx="3929063" cy="41143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9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복잡한 비선형 패턴 포착 능력이 뛰어나며, Early Stopping을 통해 최적의 학습 시점을 자동으로 탐색할 수 있습니다.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428625" y="4341558"/>
            <a:ext cx="2666991" cy="801942"/>
          </a:xfrm>
          <a:prstGeom prst="rect">
            <a:avLst/>
          </a:prstGeom>
          <a:solidFill>
            <a:srgbClr val="F7FAFC"/>
          </a:solidFill>
          <a:ln/>
        </p:spPr>
      </p:sp>
      <p:sp>
        <p:nvSpPr>
          <p:cNvPr id="19" name="Text 16"/>
          <p:cNvSpPr/>
          <p:nvPr/>
        </p:nvSpPr>
        <p:spPr>
          <a:xfrm>
            <a:off x="571500" y="4484433"/>
            <a:ext cx="2381241" cy="1053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B6CB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Training Speed</a:t>
            </a:r>
            <a:endParaRPr lang="en-US" sz="600" dirty="0"/>
          </a:p>
        </p:txBody>
      </p:sp>
      <p:sp>
        <p:nvSpPr>
          <p:cNvPr id="20" name="Text 17"/>
          <p:cNvSpPr/>
          <p:nvPr/>
        </p:nvSpPr>
        <p:spPr>
          <a:xfrm>
            <a:off x="571500" y="4646954"/>
            <a:ext cx="2381241" cy="2893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202C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딥러닝 대비 압도적 속도</a:t>
            </a:r>
            <a:r>
              <a:rPr lang="en-US" sz="750" b="1" dirty="0">
                <a:solidFill>
                  <a:srgbClr val="1A202C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
</a:t>
            </a:r>
            <a:r>
              <a:rPr lang="en-US" sz="750" b="1" dirty="0">
                <a:solidFill>
                  <a:srgbClr val="1A202C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(수십 초 내외 학습 완료)</a:t>
            </a:r>
            <a:endParaRPr lang="en-US" sz="750" dirty="0"/>
          </a:p>
        </p:txBody>
      </p:sp>
      <p:sp>
        <p:nvSpPr>
          <p:cNvPr id="21" name="Shape 18"/>
          <p:cNvSpPr/>
          <p:nvPr/>
        </p:nvSpPr>
        <p:spPr>
          <a:xfrm>
            <a:off x="3238491" y="4341558"/>
            <a:ext cx="2666991" cy="801942"/>
          </a:xfrm>
          <a:prstGeom prst="rect">
            <a:avLst/>
          </a:prstGeom>
          <a:solidFill>
            <a:srgbClr val="F7FAFC"/>
          </a:solidFill>
          <a:ln/>
        </p:spPr>
      </p:sp>
      <p:sp>
        <p:nvSpPr>
          <p:cNvPr id="22" name="Text 19"/>
          <p:cNvSpPr/>
          <p:nvPr/>
        </p:nvSpPr>
        <p:spPr>
          <a:xfrm>
            <a:off x="3381366" y="4484433"/>
            <a:ext cx="2381241" cy="1053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B6CB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Interpretability</a:t>
            </a:r>
            <a:endParaRPr lang="en-US" sz="600" dirty="0"/>
          </a:p>
        </p:txBody>
      </p:sp>
      <p:sp>
        <p:nvSpPr>
          <p:cNvPr id="23" name="Text 20"/>
          <p:cNvSpPr/>
          <p:nvPr/>
        </p:nvSpPr>
        <p:spPr>
          <a:xfrm>
            <a:off x="3381366" y="4646954"/>
            <a:ext cx="2381241" cy="2893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202C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특성 중요도(Feature Importance)</a:t>
            </a:r>
            <a:r>
              <a:rPr lang="en-US" sz="750" b="1" dirty="0">
                <a:solidFill>
                  <a:srgbClr val="1A202C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
</a:t>
            </a:r>
            <a:r>
              <a:rPr lang="en-US" sz="750" b="1" dirty="0">
                <a:solidFill>
                  <a:srgbClr val="1A202C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산출을 통한 판단 근거 제시</a:t>
            </a:r>
            <a:endParaRPr lang="en-US" sz="750" dirty="0"/>
          </a:p>
        </p:txBody>
      </p:sp>
      <p:sp>
        <p:nvSpPr>
          <p:cNvPr id="24" name="Shape 21"/>
          <p:cNvSpPr/>
          <p:nvPr/>
        </p:nvSpPr>
        <p:spPr>
          <a:xfrm>
            <a:off x="6048356" y="4341558"/>
            <a:ext cx="2667019" cy="801942"/>
          </a:xfrm>
          <a:prstGeom prst="rect">
            <a:avLst/>
          </a:prstGeom>
          <a:solidFill>
            <a:srgbClr val="F7FAFC"/>
          </a:solidFill>
          <a:ln/>
        </p:spPr>
      </p:sp>
      <p:sp>
        <p:nvSpPr>
          <p:cNvPr id="25" name="Text 22"/>
          <p:cNvSpPr/>
          <p:nvPr/>
        </p:nvSpPr>
        <p:spPr>
          <a:xfrm>
            <a:off x="6191231" y="4484433"/>
            <a:ext cx="2381269" cy="1053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B6CB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Resource Efficiency</a:t>
            </a:r>
            <a:endParaRPr lang="en-US" sz="600" dirty="0"/>
          </a:p>
        </p:txBody>
      </p:sp>
      <p:sp>
        <p:nvSpPr>
          <p:cNvPr id="26" name="Text 23"/>
          <p:cNvSpPr/>
          <p:nvPr/>
        </p:nvSpPr>
        <p:spPr>
          <a:xfrm>
            <a:off x="6191231" y="4646954"/>
            <a:ext cx="2381269" cy="2893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202C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GPU 없이 CPU만으로도</a:t>
            </a:r>
            <a:r>
              <a:rPr lang="en-US" sz="750" b="1" dirty="0">
                <a:solidFill>
                  <a:srgbClr val="1A202C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
</a:t>
            </a:r>
            <a:r>
              <a:rPr lang="en-US" sz="750" b="1" dirty="0">
                <a:solidFill>
                  <a:srgbClr val="1A202C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고성능 모델 구축 가능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28625" y="428625"/>
            <a:ext cx="8286750" cy="30896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202C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08 선형 및 트리 모델: 해석 가능성과 기준점 확보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428625" y="1309092"/>
            <a:ext cx="4000500" cy="1053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B6CB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LINEAR REGRESSION + L2</a:t>
            </a:r>
            <a:endParaRPr lang="en-US" sz="600" dirty="0"/>
          </a:p>
        </p:txBody>
      </p:sp>
      <p:sp>
        <p:nvSpPr>
          <p:cNvPr id="5" name="Text 2"/>
          <p:cNvSpPr/>
          <p:nvPr/>
        </p:nvSpPr>
        <p:spPr>
          <a:xfrm>
            <a:off x="428625" y="1471613"/>
            <a:ext cx="4000500" cy="2321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202C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Ridge 회귀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428625" y="1789509"/>
            <a:ext cx="4000500" cy="1600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00" b="1" dirty="0">
                <a:solidFill>
                  <a:srgbClr val="2D3748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"모든 가중치를 조금씩 줄여 안정적인 예측을 만든다"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28625" y="2035243"/>
            <a:ext cx="4000500" cy="3200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7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가중치가 커질수록 페널티를 주어 특정 지표에 과도하게 의존하는 것을 방지하고 모든 지표를 균형 있게 활용합니다.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428625" y="2533855"/>
            <a:ext cx="1928813" cy="1053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B6CB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PROS</a:t>
            </a:r>
            <a:endParaRPr lang="en-US" sz="600" dirty="0"/>
          </a:p>
        </p:txBody>
      </p:sp>
      <p:sp>
        <p:nvSpPr>
          <p:cNvPr id="9" name="Text 6"/>
          <p:cNvSpPr/>
          <p:nvPr/>
        </p:nvSpPr>
        <p:spPr>
          <a:xfrm>
            <a:off x="428625" y="2673158"/>
            <a:ext cx="1010841" cy="13751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과적합 방지, 안정성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2500313" y="2533855"/>
            <a:ext cx="1928813" cy="1053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E53E3E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CONS</a:t>
            </a:r>
            <a:endParaRPr lang="en-US" sz="600" dirty="0"/>
          </a:p>
        </p:txBody>
      </p:sp>
      <p:sp>
        <p:nvSpPr>
          <p:cNvPr id="11" name="Text 8"/>
          <p:cNvSpPr/>
          <p:nvPr/>
        </p:nvSpPr>
        <p:spPr>
          <a:xfrm>
            <a:off x="2500313" y="2673158"/>
            <a:ext cx="1125141" cy="13751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불필요 변수 제거 불가</a:t>
            </a:r>
            <a:endParaRPr lang="en-US" sz="850" dirty="0"/>
          </a:p>
        </p:txBody>
      </p:sp>
      <p:sp>
        <p:nvSpPr>
          <p:cNvPr id="12" name="Text 9"/>
          <p:cNvSpPr/>
          <p:nvPr/>
        </p:nvSpPr>
        <p:spPr>
          <a:xfrm>
            <a:off x="4714875" y="1309092"/>
            <a:ext cx="4000500" cy="1053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B6CB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LINEAR REGRESSION + L1</a:t>
            </a:r>
            <a:endParaRPr lang="en-US" sz="600" dirty="0"/>
          </a:p>
        </p:txBody>
      </p:sp>
      <p:sp>
        <p:nvSpPr>
          <p:cNvPr id="13" name="Text 10"/>
          <p:cNvSpPr/>
          <p:nvPr/>
        </p:nvSpPr>
        <p:spPr>
          <a:xfrm>
            <a:off x="4714875" y="1471613"/>
            <a:ext cx="4000500" cy="2321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202C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Lasso 회귀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714875" y="1789509"/>
            <a:ext cx="4000500" cy="1600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00" b="1" dirty="0">
                <a:solidFill>
                  <a:srgbClr val="2D3748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"불필요한 지표를 자동으로 걸러내 핵심만 남긴다"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4714875" y="2035243"/>
            <a:ext cx="4000500" cy="3200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7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중요하지 않은 지표의 가중치를 정확히 0으로 만들어 모델을 단순화하고 예측에 결정적인 변수를 자동으로 선별합니다.</a:t>
            </a:r>
            <a:endParaRPr lang="en-US" sz="750" dirty="0"/>
          </a:p>
        </p:txBody>
      </p:sp>
      <p:sp>
        <p:nvSpPr>
          <p:cNvPr id="16" name="Text 13"/>
          <p:cNvSpPr/>
          <p:nvPr/>
        </p:nvSpPr>
        <p:spPr>
          <a:xfrm>
            <a:off x="4714875" y="2533855"/>
            <a:ext cx="1928813" cy="1053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B6CB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PROS</a:t>
            </a:r>
            <a:endParaRPr lang="en-US" sz="600" dirty="0"/>
          </a:p>
        </p:txBody>
      </p:sp>
      <p:sp>
        <p:nvSpPr>
          <p:cNvPr id="17" name="Text 14"/>
          <p:cNvSpPr/>
          <p:nvPr/>
        </p:nvSpPr>
        <p:spPr>
          <a:xfrm>
            <a:off x="4714875" y="2673158"/>
            <a:ext cx="1303734" cy="1375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자동 변수 선택, 해석 용이</a:t>
            </a:r>
            <a:endParaRPr lang="en-US" sz="850" dirty="0"/>
          </a:p>
        </p:txBody>
      </p:sp>
      <p:sp>
        <p:nvSpPr>
          <p:cNvPr id="18" name="Text 15"/>
          <p:cNvSpPr/>
          <p:nvPr/>
        </p:nvSpPr>
        <p:spPr>
          <a:xfrm>
            <a:off x="6786563" y="2533855"/>
            <a:ext cx="1928813" cy="1053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E53E3E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CONS</a:t>
            </a:r>
            <a:endParaRPr lang="en-US" sz="600" dirty="0"/>
          </a:p>
        </p:txBody>
      </p:sp>
      <p:sp>
        <p:nvSpPr>
          <p:cNvPr id="19" name="Text 16"/>
          <p:cNvSpPr/>
          <p:nvPr/>
        </p:nvSpPr>
        <p:spPr>
          <a:xfrm>
            <a:off x="6786563" y="2673158"/>
            <a:ext cx="1500188" cy="1375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상관관계 높은 변수 임의 제거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428625" y="3447752"/>
            <a:ext cx="4000500" cy="1053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B6CB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TREE BASED</a:t>
            </a:r>
            <a:endParaRPr lang="en-US" sz="600" dirty="0"/>
          </a:p>
        </p:txBody>
      </p:sp>
      <p:sp>
        <p:nvSpPr>
          <p:cNvPr id="21" name="Text 18"/>
          <p:cNvSpPr/>
          <p:nvPr/>
        </p:nvSpPr>
        <p:spPr>
          <a:xfrm>
            <a:off x="428625" y="3610273"/>
            <a:ext cx="4000500" cy="2321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202C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결정 트리 (Decision Tree)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428625" y="3928170"/>
            <a:ext cx="4000500" cy="1600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00" b="1" dirty="0">
                <a:solidFill>
                  <a:srgbClr val="2D3748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"사람이 읽을 수 있는 직관적인 규칙 기반 예측"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428625" y="4173903"/>
            <a:ext cx="4000500" cy="3200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7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RSI, 거래량 등의 지표를 기준으로 조건 분기를 반복하여 예측 결과를 도출하며, 판단 근거를 시각적으로 확인 가능합니다.</a:t>
            </a:r>
            <a:endParaRPr lang="en-US" sz="750" dirty="0"/>
          </a:p>
        </p:txBody>
      </p:sp>
      <p:sp>
        <p:nvSpPr>
          <p:cNvPr id="24" name="Text 21"/>
          <p:cNvSpPr/>
          <p:nvPr/>
        </p:nvSpPr>
        <p:spPr>
          <a:xfrm>
            <a:off x="428625" y="4672515"/>
            <a:ext cx="1928813" cy="1053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B6CB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PROS</a:t>
            </a:r>
            <a:endParaRPr lang="en-US" sz="600" dirty="0"/>
          </a:p>
        </p:txBody>
      </p:sp>
      <p:sp>
        <p:nvSpPr>
          <p:cNvPr id="25" name="Text 22"/>
          <p:cNvSpPr/>
          <p:nvPr/>
        </p:nvSpPr>
        <p:spPr>
          <a:xfrm>
            <a:off x="428625" y="4811818"/>
            <a:ext cx="1500188" cy="1375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최고의 해석성, 전처리 불필요</a:t>
            </a:r>
            <a:endParaRPr lang="en-US" sz="850" dirty="0"/>
          </a:p>
        </p:txBody>
      </p:sp>
      <p:sp>
        <p:nvSpPr>
          <p:cNvPr id="26" name="Text 23"/>
          <p:cNvSpPr/>
          <p:nvPr/>
        </p:nvSpPr>
        <p:spPr>
          <a:xfrm>
            <a:off x="2500313" y="4672515"/>
            <a:ext cx="1928813" cy="1053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E53E3E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CONS</a:t>
            </a:r>
            <a:endParaRPr lang="en-US" sz="600" dirty="0"/>
          </a:p>
        </p:txBody>
      </p:sp>
      <p:sp>
        <p:nvSpPr>
          <p:cNvPr id="27" name="Text 24"/>
          <p:cNvSpPr/>
          <p:nvPr/>
        </p:nvSpPr>
        <p:spPr>
          <a:xfrm>
            <a:off x="2500313" y="4811818"/>
            <a:ext cx="1157288" cy="13751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과적합 위험, 성능 한계</a:t>
            </a:r>
            <a:endParaRPr lang="en-US" sz="850" dirty="0"/>
          </a:p>
        </p:txBody>
      </p:sp>
      <p:sp>
        <p:nvSpPr>
          <p:cNvPr id="28" name="Text 25"/>
          <p:cNvSpPr/>
          <p:nvPr/>
        </p:nvSpPr>
        <p:spPr>
          <a:xfrm>
            <a:off x="4714875" y="3447752"/>
            <a:ext cx="4000500" cy="1053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B6CB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DISTANCE BASED</a:t>
            </a:r>
            <a:endParaRPr lang="en-US" sz="600" dirty="0"/>
          </a:p>
        </p:txBody>
      </p:sp>
      <p:sp>
        <p:nvSpPr>
          <p:cNvPr id="29" name="Text 26"/>
          <p:cNvSpPr/>
          <p:nvPr/>
        </p:nvSpPr>
        <p:spPr>
          <a:xfrm>
            <a:off x="4714875" y="3610273"/>
            <a:ext cx="4000500" cy="2321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202C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KNN 회귀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714875" y="3928170"/>
            <a:ext cx="4000500" cy="1600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00" b="1" dirty="0">
                <a:solidFill>
                  <a:srgbClr val="2D3748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"오늘과 가장 비슷했던 과거 사례들의 평균값 참조"</a:t>
            </a:r>
            <a:endParaRPr lang="en-US" sz="800" dirty="0"/>
          </a:p>
        </p:txBody>
      </p:sp>
      <p:sp>
        <p:nvSpPr>
          <p:cNvPr id="31" name="Text 28"/>
          <p:cNvSpPr/>
          <p:nvPr/>
        </p:nvSpPr>
        <p:spPr>
          <a:xfrm>
            <a:off x="4714875" y="4173903"/>
            <a:ext cx="4000500" cy="3200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7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현재 시장 상황과 가장 유사한 과거 k개의 시점을 찾아 그 당시의 등락률을 바탕으로 오늘의 결과를 예측합니다.</a:t>
            </a:r>
            <a:endParaRPr lang="en-US" sz="750" dirty="0"/>
          </a:p>
        </p:txBody>
      </p:sp>
      <p:sp>
        <p:nvSpPr>
          <p:cNvPr id="32" name="Text 29"/>
          <p:cNvSpPr/>
          <p:nvPr/>
        </p:nvSpPr>
        <p:spPr>
          <a:xfrm>
            <a:off x="4714875" y="4672515"/>
            <a:ext cx="1928813" cy="1053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B6CB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PROS</a:t>
            </a:r>
            <a:endParaRPr lang="en-US" sz="600" dirty="0"/>
          </a:p>
        </p:txBody>
      </p:sp>
      <p:sp>
        <p:nvSpPr>
          <p:cNvPr id="33" name="Text 30"/>
          <p:cNvSpPr/>
          <p:nvPr/>
        </p:nvSpPr>
        <p:spPr>
          <a:xfrm>
            <a:off x="4714875" y="4811818"/>
            <a:ext cx="1418034" cy="1375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직관적 원리, 학습 과정 없음</a:t>
            </a:r>
            <a:endParaRPr lang="en-US" sz="850" dirty="0"/>
          </a:p>
        </p:txBody>
      </p:sp>
      <p:sp>
        <p:nvSpPr>
          <p:cNvPr id="34" name="Text 31"/>
          <p:cNvSpPr/>
          <p:nvPr/>
        </p:nvSpPr>
        <p:spPr>
          <a:xfrm>
            <a:off x="6786563" y="4672515"/>
            <a:ext cx="1928813" cy="1053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E53E3E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CONS</a:t>
            </a:r>
            <a:endParaRPr lang="en-US" sz="600" dirty="0"/>
          </a:p>
        </p:txBody>
      </p:sp>
      <p:sp>
        <p:nvSpPr>
          <p:cNvPr id="35" name="Text 32"/>
          <p:cNvSpPr/>
          <p:nvPr/>
        </p:nvSpPr>
        <p:spPr>
          <a:xfrm>
            <a:off x="6786563" y="4811818"/>
            <a:ext cx="1418034" cy="1375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예측 속도 느림, 차원의 저주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28625" y="428625"/>
            <a:ext cx="8286722" cy="30896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202C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04 모델 성능 비교: 정확도와 효율성의 균형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428625" y="1276331"/>
            <a:ext cx="4905356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2B6CB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MAE COMPARISON (LOWER IS BETTER)</a:t>
            </a:r>
            <a:endParaRPr lang="en-US" sz="700" dirty="0"/>
          </a:p>
        </p:txBody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625" y="1512075"/>
            <a:ext cx="4904184" cy="171450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5476856" y="1276331"/>
            <a:ext cx="3238491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2B6CB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KEY INSIGHTS</a:t>
            </a:r>
            <a:endParaRPr lang="en-US" sz="700" dirty="0"/>
          </a:p>
        </p:txBody>
      </p:sp>
      <p:sp>
        <p:nvSpPr>
          <p:cNvPr id="7" name="Text 3"/>
          <p:cNvSpPr/>
          <p:nvPr/>
        </p:nvSpPr>
        <p:spPr>
          <a:xfrm>
            <a:off x="5476856" y="1612088"/>
            <a:ext cx="3238491" cy="1553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A202C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LSTM의 압도적 우위</a:t>
            </a:r>
            <a:endParaRPr lang="en-US" sz="800" dirty="0"/>
          </a:p>
        </p:txBody>
      </p:sp>
      <p:sp>
        <p:nvSpPr>
          <p:cNvPr id="8" name="Text 4"/>
          <p:cNvSpPr/>
          <p:nvPr/>
        </p:nvSpPr>
        <p:spPr>
          <a:xfrm>
            <a:off x="5476856" y="1796039"/>
            <a:ext cx="3238491" cy="3000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시퀀스 전체를 활용해 가장 낮은 MAE를 기록하며 시간적 패턴 학습 효과를 입증했습니다.</a:t>
            </a:r>
            <a:endParaRPr lang="en-US" sz="750" dirty="0"/>
          </a:p>
        </p:txBody>
      </p:sp>
      <p:sp>
        <p:nvSpPr>
          <p:cNvPr id="9" name="Text 5"/>
          <p:cNvSpPr/>
          <p:nvPr/>
        </p:nvSpPr>
        <p:spPr>
          <a:xfrm>
            <a:off x="5476856" y="2338964"/>
            <a:ext cx="3238491" cy="1553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A202C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방향 정확도의 한계</a:t>
            </a:r>
            <a:endParaRPr lang="en-US" sz="800" dirty="0"/>
          </a:p>
        </p:txBody>
      </p:sp>
      <p:sp>
        <p:nvSpPr>
          <p:cNvPr id="10" name="Text 6"/>
          <p:cNvSpPr/>
          <p:nvPr/>
        </p:nvSpPr>
        <p:spPr>
          <a:xfrm>
            <a:off x="5476856" y="2522916"/>
            <a:ext cx="3238491" cy="3000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전 모델이 51~54% 수준을 기록하며 단기 주가 예측의 근본적인 난이도를 시사합니다.</a:t>
            </a:r>
            <a:endParaRPr lang="en-US" sz="750" dirty="0"/>
          </a:p>
        </p:txBody>
      </p:sp>
      <p:sp>
        <p:nvSpPr>
          <p:cNvPr id="11" name="Shape 7"/>
          <p:cNvSpPr/>
          <p:nvPr/>
        </p:nvSpPr>
        <p:spPr>
          <a:xfrm>
            <a:off x="428625" y="3565317"/>
            <a:ext cx="2419080" cy="275034"/>
          </a:xfrm>
          <a:prstGeom prst="rect">
            <a:avLst/>
          </a:prstGeom>
          <a:solidFill>
            <a:srgbClr val="F7FAFC"/>
          </a:solidFill>
          <a:ln/>
        </p:spPr>
      </p:sp>
      <p:sp>
        <p:nvSpPr>
          <p:cNvPr id="12" name="Shape 8"/>
          <p:cNvSpPr/>
          <p:nvPr/>
        </p:nvSpPr>
        <p:spPr>
          <a:xfrm>
            <a:off x="428625" y="3826064"/>
            <a:ext cx="2419080" cy="14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3" name="Text 9"/>
          <p:cNvSpPr/>
          <p:nvPr/>
        </p:nvSpPr>
        <p:spPr>
          <a:xfrm>
            <a:off x="428625" y="3565317"/>
            <a:ext cx="2419080" cy="275034"/>
          </a:xfrm>
          <a:prstGeom prst="rect">
            <a:avLst/>
          </a:prstGeom>
          <a:noFill/>
          <a:ln/>
        </p:spPr>
        <p:txBody>
          <a:bodyPr wrap="square" lIns="136017" tIns="85090" rIns="136017" bIns="85090" rtlCol="0" anchor="ctr">
            <a:spAutoFit/>
          </a:bodyPr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1A202C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모델명</a:t>
            </a:r>
            <a:endParaRPr lang="en-US" sz="650" dirty="0"/>
          </a:p>
        </p:txBody>
      </p:sp>
      <p:sp>
        <p:nvSpPr>
          <p:cNvPr id="14" name="Shape 10"/>
          <p:cNvSpPr/>
          <p:nvPr/>
        </p:nvSpPr>
        <p:spPr>
          <a:xfrm>
            <a:off x="2847705" y="3565317"/>
            <a:ext cx="1401570" cy="275034"/>
          </a:xfrm>
          <a:prstGeom prst="rect">
            <a:avLst/>
          </a:prstGeom>
          <a:solidFill>
            <a:srgbClr val="F7FAFC"/>
          </a:solidFill>
          <a:ln/>
        </p:spPr>
      </p:sp>
      <p:sp>
        <p:nvSpPr>
          <p:cNvPr id="15" name="Shape 11"/>
          <p:cNvSpPr/>
          <p:nvPr/>
        </p:nvSpPr>
        <p:spPr>
          <a:xfrm>
            <a:off x="2847705" y="3826064"/>
            <a:ext cx="1401570" cy="14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6" name="Text 12"/>
          <p:cNvSpPr/>
          <p:nvPr/>
        </p:nvSpPr>
        <p:spPr>
          <a:xfrm>
            <a:off x="2847705" y="3565317"/>
            <a:ext cx="1401570" cy="275034"/>
          </a:xfrm>
          <a:prstGeom prst="rect">
            <a:avLst/>
          </a:prstGeom>
          <a:noFill/>
          <a:ln/>
        </p:spPr>
        <p:txBody>
          <a:bodyPr wrap="square" lIns="136017" tIns="85090" rIns="136017" bIns="85090" rtlCol="0" anchor="ctr">
            <a:spAutoFit/>
          </a:bodyPr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1A202C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MAE (%)</a:t>
            </a:r>
            <a:endParaRPr lang="en-US" sz="650" dirty="0"/>
          </a:p>
        </p:txBody>
      </p:sp>
      <p:sp>
        <p:nvSpPr>
          <p:cNvPr id="17" name="Shape 13"/>
          <p:cNvSpPr/>
          <p:nvPr/>
        </p:nvSpPr>
        <p:spPr>
          <a:xfrm>
            <a:off x="4249276" y="3565317"/>
            <a:ext cx="1512410" cy="275034"/>
          </a:xfrm>
          <a:prstGeom prst="rect">
            <a:avLst/>
          </a:prstGeom>
          <a:solidFill>
            <a:srgbClr val="F7FAFC"/>
          </a:solidFill>
          <a:ln/>
        </p:spPr>
      </p:sp>
      <p:sp>
        <p:nvSpPr>
          <p:cNvPr id="18" name="Shape 14"/>
          <p:cNvSpPr/>
          <p:nvPr/>
        </p:nvSpPr>
        <p:spPr>
          <a:xfrm>
            <a:off x="4249276" y="3826064"/>
            <a:ext cx="1512410" cy="14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9" name="Text 15"/>
          <p:cNvSpPr/>
          <p:nvPr/>
        </p:nvSpPr>
        <p:spPr>
          <a:xfrm>
            <a:off x="4249276" y="3565317"/>
            <a:ext cx="1512410" cy="275034"/>
          </a:xfrm>
          <a:prstGeom prst="rect">
            <a:avLst/>
          </a:prstGeom>
          <a:noFill/>
          <a:ln/>
        </p:spPr>
        <p:txBody>
          <a:bodyPr wrap="square" lIns="136017" tIns="85090" rIns="136017" bIns="85090" rtlCol="0" anchor="ctr">
            <a:spAutoFit/>
          </a:bodyPr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1A202C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RMSE (%)</a:t>
            </a:r>
            <a:endParaRPr lang="en-US" sz="650" dirty="0"/>
          </a:p>
        </p:txBody>
      </p:sp>
      <p:sp>
        <p:nvSpPr>
          <p:cNvPr id="20" name="Shape 16"/>
          <p:cNvSpPr/>
          <p:nvPr/>
        </p:nvSpPr>
        <p:spPr>
          <a:xfrm>
            <a:off x="5761686" y="3565317"/>
            <a:ext cx="1579718" cy="275034"/>
          </a:xfrm>
          <a:prstGeom prst="rect">
            <a:avLst/>
          </a:prstGeom>
          <a:solidFill>
            <a:srgbClr val="F7FAFC"/>
          </a:solidFill>
          <a:ln/>
        </p:spPr>
      </p:sp>
      <p:sp>
        <p:nvSpPr>
          <p:cNvPr id="21" name="Shape 17"/>
          <p:cNvSpPr/>
          <p:nvPr/>
        </p:nvSpPr>
        <p:spPr>
          <a:xfrm>
            <a:off x="5761686" y="3826064"/>
            <a:ext cx="1579718" cy="14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2" name="Text 18"/>
          <p:cNvSpPr/>
          <p:nvPr/>
        </p:nvSpPr>
        <p:spPr>
          <a:xfrm>
            <a:off x="5761686" y="3565317"/>
            <a:ext cx="1579718" cy="275034"/>
          </a:xfrm>
          <a:prstGeom prst="rect">
            <a:avLst/>
          </a:prstGeom>
          <a:noFill/>
          <a:ln/>
        </p:spPr>
        <p:txBody>
          <a:bodyPr wrap="square" lIns="136017" tIns="85090" rIns="136017" bIns="85090" rtlCol="0" anchor="ctr">
            <a:spAutoFit/>
          </a:bodyPr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1A202C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방향 정확도</a:t>
            </a:r>
            <a:endParaRPr lang="en-US" sz="650" dirty="0"/>
          </a:p>
        </p:txBody>
      </p:sp>
      <p:sp>
        <p:nvSpPr>
          <p:cNvPr id="23" name="Shape 19"/>
          <p:cNvSpPr/>
          <p:nvPr/>
        </p:nvSpPr>
        <p:spPr>
          <a:xfrm>
            <a:off x="7341403" y="3565317"/>
            <a:ext cx="1373944" cy="275034"/>
          </a:xfrm>
          <a:prstGeom prst="rect">
            <a:avLst/>
          </a:prstGeom>
          <a:solidFill>
            <a:srgbClr val="F7FAFC"/>
          </a:solidFill>
          <a:ln/>
        </p:spPr>
      </p:sp>
      <p:sp>
        <p:nvSpPr>
          <p:cNvPr id="24" name="Shape 20"/>
          <p:cNvSpPr/>
          <p:nvPr/>
        </p:nvSpPr>
        <p:spPr>
          <a:xfrm>
            <a:off x="7341403" y="3826064"/>
            <a:ext cx="1373944" cy="14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5" name="Text 21"/>
          <p:cNvSpPr/>
          <p:nvPr/>
        </p:nvSpPr>
        <p:spPr>
          <a:xfrm>
            <a:off x="7341403" y="3565317"/>
            <a:ext cx="1373944" cy="275034"/>
          </a:xfrm>
          <a:prstGeom prst="rect">
            <a:avLst/>
          </a:prstGeom>
          <a:noFill/>
          <a:ln/>
        </p:spPr>
        <p:txBody>
          <a:bodyPr wrap="square" lIns="136017" tIns="85090" rIns="136017" bIns="85090" rtlCol="0" anchor="ctr">
            <a:spAutoFit/>
          </a:bodyPr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1A202C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학습 시간</a:t>
            </a:r>
            <a:endParaRPr lang="en-US" sz="650" dirty="0"/>
          </a:p>
        </p:txBody>
      </p:sp>
      <p:sp>
        <p:nvSpPr>
          <p:cNvPr id="26" name="Text 22"/>
          <p:cNvSpPr/>
          <p:nvPr/>
        </p:nvSpPr>
        <p:spPr>
          <a:xfrm>
            <a:off x="542925" y="3920412"/>
            <a:ext cx="262533" cy="11251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4A5568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LSTM</a:t>
            </a:r>
            <a:endParaRPr lang="en-US" sz="650" dirty="0"/>
          </a:p>
        </p:txBody>
      </p:sp>
      <p:sp>
        <p:nvSpPr>
          <p:cNvPr id="27" name="Shape 23"/>
          <p:cNvSpPr/>
          <p:nvPr/>
        </p:nvSpPr>
        <p:spPr>
          <a:xfrm>
            <a:off x="889397" y="3925770"/>
            <a:ext cx="271463" cy="116086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28" name="Text 24"/>
          <p:cNvSpPr/>
          <p:nvPr/>
        </p:nvSpPr>
        <p:spPr>
          <a:xfrm>
            <a:off x="889397" y="3925770"/>
            <a:ext cx="271463" cy="116086"/>
          </a:xfrm>
          <a:prstGeom prst="rect">
            <a:avLst/>
          </a:prstGeom>
          <a:noFill/>
          <a:ln/>
        </p:spPr>
        <p:txBody>
          <a:bodyPr wrap="none" lIns="51054" tIns="17018" rIns="51054" bIns="17018" rtlCol="0" anchor="t">
            <a:spAutoFit/>
          </a:bodyPr>
          <a:lstStyle/>
          <a:p>
            <a:pPr algn="l" indent="0" marL="0">
              <a:buNone/>
            </a:pPr>
            <a:r>
              <a:rPr lang="en-US" sz="500" b="1" dirty="0">
                <a:solidFill>
                  <a:srgbClr val="FFFFFF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BEST</a:t>
            </a:r>
            <a:endParaRPr lang="en-US" sz="500" dirty="0"/>
          </a:p>
        </p:txBody>
      </p:sp>
      <p:sp>
        <p:nvSpPr>
          <p:cNvPr id="29" name="Text 25"/>
          <p:cNvSpPr/>
          <p:nvPr/>
        </p:nvSpPr>
        <p:spPr>
          <a:xfrm>
            <a:off x="2847705" y="3842724"/>
            <a:ext cx="1401570" cy="271463"/>
          </a:xfrm>
          <a:prstGeom prst="rect">
            <a:avLst/>
          </a:prstGeom>
          <a:noFill/>
          <a:ln/>
        </p:spPr>
        <p:txBody>
          <a:bodyPr wrap="square" lIns="136017" tIns="85090" rIns="136017" bIns="85090" rtlCol="0" anchor="ctr">
            <a:spAutoFit/>
          </a:bodyPr>
          <a:lstStyle/>
          <a:p>
            <a:pPr algn="l" indent="0" marL="0">
              <a:buNone/>
            </a:pPr>
            <a:r>
              <a:rPr lang="en-US" sz="6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2.8 ~ 3.5</a:t>
            </a:r>
            <a:endParaRPr lang="en-US" sz="650" dirty="0"/>
          </a:p>
        </p:txBody>
      </p:sp>
      <p:sp>
        <p:nvSpPr>
          <p:cNvPr id="30" name="Text 26"/>
          <p:cNvSpPr/>
          <p:nvPr/>
        </p:nvSpPr>
        <p:spPr>
          <a:xfrm>
            <a:off x="4249276" y="3842724"/>
            <a:ext cx="1512410" cy="271463"/>
          </a:xfrm>
          <a:prstGeom prst="rect">
            <a:avLst/>
          </a:prstGeom>
          <a:noFill/>
          <a:ln/>
        </p:spPr>
        <p:txBody>
          <a:bodyPr wrap="square" lIns="136017" tIns="85090" rIns="136017" bIns="85090" rtlCol="0" anchor="ctr">
            <a:spAutoFit/>
          </a:bodyPr>
          <a:lstStyle/>
          <a:p>
            <a:pPr algn="l" indent="0" marL="0">
              <a:buNone/>
            </a:pPr>
            <a:r>
              <a:rPr lang="en-US" sz="6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4.1 ~ 5.2</a:t>
            </a:r>
            <a:endParaRPr lang="en-US" sz="650" dirty="0"/>
          </a:p>
        </p:txBody>
      </p:sp>
      <p:sp>
        <p:nvSpPr>
          <p:cNvPr id="31" name="Text 27"/>
          <p:cNvSpPr/>
          <p:nvPr/>
        </p:nvSpPr>
        <p:spPr>
          <a:xfrm>
            <a:off x="5761686" y="3842724"/>
            <a:ext cx="1579718" cy="271463"/>
          </a:xfrm>
          <a:prstGeom prst="rect">
            <a:avLst/>
          </a:prstGeom>
          <a:noFill/>
          <a:ln/>
        </p:spPr>
        <p:txBody>
          <a:bodyPr wrap="square" lIns="136017" tIns="85090" rIns="136017" bIns="85090" rtlCol="0" anchor="ctr">
            <a:spAutoFit/>
          </a:bodyPr>
          <a:lstStyle/>
          <a:p>
            <a:pPr algn="l" indent="0" marL="0">
              <a:buNone/>
            </a:pPr>
            <a:r>
              <a:rPr lang="en-US" sz="6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51 ~ 54 %</a:t>
            </a:r>
            <a:endParaRPr lang="en-US" sz="650" dirty="0"/>
          </a:p>
        </p:txBody>
      </p:sp>
      <p:sp>
        <p:nvSpPr>
          <p:cNvPr id="32" name="Text 28"/>
          <p:cNvSpPr/>
          <p:nvPr/>
        </p:nvSpPr>
        <p:spPr>
          <a:xfrm>
            <a:off x="7341403" y="3842724"/>
            <a:ext cx="1373944" cy="271463"/>
          </a:xfrm>
          <a:prstGeom prst="rect">
            <a:avLst/>
          </a:prstGeom>
          <a:noFill/>
          <a:ln/>
        </p:spPr>
        <p:txBody>
          <a:bodyPr wrap="square" lIns="136017" tIns="85090" rIns="136017" bIns="85090" rtlCol="0" anchor="ctr">
            <a:spAutoFit/>
          </a:bodyPr>
          <a:lstStyle/>
          <a:p>
            <a:pPr algn="l" indent="0" marL="0">
              <a:buNone/>
            </a:pPr>
            <a:r>
              <a:rPr lang="en-US" sz="6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~15분</a:t>
            </a:r>
            <a:endParaRPr lang="en-US" sz="650" dirty="0"/>
          </a:p>
        </p:txBody>
      </p:sp>
      <p:sp>
        <p:nvSpPr>
          <p:cNvPr id="33" name="Text 29"/>
          <p:cNvSpPr/>
          <p:nvPr/>
        </p:nvSpPr>
        <p:spPr>
          <a:xfrm>
            <a:off x="428625" y="4114186"/>
            <a:ext cx="2419080" cy="275034"/>
          </a:xfrm>
          <a:prstGeom prst="rect">
            <a:avLst/>
          </a:prstGeom>
          <a:noFill/>
          <a:ln/>
        </p:spPr>
        <p:txBody>
          <a:bodyPr wrap="square" lIns="136017" tIns="85090" rIns="136017" bIns="85090" rtlCol="0" anchor="ctr">
            <a:spAutoFit/>
          </a:bodyPr>
          <a:lstStyle/>
          <a:p>
            <a:pPr algn="l" indent="0" marL="0">
              <a:buNone/>
            </a:pPr>
            <a:r>
              <a:rPr lang="en-US" sz="6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XGBoost</a:t>
            </a:r>
            <a:endParaRPr lang="en-US" sz="650" dirty="0"/>
          </a:p>
        </p:txBody>
      </p:sp>
      <p:sp>
        <p:nvSpPr>
          <p:cNvPr id="34" name="Text 30"/>
          <p:cNvSpPr/>
          <p:nvPr/>
        </p:nvSpPr>
        <p:spPr>
          <a:xfrm>
            <a:off x="2847705" y="4114186"/>
            <a:ext cx="1401570" cy="275034"/>
          </a:xfrm>
          <a:prstGeom prst="rect">
            <a:avLst/>
          </a:prstGeom>
          <a:noFill/>
          <a:ln/>
        </p:spPr>
        <p:txBody>
          <a:bodyPr wrap="square" lIns="136017" tIns="85090" rIns="136017" bIns="85090" rtlCol="0" anchor="ctr">
            <a:spAutoFit/>
          </a:bodyPr>
          <a:lstStyle/>
          <a:p>
            <a:pPr algn="l" indent="0" marL="0">
              <a:buNone/>
            </a:pPr>
            <a:r>
              <a:rPr lang="en-US" sz="6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3.0 ~ 3.7</a:t>
            </a:r>
            <a:endParaRPr lang="en-US" sz="650" dirty="0"/>
          </a:p>
        </p:txBody>
      </p:sp>
      <p:sp>
        <p:nvSpPr>
          <p:cNvPr id="35" name="Text 31"/>
          <p:cNvSpPr/>
          <p:nvPr/>
        </p:nvSpPr>
        <p:spPr>
          <a:xfrm>
            <a:off x="4249276" y="4114186"/>
            <a:ext cx="1512410" cy="275034"/>
          </a:xfrm>
          <a:prstGeom prst="rect">
            <a:avLst/>
          </a:prstGeom>
          <a:noFill/>
          <a:ln/>
        </p:spPr>
        <p:txBody>
          <a:bodyPr wrap="square" lIns="136017" tIns="85090" rIns="136017" bIns="85090" rtlCol="0" anchor="ctr">
            <a:spAutoFit/>
          </a:bodyPr>
          <a:lstStyle/>
          <a:p>
            <a:pPr algn="l" indent="0" marL="0">
              <a:buNone/>
            </a:pPr>
            <a:r>
              <a:rPr lang="en-US" sz="6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4.3 ~ 5.3</a:t>
            </a:r>
            <a:endParaRPr lang="en-US" sz="650" dirty="0"/>
          </a:p>
        </p:txBody>
      </p:sp>
      <p:sp>
        <p:nvSpPr>
          <p:cNvPr id="36" name="Text 32"/>
          <p:cNvSpPr/>
          <p:nvPr/>
        </p:nvSpPr>
        <p:spPr>
          <a:xfrm>
            <a:off x="5761686" y="4114186"/>
            <a:ext cx="1579718" cy="275034"/>
          </a:xfrm>
          <a:prstGeom prst="rect">
            <a:avLst/>
          </a:prstGeom>
          <a:noFill/>
          <a:ln/>
        </p:spPr>
        <p:txBody>
          <a:bodyPr wrap="square" lIns="136017" tIns="85090" rIns="136017" bIns="85090" rtlCol="0" anchor="ctr">
            <a:spAutoFit/>
          </a:bodyPr>
          <a:lstStyle/>
          <a:p>
            <a:pPr algn="l" indent="0" marL="0">
              <a:buNone/>
            </a:pPr>
            <a:r>
              <a:rPr lang="en-US" sz="6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50 ~ 53 %</a:t>
            </a:r>
            <a:endParaRPr lang="en-US" sz="650" dirty="0"/>
          </a:p>
        </p:txBody>
      </p:sp>
      <p:sp>
        <p:nvSpPr>
          <p:cNvPr id="37" name="Text 33"/>
          <p:cNvSpPr/>
          <p:nvPr/>
        </p:nvSpPr>
        <p:spPr>
          <a:xfrm>
            <a:off x="7341403" y="4114186"/>
            <a:ext cx="1373944" cy="275034"/>
          </a:xfrm>
          <a:prstGeom prst="rect">
            <a:avLst/>
          </a:prstGeom>
          <a:noFill/>
          <a:ln/>
        </p:spPr>
        <p:txBody>
          <a:bodyPr wrap="square" lIns="136017" tIns="85090" rIns="136017" bIns="85090" rtlCol="0" anchor="ctr">
            <a:spAutoFit/>
          </a:bodyPr>
          <a:lstStyle/>
          <a:p>
            <a:pPr algn="l" indent="0" marL="0">
              <a:buNone/>
            </a:pPr>
            <a:r>
              <a:rPr lang="en-US" sz="6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~45초</a:t>
            </a:r>
            <a:endParaRPr lang="en-US" sz="650" dirty="0"/>
          </a:p>
        </p:txBody>
      </p:sp>
      <p:sp>
        <p:nvSpPr>
          <p:cNvPr id="38" name="Text 34"/>
          <p:cNvSpPr/>
          <p:nvPr/>
        </p:nvSpPr>
        <p:spPr>
          <a:xfrm>
            <a:off x="428625" y="4389220"/>
            <a:ext cx="2419080" cy="275034"/>
          </a:xfrm>
          <a:prstGeom prst="rect">
            <a:avLst/>
          </a:prstGeom>
          <a:noFill/>
          <a:ln/>
        </p:spPr>
        <p:txBody>
          <a:bodyPr wrap="square" lIns="136017" tIns="85090" rIns="136017" bIns="85090" rtlCol="0" anchor="ctr">
            <a:spAutoFit/>
          </a:bodyPr>
          <a:lstStyle/>
          <a:p>
            <a:pPr algn="l" indent="0" marL="0">
              <a:buNone/>
            </a:pPr>
            <a:r>
              <a:rPr lang="en-US" sz="6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Random Forest</a:t>
            </a:r>
            <a:endParaRPr lang="en-US" sz="650" dirty="0"/>
          </a:p>
        </p:txBody>
      </p:sp>
      <p:sp>
        <p:nvSpPr>
          <p:cNvPr id="39" name="Text 35"/>
          <p:cNvSpPr/>
          <p:nvPr/>
        </p:nvSpPr>
        <p:spPr>
          <a:xfrm>
            <a:off x="2847705" y="4389220"/>
            <a:ext cx="1401570" cy="275034"/>
          </a:xfrm>
          <a:prstGeom prst="rect">
            <a:avLst/>
          </a:prstGeom>
          <a:noFill/>
          <a:ln/>
        </p:spPr>
        <p:txBody>
          <a:bodyPr wrap="square" lIns="136017" tIns="85090" rIns="136017" bIns="85090" rtlCol="0" anchor="ctr">
            <a:spAutoFit/>
          </a:bodyPr>
          <a:lstStyle/>
          <a:p>
            <a:pPr algn="l" indent="0" marL="0">
              <a:buNone/>
            </a:pPr>
            <a:r>
              <a:rPr lang="en-US" sz="6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3.1 ~ 3.8</a:t>
            </a:r>
            <a:endParaRPr lang="en-US" sz="650" dirty="0"/>
          </a:p>
        </p:txBody>
      </p:sp>
      <p:sp>
        <p:nvSpPr>
          <p:cNvPr id="40" name="Text 36"/>
          <p:cNvSpPr/>
          <p:nvPr/>
        </p:nvSpPr>
        <p:spPr>
          <a:xfrm>
            <a:off x="4249276" y="4389220"/>
            <a:ext cx="1512410" cy="275034"/>
          </a:xfrm>
          <a:prstGeom prst="rect">
            <a:avLst/>
          </a:prstGeom>
          <a:noFill/>
          <a:ln/>
        </p:spPr>
        <p:txBody>
          <a:bodyPr wrap="square" lIns="136017" tIns="85090" rIns="136017" bIns="85090" rtlCol="0" anchor="ctr">
            <a:spAutoFit/>
          </a:bodyPr>
          <a:lstStyle/>
          <a:p>
            <a:pPr algn="l" indent="0" marL="0">
              <a:buNone/>
            </a:pPr>
            <a:r>
              <a:rPr lang="en-US" sz="6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4.5 ~ 5.5</a:t>
            </a:r>
            <a:endParaRPr lang="en-US" sz="650" dirty="0"/>
          </a:p>
        </p:txBody>
      </p:sp>
      <p:sp>
        <p:nvSpPr>
          <p:cNvPr id="41" name="Text 37"/>
          <p:cNvSpPr/>
          <p:nvPr/>
        </p:nvSpPr>
        <p:spPr>
          <a:xfrm>
            <a:off x="5761686" y="4389220"/>
            <a:ext cx="1579718" cy="275034"/>
          </a:xfrm>
          <a:prstGeom prst="rect">
            <a:avLst/>
          </a:prstGeom>
          <a:noFill/>
          <a:ln/>
        </p:spPr>
        <p:txBody>
          <a:bodyPr wrap="square" lIns="136017" tIns="85090" rIns="136017" bIns="85090" rtlCol="0" anchor="ctr">
            <a:spAutoFit/>
          </a:bodyPr>
          <a:lstStyle/>
          <a:p>
            <a:pPr algn="l" indent="0" marL="0">
              <a:buNone/>
            </a:pPr>
            <a:r>
              <a:rPr lang="en-US" sz="6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50 ~ 53 %</a:t>
            </a:r>
            <a:endParaRPr lang="en-US" sz="650" dirty="0"/>
          </a:p>
        </p:txBody>
      </p:sp>
      <p:sp>
        <p:nvSpPr>
          <p:cNvPr id="42" name="Text 38"/>
          <p:cNvSpPr/>
          <p:nvPr/>
        </p:nvSpPr>
        <p:spPr>
          <a:xfrm>
            <a:off x="7341403" y="4389220"/>
            <a:ext cx="1373944" cy="275034"/>
          </a:xfrm>
          <a:prstGeom prst="rect">
            <a:avLst/>
          </a:prstGeom>
          <a:noFill/>
          <a:ln/>
        </p:spPr>
        <p:txBody>
          <a:bodyPr wrap="square" lIns="136017" tIns="85090" rIns="136017" bIns="85090" rtlCol="0" anchor="ctr">
            <a:spAutoFit/>
          </a:bodyPr>
          <a:lstStyle/>
          <a:p>
            <a:pPr algn="l" indent="0" marL="0">
              <a:buNone/>
            </a:pPr>
            <a:r>
              <a:rPr lang="en-US" sz="6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~30초</a:t>
            </a:r>
            <a:endParaRPr lang="en-US" sz="650" dirty="0"/>
          </a:p>
        </p:txBody>
      </p:sp>
      <p:sp>
        <p:nvSpPr>
          <p:cNvPr id="43" name="Text 39"/>
          <p:cNvSpPr/>
          <p:nvPr/>
        </p:nvSpPr>
        <p:spPr>
          <a:xfrm>
            <a:off x="428625" y="4664255"/>
            <a:ext cx="2419080" cy="275034"/>
          </a:xfrm>
          <a:prstGeom prst="rect">
            <a:avLst/>
          </a:prstGeom>
          <a:noFill/>
          <a:ln/>
        </p:spPr>
        <p:txBody>
          <a:bodyPr wrap="square" lIns="136017" tIns="85090" rIns="136017" bIns="85090" rtlCol="0" anchor="ctr">
            <a:spAutoFit/>
          </a:bodyPr>
          <a:lstStyle/>
          <a:p>
            <a:pPr algn="l" indent="0" marL="0">
              <a:buNone/>
            </a:pPr>
            <a:r>
              <a:rPr lang="en-US" sz="6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선형 회귀 (Baseline)</a:t>
            </a:r>
            <a:endParaRPr lang="en-US" sz="650" dirty="0"/>
          </a:p>
        </p:txBody>
      </p:sp>
      <p:sp>
        <p:nvSpPr>
          <p:cNvPr id="44" name="Text 40"/>
          <p:cNvSpPr/>
          <p:nvPr/>
        </p:nvSpPr>
        <p:spPr>
          <a:xfrm>
            <a:off x="2847705" y="4664255"/>
            <a:ext cx="1401570" cy="275034"/>
          </a:xfrm>
          <a:prstGeom prst="rect">
            <a:avLst/>
          </a:prstGeom>
          <a:noFill/>
          <a:ln/>
        </p:spPr>
        <p:txBody>
          <a:bodyPr wrap="square" lIns="136017" tIns="85090" rIns="136017" bIns="85090" rtlCol="0" anchor="ctr">
            <a:spAutoFit/>
          </a:bodyPr>
          <a:lstStyle/>
          <a:p>
            <a:pPr algn="l" indent="0" marL="0">
              <a:buNone/>
            </a:pPr>
            <a:r>
              <a:rPr lang="en-US" sz="6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3.4 ~ 4.1</a:t>
            </a:r>
            <a:endParaRPr lang="en-US" sz="650" dirty="0"/>
          </a:p>
        </p:txBody>
      </p:sp>
      <p:sp>
        <p:nvSpPr>
          <p:cNvPr id="45" name="Text 41"/>
          <p:cNvSpPr/>
          <p:nvPr/>
        </p:nvSpPr>
        <p:spPr>
          <a:xfrm>
            <a:off x="4249276" y="4664255"/>
            <a:ext cx="1512410" cy="275034"/>
          </a:xfrm>
          <a:prstGeom prst="rect">
            <a:avLst/>
          </a:prstGeom>
          <a:noFill/>
          <a:ln/>
        </p:spPr>
        <p:txBody>
          <a:bodyPr wrap="square" lIns="136017" tIns="85090" rIns="136017" bIns="85090" rtlCol="0" anchor="ctr">
            <a:spAutoFit/>
          </a:bodyPr>
          <a:lstStyle/>
          <a:p>
            <a:pPr algn="l" indent="0" marL="0">
              <a:buNone/>
            </a:pPr>
            <a:r>
              <a:rPr lang="en-US" sz="6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4.8 ~ 5.9</a:t>
            </a:r>
            <a:endParaRPr lang="en-US" sz="650" dirty="0"/>
          </a:p>
        </p:txBody>
      </p:sp>
      <p:sp>
        <p:nvSpPr>
          <p:cNvPr id="46" name="Text 42"/>
          <p:cNvSpPr/>
          <p:nvPr/>
        </p:nvSpPr>
        <p:spPr>
          <a:xfrm>
            <a:off x="5761686" y="4664255"/>
            <a:ext cx="1579718" cy="275034"/>
          </a:xfrm>
          <a:prstGeom prst="rect">
            <a:avLst/>
          </a:prstGeom>
          <a:noFill/>
          <a:ln/>
        </p:spPr>
        <p:txBody>
          <a:bodyPr wrap="square" lIns="136017" tIns="85090" rIns="136017" bIns="85090" rtlCol="0" anchor="ctr">
            <a:spAutoFit/>
          </a:bodyPr>
          <a:lstStyle/>
          <a:p>
            <a:pPr algn="l" indent="0" marL="0">
              <a:buNone/>
            </a:pPr>
            <a:r>
              <a:rPr lang="en-US" sz="6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49 ~ 51 %</a:t>
            </a:r>
            <a:endParaRPr lang="en-US" sz="650" dirty="0"/>
          </a:p>
        </p:txBody>
      </p:sp>
      <p:sp>
        <p:nvSpPr>
          <p:cNvPr id="47" name="Text 43"/>
          <p:cNvSpPr/>
          <p:nvPr/>
        </p:nvSpPr>
        <p:spPr>
          <a:xfrm>
            <a:off x="7341403" y="4664255"/>
            <a:ext cx="1373944" cy="275034"/>
          </a:xfrm>
          <a:prstGeom prst="rect">
            <a:avLst/>
          </a:prstGeom>
          <a:noFill/>
          <a:ln/>
        </p:spPr>
        <p:txBody>
          <a:bodyPr wrap="square" lIns="136017" tIns="85090" rIns="136017" bIns="85090" rtlCol="0" anchor="ctr">
            <a:spAutoFit/>
          </a:bodyPr>
          <a:lstStyle/>
          <a:p>
            <a:pPr algn="l" indent="0" marL="0">
              <a:buNone/>
            </a:pPr>
            <a:r>
              <a:rPr lang="en-US" sz="6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&lt; 1초</a:t>
            </a:r>
            <a:endParaRPr lang="en-US" sz="650" dirty="0"/>
          </a:p>
        </p:txBody>
      </p:sp>
    </p:spTree>
  </p:cSld>
  <p:clrMapOvr>
    <a:masterClrMapping/>
  </p:clrMapOvr>
</p:sld>
</file>

<file path=ppt/slides/slide10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28625" y="428625"/>
            <a:ext cx="8286750" cy="30896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202C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10 2025년 실전 검증: 일반화 성능의 입증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428625" y="1656736"/>
            <a:ext cx="3143250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2B6CB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VALIDATION DESIGN</a:t>
            </a:r>
            <a:endParaRPr lang="en-US" sz="700" dirty="0"/>
          </a:p>
        </p:txBody>
      </p:sp>
      <p:sp>
        <p:nvSpPr>
          <p:cNvPr id="5" name="Text 2"/>
          <p:cNvSpPr/>
          <p:nvPr/>
        </p:nvSpPr>
        <p:spPr>
          <a:xfrm>
            <a:off x="428625" y="1892480"/>
            <a:ext cx="482203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A202C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검증 기간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2223492" y="1892480"/>
            <a:ext cx="1348383" cy="126820"/>
          </a:xfrm>
          <a:prstGeom prst="rect">
            <a:avLst/>
          </a:prstGeom>
          <a:noFill/>
          <a:ln/>
        </p:spPr>
        <p:txBody>
          <a:bodyPr wrap="square" lIns="0" tIns="0" rIns="0" bIns="0" anchor="t">
            <a:spAutoFit/>
          </a:bodyPr>
          <a:lstStyle/>
          <a:p>
            <a:pPr marL="0" indent="0" algn="l">
              <a:buNone/>
              <a:defRPr/>
            </a:pPr>
            <a:r>
              <a:rPr lang="en-US" sz="850">
                <a:solidFill>
                  <a:srgbClr val="4a5568"/>
                </a:solidFill>
                <a:latin typeface="Inter"/>
                <a:ea typeface="Inter"/>
                <a:cs typeface="Inter"/>
              </a:rPr>
              <a:t>2025.01.02 ~ 2025.</a:t>
            </a:r>
            <a:r>
              <a:rPr lang="en-US" altLang="ko-KR" sz="850">
                <a:solidFill>
                  <a:srgbClr val="4a5568"/>
                </a:solidFill>
                <a:latin typeface="Inter"/>
                <a:ea typeface="Inter"/>
                <a:cs typeface="Inter"/>
              </a:rPr>
              <a:t>12</a:t>
            </a:r>
            <a:r>
              <a:rPr lang="en-US" sz="850">
                <a:solidFill>
                  <a:srgbClr val="4a5568"/>
                </a:solidFill>
                <a:latin typeface="Inter"/>
                <a:ea typeface="Inter"/>
                <a:cs typeface="Inter"/>
              </a:rPr>
              <a:t>.</a:t>
            </a:r>
            <a:r>
              <a:rPr lang="en-US" altLang="ko-KR" sz="850">
                <a:solidFill>
                  <a:srgbClr val="4a5568"/>
                </a:solidFill>
                <a:latin typeface="Inter"/>
                <a:ea typeface="Inter"/>
                <a:cs typeface="Inter"/>
              </a:rPr>
              <a:t>31</a:t>
            </a:r>
            <a:endParaRPr lang="en-US" altLang="ko-KR" sz="850">
              <a:solidFill>
                <a:srgbClr val="4a5568"/>
              </a:solidFill>
              <a:latin typeface="Inter"/>
              <a:ea typeface="Inter"/>
              <a:cs typeface="Inter"/>
            </a:endParaRPr>
          </a:p>
        </p:txBody>
      </p:sp>
      <p:sp>
        <p:nvSpPr>
          <p:cNvPr id="7" name="Text 4"/>
          <p:cNvSpPr/>
          <p:nvPr/>
        </p:nvSpPr>
        <p:spPr>
          <a:xfrm>
            <a:off x="428625" y="2197875"/>
            <a:ext cx="482203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A202C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검증 대상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2171700" y="2197875"/>
            <a:ext cx="1400175" cy="1553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학습 외 20개 대형주 (OOS)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428625" y="2503270"/>
            <a:ext cx="596503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A202C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입력 데이터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2043113" y="2503270"/>
            <a:ext cx="1528763" cy="1553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거래일 기준 직전 60일 시퀀스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428625" y="2808666"/>
            <a:ext cx="482203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A202C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평가 지표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2084189" y="2808666"/>
            <a:ext cx="1487686" cy="1553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MAE, 방향 정확도 (Hit Ratio)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4000500" y="1656736"/>
            <a:ext cx="4714875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2B6CB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MAE COMPARISON (TRAIN VS OOS)</a:t>
            </a:r>
            <a:endParaRPr lang="en-US" sz="700" dirty="0"/>
          </a:p>
        </p:txBody>
      </p:sp>
      <p:sp>
        <p:nvSpPr>
          <p:cNvPr id="14" name="Text 11"/>
          <p:cNvSpPr/>
          <p:nvPr/>
        </p:nvSpPr>
        <p:spPr>
          <a:xfrm>
            <a:off x="4000500" y="1892480"/>
            <a:ext cx="1316738" cy="314325"/>
          </a:xfrm>
          <a:prstGeom prst="rect">
            <a:avLst/>
          </a:prstGeom>
          <a:noFill/>
          <a:ln/>
        </p:spPr>
        <p:txBody>
          <a:bodyPr wrap="square" lIns="102108" tIns="102108" rIns="102108" bIns="102108" rtlCol="0" anchor="ctr">
            <a:spAutoFit/>
          </a:bodyPr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718096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모델명</a:t>
            </a:r>
            <a:endParaRPr lang="en-US" sz="700" dirty="0"/>
          </a:p>
        </p:txBody>
      </p:sp>
      <p:sp>
        <p:nvSpPr>
          <p:cNvPr id="15" name="Text 12"/>
          <p:cNvSpPr/>
          <p:nvPr/>
        </p:nvSpPr>
        <p:spPr>
          <a:xfrm>
            <a:off x="5317238" y="1892480"/>
            <a:ext cx="1279764" cy="314325"/>
          </a:xfrm>
          <a:prstGeom prst="rect">
            <a:avLst/>
          </a:prstGeom>
          <a:noFill/>
          <a:ln/>
        </p:spPr>
        <p:txBody>
          <a:bodyPr wrap="none" lIns="102108" tIns="102108" rIns="102108" bIns="102108" rtlCol="0" anchor="ctr">
            <a:spAutoFit/>
          </a:bodyPr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718096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학습셋 (2019-24)</a:t>
            </a:r>
            <a:endParaRPr lang="en-US" sz="700" dirty="0"/>
          </a:p>
        </p:txBody>
      </p:sp>
      <p:sp>
        <p:nvSpPr>
          <p:cNvPr id="16" name="Text 13"/>
          <p:cNvSpPr/>
          <p:nvPr/>
        </p:nvSpPr>
        <p:spPr>
          <a:xfrm>
            <a:off x="6597002" y="1892480"/>
            <a:ext cx="1256658" cy="314325"/>
          </a:xfrm>
          <a:prstGeom prst="rect">
            <a:avLst/>
          </a:prstGeom>
          <a:noFill/>
          <a:ln/>
        </p:spPr>
        <p:txBody>
          <a:bodyPr wrap="none" lIns="102108" tIns="102108" rIns="102108" bIns="102108" rtlCol="0" anchor="ctr">
            <a:spAutoFit/>
          </a:bodyPr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718096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2025 실전 (OOS)</a:t>
            </a:r>
            <a:endParaRPr lang="en-US" sz="700" dirty="0"/>
          </a:p>
        </p:txBody>
      </p:sp>
      <p:sp>
        <p:nvSpPr>
          <p:cNvPr id="17" name="Text 14"/>
          <p:cNvSpPr/>
          <p:nvPr/>
        </p:nvSpPr>
        <p:spPr>
          <a:xfrm>
            <a:off x="7853660" y="1892480"/>
            <a:ext cx="861715" cy="314325"/>
          </a:xfrm>
          <a:prstGeom prst="rect">
            <a:avLst/>
          </a:prstGeom>
          <a:noFill/>
          <a:ln/>
        </p:spPr>
        <p:txBody>
          <a:bodyPr wrap="none" lIns="102108" tIns="102108" rIns="102108" bIns="102108" rtlCol="0" anchor="ctr">
            <a:spAutoFit/>
          </a:bodyPr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718096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차이 (Gap)</a:t>
            </a:r>
            <a:endParaRPr lang="en-US" sz="700" dirty="0"/>
          </a:p>
        </p:txBody>
      </p:sp>
      <p:sp>
        <p:nvSpPr>
          <p:cNvPr id="18" name="Text 15"/>
          <p:cNvSpPr/>
          <p:nvPr/>
        </p:nvSpPr>
        <p:spPr>
          <a:xfrm>
            <a:off x="4000500" y="2206805"/>
            <a:ext cx="1316738" cy="319683"/>
          </a:xfrm>
          <a:prstGeom prst="rect">
            <a:avLst/>
          </a:prstGeom>
          <a:noFill/>
          <a:ln/>
        </p:spPr>
        <p:txBody>
          <a:bodyPr wrap="square" lIns="102108" tIns="102108" rIns="102108" bIns="102108" rtlCol="0" anchor="ctr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A202C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LSTM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5317238" y="2206805"/>
            <a:ext cx="1279764" cy="319683"/>
          </a:xfrm>
          <a:prstGeom prst="rect">
            <a:avLst/>
          </a:prstGeom>
          <a:noFill/>
          <a:ln/>
        </p:spPr>
        <p:txBody>
          <a:bodyPr wrap="none" lIns="102108" tIns="102108" rIns="102108" bIns="102108" rtlCol="0" anchor="ctr">
            <a:sp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3.2%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6597002" y="2206805"/>
            <a:ext cx="1256658" cy="319683"/>
          </a:xfrm>
          <a:prstGeom prst="rect">
            <a:avLst/>
          </a:prstGeom>
          <a:noFill/>
          <a:ln/>
        </p:spPr>
        <p:txBody>
          <a:bodyPr wrap="none" lIns="102108" tIns="102108" rIns="102108" bIns="102108" rtlCol="0" anchor="ctr">
            <a:sp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3.6%</a:t>
            </a:r>
            <a:endParaRPr lang="en-US" sz="850" dirty="0"/>
          </a:p>
        </p:txBody>
      </p:sp>
      <p:sp>
        <p:nvSpPr>
          <p:cNvPr id="21" name="Text 18"/>
          <p:cNvSpPr/>
          <p:nvPr/>
        </p:nvSpPr>
        <p:spPr>
          <a:xfrm>
            <a:off x="7853660" y="2206805"/>
            <a:ext cx="861715" cy="319683"/>
          </a:xfrm>
          <a:prstGeom prst="rect">
            <a:avLst/>
          </a:prstGeom>
          <a:noFill/>
          <a:ln/>
        </p:spPr>
        <p:txBody>
          <a:bodyPr wrap="none" lIns="102108" tIns="102108" rIns="102108" bIns="102108" rtlCol="0" anchor="ctr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2B6CB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+0.4%p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4000500" y="2526488"/>
            <a:ext cx="1316738" cy="316111"/>
          </a:xfrm>
          <a:prstGeom prst="rect">
            <a:avLst/>
          </a:prstGeom>
          <a:noFill/>
          <a:ln/>
        </p:spPr>
        <p:txBody>
          <a:bodyPr wrap="square" lIns="102108" tIns="102108" rIns="102108" bIns="102108" rtlCol="0" anchor="ctr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A202C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Random Forest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5317238" y="2526488"/>
            <a:ext cx="1279764" cy="316111"/>
          </a:xfrm>
          <a:prstGeom prst="rect">
            <a:avLst/>
          </a:prstGeom>
          <a:noFill/>
          <a:ln/>
        </p:spPr>
        <p:txBody>
          <a:bodyPr wrap="none" lIns="102108" tIns="102108" rIns="102108" bIns="102108" rtlCol="0" anchor="ctr">
            <a:sp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3.5%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6597002" y="2526488"/>
            <a:ext cx="1256658" cy="316111"/>
          </a:xfrm>
          <a:prstGeom prst="rect">
            <a:avLst/>
          </a:prstGeom>
          <a:noFill/>
          <a:ln/>
        </p:spPr>
        <p:txBody>
          <a:bodyPr wrap="none" lIns="102108" tIns="102108" rIns="102108" bIns="102108" rtlCol="0" anchor="ctr">
            <a:sp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3.9%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7853660" y="2526488"/>
            <a:ext cx="861715" cy="316111"/>
          </a:xfrm>
          <a:prstGeom prst="rect">
            <a:avLst/>
          </a:prstGeom>
          <a:noFill/>
          <a:ln/>
        </p:spPr>
        <p:txBody>
          <a:bodyPr wrap="none" lIns="102108" tIns="102108" rIns="102108" bIns="102108" rtlCol="0" anchor="ctr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2B6CB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+0.4%p</a:t>
            </a:r>
            <a:endParaRPr lang="en-US" sz="800" dirty="0"/>
          </a:p>
        </p:txBody>
      </p:sp>
      <p:sp>
        <p:nvSpPr>
          <p:cNvPr id="26" name="Text 23"/>
          <p:cNvSpPr/>
          <p:nvPr/>
        </p:nvSpPr>
        <p:spPr>
          <a:xfrm>
            <a:off x="4000500" y="2842599"/>
            <a:ext cx="1316738" cy="316111"/>
          </a:xfrm>
          <a:prstGeom prst="rect">
            <a:avLst/>
          </a:prstGeom>
          <a:noFill/>
          <a:ln/>
        </p:spPr>
        <p:txBody>
          <a:bodyPr wrap="square" lIns="102108" tIns="102108" rIns="102108" bIns="102108" rtlCol="0" anchor="ctr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A202C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XGBoost</a:t>
            </a:r>
            <a:endParaRPr lang="en-US" sz="800" dirty="0"/>
          </a:p>
        </p:txBody>
      </p:sp>
      <p:sp>
        <p:nvSpPr>
          <p:cNvPr id="27" name="Text 24"/>
          <p:cNvSpPr/>
          <p:nvPr/>
        </p:nvSpPr>
        <p:spPr>
          <a:xfrm>
            <a:off x="5317238" y="2842599"/>
            <a:ext cx="1279764" cy="316111"/>
          </a:xfrm>
          <a:prstGeom prst="rect">
            <a:avLst/>
          </a:prstGeom>
          <a:noFill/>
          <a:ln/>
        </p:spPr>
        <p:txBody>
          <a:bodyPr wrap="none" lIns="102108" tIns="102108" rIns="102108" bIns="102108" rtlCol="0" anchor="ctr">
            <a:sp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3.3%</a:t>
            </a:r>
            <a:endParaRPr lang="en-US" sz="850" dirty="0"/>
          </a:p>
        </p:txBody>
      </p:sp>
      <p:sp>
        <p:nvSpPr>
          <p:cNvPr id="28" name="Text 25"/>
          <p:cNvSpPr/>
          <p:nvPr/>
        </p:nvSpPr>
        <p:spPr>
          <a:xfrm>
            <a:off x="6597002" y="2842599"/>
            <a:ext cx="1256658" cy="316111"/>
          </a:xfrm>
          <a:prstGeom prst="rect">
            <a:avLst/>
          </a:prstGeom>
          <a:noFill/>
          <a:ln/>
        </p:spPr>
        <p:txBody>
          <a:bodyPr wrap="none" lIns="102108" tIns="102108" rIns="102108" bIns="102108" rtlCol="0" anchor="ctr">
            <a:sp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3.8%</a:t>
            </a:r>
            <a:endParaRPr lang="en-US" sz="850" dirty="0"/>
          </a:p>
        </p:txBody>
      </p:sp>
      <p:sp>
        <p:nvSpPr>
          <p:cNvPr id="29" name="Text 26"/>
          <p:cNvSpPr/>
          <p:nvPr/>
        </p:nvSpPr>
        <p:spPr>
          <a:xfrm>
            <a:off x="7853660" y="2842599"/>
            <a:ext cx="861715" cy="316111"/>
          </a:xfrm>
          <a:prstGeom prst="rect">
            <a:avLst/>
          </a:prstGeom>
          <a:noFill/>
          <a:ln/>
        </p:spPr>
        <p:txBody>
          <a:bodyPr wrap="none" lIns="102108" tIns="102108" rIns="102108" bIns="102108" rtlCol="0" anchor="ctr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2B6CB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+0.5%p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428625" y="3795703"/>
            <a:ext cx="1943100" cy="1347797"/>
          </a:xfrm>
          <a:prstGeom prst="rect">
            <a:avLst/>
          </a:prstGeom>
          <a:solidFill>
            <a:srgbClr val="F7FAFC"/>
          </a:solidFill>
          <a:ln/>
        </p:spPr>
      </p:sp>
      <p:sp>
        <p:nvSpPr>
          <p:cNvPr id="31" name="Text 28"/>
          <p:cNvSpPr/>
          <p:nvPr/>
        </p:nvSpPr>
        <p:spPr>
          <a:xfrm>
            <a:off x="571500" y="3938578"/>
            <a:ext cx="1657350" cy="1553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A202C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방향 정확도 유지</a:t>
            </a:r>
            <a:endParaRPr lang="en-US" sz="800" dirty="0"/>
          </a:p>
        </p:txBody>
      </p:sp>
      <p:sp>
        <p:nvSpPr>
          <p:cNvPr id="32" name="Text 29"/>
          <p:cNvSpPr/>
          <p:nvPr/>
        </p:nvSpPr>
        <p:spPr>
          <a:xfrm>
            <a:off x="571500" y="4179680"/>
            <a:ext cx="1657350" cy="3000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2025년 평균 50.3~52.8%의 방향 정확도를 유지하며 랜덤 대비 우위 확보</a:t>
            </a:r>
            <a:endParaRPr lang="en-US" sz="750" dirty="0"/>
          </a:p>
        </p:txBody>
      </p:sp>
      <p:sp>
        <p:nvSpPr>
          <p:cNvPr id="33" name="Shape 30"/>
          <p:cNvSpPr/>
          <p:nvPr/>
        </p:nvSpPr>
        <p:spPr>
          <a:xfrm>
            <a:off x="2543175" y="3795703"/>
            <a:ext cx="1943100" cy="1347797"/>
          </a:xfrm>
          <a:prstGeom prst="rect">
            <a:avLst/>
          </a:prstGeom>
          <a:solidFill>
            <a:srgbClr val="F7FAFC"/>
          </a:solidFill>
          <a:ln/>
        </p:spPr>
      </p:sp>
      <p:sp>
        <p:nvSpPr>
          <p:cNvPr id="34" name="Text 31"/>
          <p:cNvSpPr/>
          <p:nvPr/>
        </p:nvSpPr>
        <p:spPr>
          <a:xfrm>
            <a:off x="2686050" y="3938578"/>
            <a:ext cx="1657350" cy="1553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A202C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과적합 억제 성공</a:t>
            </a:r>
            <a:endParaRPr lang="en-US" sz="800" dirty="0"/>
          </a:p>
        </p:txBody>
      </p:sp>
      <p:sp>
        <p:nvSpPr>
          <p:cNvPr id="35" name="Text 32"/>
          <p:cNvSpPr/>
          <p:nvPr/>
        </p:nvSpPr>
        <p:spPr>
          <a:xfrm>
            <a:off x="2686050" y="4179680"/>
            <a:ext cx="1657350" cy="4500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학습셋 대비 MAE 증가폭이 0.5%p 미만으로 억제되어 우수한 일반화 성능 입증</a:t>
            </a:r>
            <a:endParaRPr lang="en-US" sz="750" dirty="0"/>
          </a:p>
        </p:txBody>
      </p:sp>
      <p:sp>
        <p:nvSpPr>
          <p:cNvPr id="36" name="Shape 33"/>
          <p:cNvSpPr/>
          <p:nvPr/>
        </p:nvSpPr>
        <p:spPr>
          <a:xfrm>
            <a:off x="4657725" y="3795703"/>
            <a:ext cx="1943100" cy="1347797"/>
          </a:xfrm>
          <a:prstGeom prst="rect">
            <a:avLst/>
          </a:prstGeom>
          <a:solidFill>
            <a:srgbClr val="F7FAFC"/>
          </a:solidFill>
          <a:ln/>
        </p:spPr>
      </p:sp>
      <p:sp>
        <p:nvSpPr>
          <p:cNvPr id="37" name="Text 34"/>
          <p:cNvSpPr/>
          <p:nvPr/>
        </p:nvSpPr>
        <p:spPr>
          <a:xfrm>
            <a:off x="4800600" y="3938578"/>
            <a:ext cx="1657350" cy="1553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A202C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외생 이벤트 취약성</a:t>
            </a:r>
            <a:endParaRPr lang="en-US" sz="800" dirty="0"/>
          </a:p>
        </p:txBody>
      </p:sp>
      <p:sp>
        <p:nvSpPr>
          <p:cNvPr id="38" name="Text 35"/>
          <p:cNvSpPr/>
          <p:nvPr/>
        </p:nvSpPr>
        <p:spPr>
          <a:xfrm>
            <a:off x="4800600" y="4179680"/>
            <a:ext cx="1657350" cy="3000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급격한 시장 변동성 확대 구간에서는 일시적인 방향성 예측력 하락 관찰</a:t>
            </a:r>
            <a:endParaRPr lang="en-US" sz="750" dirty="0"/>
          </a:p>
        </p:txBody>
      </p:sp>
      <p:sp>
        <p:nvSpPr>
          <p:cNvPr id="39" name="Shape 36"/>
          <p:cNvSpPr/>
          <p:nvPr/>
        </p:nvSpPr>
        <p:spPr>
          <a:xfrm>
            <a:off x="6772275" y="3795703"/>
            <a:ext cx="1943100" cy="1347797"/>
          </a:xfrm>
          <a:prstGeom prst="rect">
            <a:avLst/>
          </a:prstGeom>
          <a:solidFill>
            <a:srgbClr val="F7FAFC"/>
          </a:solidFill>
          <a:ln/>
        </p:spPr>
      </p:sp>
      <p:sp>
        <p:nvSpPr>
          <p:cNvPr id="40" name="Text 37"/>
          <p:cNvSpPr/>
          <p:nvPr/>
        </p:nvSpPr>
        <p:spPr>
          <a:xfrm>
            <a:off x="6915150" y="3938578"/>
            <a:ext cx="1657350" cy="1553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A202C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종목별 편차 존재</a:t>
            </a:r>
            <a:endParaRPr lang="en-US" sz="800" dirty="0"/>
          </a:p>
        </p:txBody>
      </p:sp>
      <p:sp>
        <p:nvSpPr>
          <p:cNvPr id="41" name="Text 38"/>
          <p:cNvSpPr/>
          <p:nvPr/>
        </p:nvSpPr>
        <p:spPr>
          <a:xfrm>
            <a:off x="6915150" y="4179680"/>
            <a:ext cx="1657350" cy="3000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삼성전자(53.1%) 등 대형주 위주에서 상대적으로 높은 신뢰도 확인</a:t>
            </a:r>
            <a:endParaRPr lang="en-US" sz="75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28625" y="428625"/>
            <a:ext cx="8286750" cy="30896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202C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11 백테스팅 결과: AI 신호 기반 전략의 수익성</a:t>
            </a:r>
            <a:endParaRPr lang="en-US" sz="1600" dirty="0"/>
          </a:p>
        </p:txBody>
      </p:sp>
      <p:sp>
        <p:nvSpPr>
          <p:cNvPr id="4" name="Shape 1"/>
          <p:cNvSpPr/>
          <p:nvPr/>
        </p:nvSpPr>
        <p:spPr>
          <a:xfrm>
            <a:off x="428625" y="1544836"/>
            <a:ext cx="1964531" cy="1535906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5" name="Shape 2"/>
          <p:cNvSpPr/>
          <p:nvPr/>
        </p:nvSpPr>
        <p:spPr>
          <a:xfrm>
            <a:off x="428625" y="1544836"/>
            <a:ext cx="1964531" cy="28575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6" name="Text 3"/>
          <p:cNvSpPr/>
          <p:nvPr/>
        </p:nvSpPr>
        <p:spPr>
          <a:xfrm>
            <a:off x="600075" y="1716286"/>
            <a:ext cx="1621631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718096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ANNUAL RETURN</a:t>
            </a:r>
            <a:endParaRPr lang="en-US" sz="700" dirty="0"/>
          </a:p>
        </p:txBody>
      </p:sp>
      <p:sp>
        <p:nvSpPr>
          <p:cNvPr id="7" name="Text 4"/>
          <p:cNvSpPr/>
          <p:nvPr/>
        </p:nvSpPr>
        <p:spPr>
          <a:xfrm>
            <a:off x="600075" y="1923455"/>
            <a:ext cx="1621631" cy="4143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2450" b="1" dirty="0">
                <a:solidFill>
                  <a:srgbClr val="2B6CB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+8.2%</a:t>
            </a:r>
            <a:endParaRPr lang="en-US" sz="2450" dirty="0"/>
          </a:p>
        </p:txBody>
      </p:sp>
      <p:sp>
        <p:nvSpPr>
          <p:cNvPr id="8" name="Text 5"/>
          <p:cNvSpPr/>
          <p:nvPr/>
        </p:nvSpPr>
        <p:spPr>
          <a:xfrm>
            <a:off x="600075" y="2394942"/>
            <a:ext cx="1621631" cy="1357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전략 연평균 수익률</a:t>
            </a:r>
            <a:endParaRPr lang="en-US" sz="750" dirty="0"/>
          </a:p>
        </p:txBody>
      </p:sp>
      <p:sp>
        <p:nvSpPr>
          <p:cNvPr id="9" name="Shape 6"/>
          <p:cNvSpPr/>
          <p:nvPr/>
        </p:nvSpPr>
        <p:spPr>
          <a:xfrm>
            <a:off x="2536031" y="1544836"/>
            <a:ext cx="1964531" cy="1535906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10" name="Shape 7"/>
          <p:cNvSpPr/>
          <p:nvPr/>
        </p:nvSpPr>
        <p:spPr>
          <a:xfrm>
            <a:off x="2536031" y="1544836"/>
            <a:ext cx="1964531" cy="28575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1" name="Text 8"/>
          <p:cNvSpPr/>
          <p:nvPr/>
        </p:nvSpPr>
        <p:spPr>
          <a:xfrm>
            <a:off x="2707481" y="1716286"/>
            <a:ext cx="1621631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718096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ALPHA</a:t>
            </a:r>
            <a:endParaRPr lang="en-US" sz="700" dirty="0"/>
          </a:p>
        </p:txBody>
      </p:sp>
      <p:sp>
        <p:nvSpPr>
          <p:cNvPr id="12" name="Text 9"/>
          <p:cNvSpPr/>
          <p:nvPr/>
        </p:nvSpPr>
        <p:spPr>
          <a:xfrm>
            <a:off x="2707481" y="1923455"/>
            <a:ext cx="1621631" cy="4143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2450" b="1" dirty="0">
                <a:solidFill>
                  <a:srgbClr val="2B6CB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+2.1%p</a:t>
            </a:r>
            <a:endParaRPr lang="en-US" sz="2450" dirty="0"/>
          </a:p>
        </p:txBody>
      </p:sp>
      <p:sp>
        <p:nvSpPr>
          <p:cNvPr id="13" name="Text 10"/>
          <p:cNvSpPr/>
          <p:nvPr/>
        </p:nvSpPr>
        <p:spPr>
          <a:xfrm>
            <a:off x="2707481" y="2394942"/>
            <a:ext cx="1621631" cy="1357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Buy-Hold 대비 초과수익</a:t>
            </a:r>
            <a:endParaRPr lang="en-US" sz="750" dirty="0"/>
          </a:p>
        </p:txBody>
      </p:sp>
      <p:sp>
        <p:nvSpPr>
          <p:cNvPr id="14" name="Shape 11"/>
          <p:cNvSpPr/>
          <p:nvPr/>
        </p:nvSpPr>
        <p:spPr>
          <a:xfrm>
            <a:off x="4643438" y="1544836"/>
            <a:ext cx="1964531" cy="1535906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15" name="Shape 12"/>
          <p:cNvSpPr/>
          <p:nvPr/>
        </p:nvSpPr>
        <p:spPr>
          <a:xfrm>
            <a:off x="4643438" y="1544836"/>
            <a:ext cx="1964531" cy="28575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3"/>
          <p:cNvSpPr/>
          <p:nvPr/>
        </p:nvSpPr>
        <p:spPr>
          <a:xfrm>
            <a:off x="4814888" y="1716286"/>
            <a:ext cx="1621631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718096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MAX DRAWDOWN</a:t>
            </a:r>
            <a:endParaRPr lang="en-US" sz="700" dirty="0"/>
          </a:p>
        </p:txBody>
      </p:sp>
      <p:sp>
        <p:nvSpPr>
          <p:cNvPr id="17" name="Text 14"/>
          <p:cNvSpPr/>
          <p:nvPr/>
        </p:nvSpPr>
        <p:spPr>
          <a:xfrm>
            <a:off x="4814888" y="1923455"/>
            <a:ext cx="1621631" cy="4143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2450" b="1" dirty="0">
                <a:solidFill>
                  <a:srgbClr val="2B6CB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-18.4%</a:t>
            </a:r>
            <a:endParaRPr lang="en-US" sz="2450" dirty="0"/>
          </a:p>
        </p:txBody>
      </p:sp>
      <p:sp>
        <p:nvSpPr>
          <p:cNvPr id="18" name="Text 15"/>
          <p:cNvSpPr/>
          <p:nvPr/>
        </p:nvSpPr>
        <p:spPr>
          <a:xfrm>
            <a:off x="4814888" y="2394942"/>
            <a:ext cx="1621631" cy="1357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최대 낙폭 관리</a:t>
            </a:r>
            <a:endParaRPr lang="en-US" sz="750" dirty="0"/>
          </a:p>
        </p:txBody>
      </p:sp>
      <p:sp>
        <p:nvSpPr>
          <p:cNvPr id="19" name="Shape 16"/>
          <p:cNvSpPr/>
          <p:nvPr/>
        </p:nvSpPr>
        <p:spPr>
          <a:xfrm>
            <a:off x="6750844" y="1544836"/>
            <a:ext cx="1964531" cy="1535906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20" name="Shape 17"/>
          <p:cNvSpPr/>
          <p:nvPr/>
        </p:nvSpPr>
        <p:spPr>
          <a:xfrm>
            <a:off x="6750844" y="1544836"/>
            <a:ext cx="1964531" cy="28575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21" name="Text 18"/>
          <p:cNvSpPr/>
          <p:nvPr/>
        </p:nvSpPr>
        <p:spPr>
          <a:xfrm>
            <a:off x="6922294" y="1716286"/>
            <a:ext cx="1621631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718096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SHARPE RATIO</a:t>
            </a:r>
            <a:endParaRPr lang="en-US" sz="700" dirty="0"/>
          </a:p>
        </p:txBody>
      </p:sp>
      <p:sp>
        <p:nvSpPr>
          <p:cNvPr id="22" name="Text 19"/>
          <p:cNvSpPr/>
          <p:nvPr/>
        </p:nvSpPr>
        <p:spPr>
          <a:xfrm>
            <a:off x="6922294" y="1923455"/>
            <a:ext cx="1621631" cy="4143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2450" b="1" dirty="0">
                <a:solidFill>
                  <a:srgbClr val="2B6CB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0.71</a:t>
            </a:r>
            <a:endParaRPr lang="en-US" sz="2450" dirty="0"/>
          </a:p>
        </p:txBody>
      </p:sp>
      <p:sp>
        <p:nvSpPr>
          <p:cNvPr id="23" name="Text 20"/>
          <p:cNvSpPr/>
          <p:nvPr/>
        </p:nvSpPr>
        <p:spPr>
          <a:xfrm>
            <a:off x="6922294" y="2394942"/>
            <a:ext cx="1621631" cy="1357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위험 대비 수익 효율</a:t>
            </a:r>
            <a:endParaRPr lang="en-US" sz="750" dirty="0"/>
          </a:p>
        </p:txBody>
      </p:sp>
      <p:sp>
        <p:nvSpPr>
          <p:cNvPr id="24" name="Text 21"/>
          <p:cNvSpPr/>
          <p:nvPr/>
        </p:nvSpPr>
        <p:spPr>
          <a:xfrm>
            <a:off x="428625" y="3509367"/>
            <a:ext cx="3929063" cy="241102"/>
          </a:xfrm>
          <a:prstGeom prst="rect">
            <a:avLst/>
          </a:prstGeom>
          <a:noFill/>
          <a:ln/>
        </p:spPr>
        <p:txBody>
          <a:bodyPr wrap="square" lIns="0" tIns="0" rIns="0" bIns="8509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A202C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Signal Generation Logic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428625" y="3979069"/>
            <a:ext cx="1037518" cy="14466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2D3748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매수 조건 (Score ≥ 2)</a:t>
            </a:r>
            <a:endParaRPr lang="en-US" sz="750" dirty="0"/>
          </a:p>
        </p:txBody>
      </p:sp>
      <p:sp>
        <p:nvSpPr>
          <p:cNvPr id="26" name="Text 23"/>
          <p:cNvSpPr/>
          <p:nvPr/>
        </p:nvSpPr>
        <p:spPr>
          <a:xfrm>
            <a:off x="2732484" y="3979069"/>
            <a:ext cx="1625203" cy="1446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2B6CB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RSI &lt; 30 &amp; MACD Golden Cross</a:t>
            </a:r>
            <a:endParaRPr lang="en-US" sz="750" dirty="0"/>
          </a:p>
        </p:txBody>
      </p:sp>
      <p:sp>
        <p:nvSpPr>
          <p:cNvPr id="27" name="Text 24"/>
          <p:cNvSpPr/>
          <p:nvPr/>
        </p:nvSpPr>
        <p:spPr>
          <a:xfrm>
            <a:off x="428625" y="4216598"/>
            <a:ext cx="1085738" cy="14466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2D3748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매도 조건 (Score ≤ -2)</a:t>
            </a:r>
            <a:endParaRPr lang="en-US" sz="750" dirty="0"/>
          </a:p>
        </p:txBody>
      </p:sp>
      <p:sp>
        <p:nvSpPr>
          <p:cNvPr id="28" name="Text 25"/>
          <p:cNvSpPr/>
          <p:nvPr/>
        </p:nvSpPr>
        <p:spPr>
          <a:xfrm>
            <a:off x="2844998" y="4216598"/>
            <a:ext cx="1512689" cy="1446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2B6CB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RSI &gt; 70 &amp; MACD Dead Cross</a:t>
            </a:r>
            <a:endParaRPr lang="en-US" sz="750" dirty="0"/>
          </a:p>
        </p:txBody>
      </p:sp>
      <p:sp>
        <p:nvSpPr>
          <p:cNvPr id="29" name="Text 26"/>
          <p:cNvSpPr/>
          <p:nvPr/>
        </p:nvSpPr>
        <p:spPr>
          <a:xfrm>
            <a:off x="428625" y="4454128"/>
            <a:ext cx="451842" cy="14466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2D3748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보조 지표</a:t>
            </a:r>
            <a:endParaRPr lang="en-US" sz="750" dirty="0"/>
          </a:p>
        </p:txBody>
      </p:sp>
      <p:sp>
        <p:nvSpPr>
          <p:cNvPr id="30" name="Text 27"/>
          <p:cNvSpPr/>
          <p:nvPr/>
        </p:nvSpPr>
        <p:spPr>
          <a:xfrm>
            <a:off x="3093244" y="4454128"/>
            <a:ext cx="1264444" cy="14466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2B6CB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Bollinger Band &amp; MA_20</a:t>
            </a:r>
            <a:endParaRPr lang="en-US" sz="750" dirty="0"/>
          </a:p>
        </p:txBody>
      </p:sp>
      <p:sp>
        <p:nvSpPr>
          <p:cNvPr id="31" name="Text 28"/>
          <p:cNvSpPr/>
          <p:nvPr/>
        </p:nvSpPr>
        <p:spPr>
          <a:xfrm>
            <a:off x="4786313" y="3509367"/>
            <a:ext cx="3929063" cy="241102"/>
          </a:xfrm>
          <a:prstGeom prst="rect">
            <a:avLst/>
          </a:prstGeom>
          <a:noFill/>
          <a:ln/>
        </p:spPr>
        <p:txBody>
          <a:bodyPr wrap="square" lIns="0" tIns="0" rIns="0" bIns="8509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A202C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Market Screening Results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4786313" y="3893344"/>
            <a:ext cx="1262044" cy="414338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33" name="Text 30"/>
          <p:cNvSpPr/>
          <p:nvPr/>
        </p:nvSpPr>
        <p:spPr>
          <a:xfrm>
            <a:off x="4786313" y="4000500"/>
            <a:ext cx="1262044" cy="19288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202C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58개</a:t>
            </a:r>
            <a:endParaRPr lang="en-US" sz="1000" dirty="0"/>
          </a:p>
        </p:txBody>
      </p:sp>
      <p:sp>
        <p:nvSpPr>
          <p:cNvPr id="34" name="Text 31"/>
          <p:cNvSpPr/>
          <p:nvPr/>
        </p:nvSpPr>
        <p:spPr>
          <a:xfrm>
            <a:off x="4786313" y="4193381"/>
            <a:ext cx="1262044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600" dirty="0">
                <a:solidFill>
                  <a:srgbClr val="7180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매수 신호 (2.2%)</a:t>
            </a:r>
            <a:endParaRPr lang="en-US" sz="600" dirty="0"/>
          </a:p>
        </p:txBody>
      </p:sp>
      <p:sp>
        <p:nvSpPr>
          <p:cNvPr id="35" name="Shape 32"/>
          <p:cNvSpPr/>
          <p:nvPr/>
        </p:nvSpPr>
        <p:spPr>
          <a:xfrm>
            <a:off x="6119794" y="3893344"/>
            <a:ext cx="1262072" cy="414338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36" name="Text 33"/>
          <p:cNvSpPr/>
          <p:nvPr/>
        </p:nvSpPr>
        <p:spPr>
          <a:xfrm>
            <a:off x="6119794" y="4000500"/>
            <a:ext cx="1262072" cy="19288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202C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43개</a:t>
            </a:r>
            <a:endParaRPr lang="en-US" sz="1000" dirty="0"/>
          </a:p>
        </p:txBody>
      </p:sp>
      <p:sp>
        <p:nvSpPr>
          <p:cNvPr id="37" name="Text 34"/>
          <p:cNvSpPr/>
          <p:nvPr/>
        </p:nvSpPr>
        <p:spPr>
          <a:xfrm>
            <a:off x="6119794" y="4193381"/>
            <a:ext cx="1262072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600" dirty="0">
                <a:solidFill>
                  <a:srgbClr val="7180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매도 신호 (1.6%)</a:t>
            </a:r>
            <a:endParaRPr lang="en-US" sz="600" dirty="0"/>
          </a:p>
        </p:txBody>
      </p:sp>
      <p:sp>
        <p:nvSpPr>
          <p:cNvPr id="38" name="Shape 35"/>
          <p:cNvSpPr/>
          <p:nvPr/>
        </p:nvSpPr>
        <p:spPr>
          <a:xfrm>
            <a:off x="7453303" y="3893344"/>
            <a:ext cx="1262072" cy="414338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39" name="Text 36"/>
          <p:cNvSpPr/>
          <p:nvPr/>
        </p:nvSpPr>
        <p:spPr>
          <a:xfrm>
            <a:off x="7453303" y="4000500"/>
            <a:ext cx="1262072" cy="17323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202C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54.3%</a:t>
            </a:r>
            <a:endParaRPr lang="en-US" sz="1000" dirty="0"/>
          </a:p>
        </p:txBody>
      </p:sp>
      <p:sp>
        <p:nvSpPr>
          <p:cNvPr id="40" name="Text 37"/>
          <p:cNvSpPr/>
          <p:nvPr/>
        </p:nvSpPr>
        <p:spPr>
          <a:xfrm>
            <a:off x="7453303" y="4173736"/>
            <a:ext cx="1262072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600" dirty="0">
                <a:solidFill>
                  <a:srgbClr val="7180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전략 승률</a:t>
            </a:r>
            <a:endParaRPr lang="en-US" sz="600" dirty="0"/>
          </a:p>
        </p:txBody>
      </p:sp>
      <p:sp>
        <p:nvSpPr>
          <p:cNvPr id="41" name="Text 38"/>
          <p:cNvSpPr/>
          <p:nvPr/>
        </p:nvSpPr>
        <p:spPr>
          <a:xfrm>
            <a:off x="4786313" y="4450556"/>
            <a:ext cx="3929063" cy="3000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7180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* KOSPI/KOSDAQ 2,700여 종목 대상 실시간 스크리닝 결과 기반</a:t>
            </a:r>
            <a:r>
              <a:rPr lang="en-US" sz="750" dirty="0">
                <a:solidFill>
                  <a:srgbClr val="7180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r>
              <a:rPr lang="en-US" sz="750" dirty="0">
                <a:solidFill>
                  <a:srgbClr val="7180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* 삼성전자 단일 종목 백테스팅 시 Buy-Hold 대비 우수한 방어력 입증</a:t>
            </a:r>
            <a:endParaRPr lang="en-US" sz="7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28625" y="428625"/>
            <a:ext cx="8286750" cy="30896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202C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05 결론 및 향후 과제: 모델 고도화 방향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428625" y="1227525"/>
            <a:ext cx="3929063" cy="2071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B6CB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PROJECT SUMMARY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428625" y="1591856"/>
            <a:ext cx="392906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A202C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효율적 데이터 파이프라인 구축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428625" y="1820456"/>
            <a:ext cx="392906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층화 샘플링을 통해 전 종목 학습의 메모리 한계를 극복하고, 시장 규모별 패턴을 고르게 학습하는 범용 모델의 기반을 마련했습니다.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28625" y="2320519"/>
            <a:ext cx="392906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A202C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모델별 특성 및 우위 확인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28625" y="2549119"/>
            <a:ext cx="392906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LSTM의 시계열 패턴 인식 우수성과 트리 기반 모델의 빠른 학습 및 해석 가능성이라는 상호 보완적 강점을 확인했습니다.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428625" y="3049181"/>
            <a:ext cx="392906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A202C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실전 검증을 통한 신뢰성 확보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428625" y="3277781"/>
            <a:ext cx="392906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2025년 OOS 데이터를 활용한 검증 결과, 학습 외 기간에서도 안정적인 방향 정확도를 유지하며 모델의 일반화 성능을 입증했습니다.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4786313" y="1227525"/>
            <a:ext cx="3929063" cy="3172411"/>
          </a:xfrm>
          <a:prstGeom prst="rect">
            <a:avLst/>
          </a:prstGeom>
          <a:solidFill>
            <a:srgbClr val="F7FAFC"/>
          </a:solidFill>
          <a:ln/>
        </p:spPr>
      </p:sp>
      <p:sp>
        <p:nvSpPr>
          <p:cNvPr id="12" name="Text 9"/>
          <p:cNvSpPr/>
          <p:nvPr/>
        </p:nvSpPr>
        <p:spPr>
          <a:xfrm>
            <a:off x="4872038" y="1313250"/>
            <a:ext cx="3757613" cy="2071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B6CB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FUTURE WORK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872038" y="1611502"/>
            <a:ext cx="732234" cy="148233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4" name="Text 11"/>
          <p:cNvSpPr/>
          <p:nvPr/>
        </p:nvSpPr>
        <p:spPr>
          <a:xfrm>
            <a:off x="4872038" y="1611502"/>
            <a:ext cx="732234" cy="148233"/>
          </a:xfrm>
          <a:prstGeom prst="rect">
            <a:avLst/>
          </a:prstGeom>
          <a:noFill/>
          <a:ln/>
        </p:spPr>
        <p:txBody>
          <a:bodyPr wrap="none" lIns="85090" tIns="25527" rIns="85090" bIns="25527" rtlCol="0" anchor="t">
            <a:spAutoFit/>
          </a:bodyPr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ROBUSTNESS</a:t>
            </a:r>
            <a:endParaRPr lang="en-US" sz="600" dirty="0"/>
          </a:p>
        </p:txBody>
      </p:sp>
      <p:sp>
        <p:nvSpPr>
          <p:cNvPr id="15" name="Text 12"/>
          <p:cNvSpPr/>
          <p:nvPr/>
        </p:nvSpPr>
        <p:spPr>
          <a:xfrm>
            <a:off x="4872038" y="1816884"/>
            <a:ext cx="375761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A202C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거시경제 지표 및 외부 변수 추가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4872038" y="2045484"/>
            <a:ext cx="375761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금리, 환율, 산업별 인덱스 등 거시 지표를 모델 입력에 추가하여 시장 국면 변화에 대한 강건성을 확보할 예정입니다.</a:t>
            </a:r>
            <a:endParaRPr lang="en-US" sz="800" dirty="0"/>
          </a:p>
        </p:txBody>
      </p:sp>
      <p:sp>
        <p:nvSpPr>
          <p:cNvPr id="17" name="Shape 14"/>
          <p:cNvSpPr/>
          <p:nvPr/>
        </p:nvSpPr>
        <p:spPr>
          <a:xfrm>
            <a:off x="4872038" y="2479467"/>
            <a:ext cx="762595" cy="148233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8" name="Text 15"/>
          <p:cNvSpPr/>
          <p:nvPr/>
        </p:nvSpPr>
        <p:spPr>
          <a:xfrm>
            <a:off x="4872038" y="2479467"/>
            <a:ext cx="762595" cy="148233"/>
          </a:xfrm>
          <a:prstGeom prst="rect">
            <a:avLst/>
          </a:prstGeom>
          <a:noFill/>
          <a:ln/>
        </p:spPr>
        <p:txBody>
          <a:bodyPr wrap="none" lIns="85090" tIns="25527" rIns="85090" bIns="25527" rtlCol="0" anchor="t">
            <a:spAutoFit/>
          </a:bodyPr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INTELLIGENCE</a:t>
            </a:r>
            <a:endParaRPr lang="en-US" sz="600" dirty="0"/>
          </a:p>
        </p:txBody>
      </p:sp>
      <p:sp>
        <p:nvSpPr>
          <p:cNvPr id="19" name="Text 16"/>
          <p:cNvSpPr/>
          <p:nvPr/>
        </p:nvSpPr>
        <p:spPr>
          <a:xfrm>
            <a:off x="4872038" y="2684850"/>
            <a:ext cx="375761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A202C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멀티모달 및 NLP 데이터 결합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4872038" y="2913450"/>
            <a:ext cx="375761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뉴스 감성 및 재무 데이터를 시계열과 결합해 정성적 정보 부재 문제를 해결하는 하이브리드 모델을 구축합니다.</a:t>
            </a:r>
            <a:endParaRPr lang="en-US" sz="800" dirty="0"/>
          </a:p>
        </p:txBody>
      </p:sp>
      <p:sp>
        <p:nvSpPr>
          <p:cNvPr id="21" name="Shape 18"/>
          <p:cNvSpPr/>
          <p:nvPr/>
        </p:nvSpPr>
        <p:spPr>
          <a:xfrm>
            <a:off x="4872038" y="3347433"/>
            <a:ext cx="609005" cy="148233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22" name="Text 19"/>
          <p:cNvSpPr/>
          <p:nvPr/>
        </p:nvSpPr>
        <p:spPr>
          <a:xfrm>
            <a:off x="4872038" y="3347433"/>
            <a:ext cx="609005" cy="148233"/>
          </a:xfrm>
          <a:prstGeom prst="rect">
            <a:avLst/>
          </a:prstGeom>
          <a:noFill/>
          <a:ln/>
        </p:spPr>
        <p:txBody>
          <a:bodyPr wrap="none" lIns="85090" tIns="25527" rIns="85090" bIns="25527" rtlCol="0" anchor="t">
            <a:spAutoFit/>
          </a:bodyPr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STRATEGY</a:t>
            </a:r>
            <a:endParaRPr lang="en-US" sz="600" dirty="0"/>
          </a:p>
        </p:txBody>
      </p:sp>
      <p:sp>
        <p:nvSpPr>
          <p:cNvPr id="23" name="Text 20"/>
          <p:cNvSpPr/>
          <p:nvPr/>
        </p:nvSpPr>
        <p:spPr>
          <a:xfrm>
            <a:off x="4872038" y="3552816"/>
            <a:ext cx="375761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A202C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강화학습 기반 트레이딩 에이전트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4872038" y="3781416"/>
            <a:ext cx="375761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시장 상황에 따라 동적으로 포지션 비중과 매매 임계값을 조절하는 RL 기반 지능형 트레이딩 시스템을 도입할 계획입니다.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0" y="4485661"/>
            <a:ext cx="9144000" cy="657839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</p:sp>
      <p:sp>
        <p:nvSpPr>
          <p:cNvPr id="26" name="Shape 23"/>
          <p:cNvSpPr/>
          <p:nvPr/>
        </p:nvSpPr>
        <p:spPr>
          <a:xfrm>
            <a:off x="0" y="4485661"/>
            <a:ext cx="9144000" cy="14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7" name="Text 24"/>
          <p:cNvSpPr/>
          <p:nvPr/>
        </p:nvSpPr>
        <p:spPr>
          <a:xfrm>
            <a:off x="428625" y="4580930"/>
            <a:ext cx="8286750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180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"All models are wrong, but some are useful."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428625" y="4811316"/>
            <a:ext cx="8286750" cy="1375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A202C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— George E. P. Box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ep:Properties xmlns:r="http://schemas.openxmlformats.org/officeDocument/2006/relationships" xmlns:ep="http://schemas.openxmlformats.org/officeDocument/2006/extended-properties" xmlns:vt="http://schemas.openxmlformats.org/officeDocument/2006/docPropsVTypes">
  <ep:Manager/>
  <ep:Company>PptxGenJS</ep:Company>
  <ep:Words>1321</ep:Words>
  <ep:PresentationFormat>On-screen Show (16:9)</ep:PresentationFormat>
  <ep:Paragraphs>309</ep:Paragraphs>
  <ep:Slides>12</ep:Slides>
  <ep:Notes>12</ep:Notes>
  <ep:TotalTime>0</ep:TotalTime>
  <ep:HiddenSlides>0</ep:HiddenSlides>
  <ep:MMClips>0</ep:MMClips>
  <ep:HeadingPairs>
    <vt:vector size="4" baseType="variant">
      <vt:variant>
        <vt:lpstr>테마</vt:lpstr>
      </vt:variant>
      <vt:variant>
        <vt:i4>1</vt:i4>
      </vt:variant>
      <vt:variant>
        <vt:lpstr>슬라이드 제목</vt:lpstr>
      </vt:variant>
      <vt:variant>
        <vt:i4>12</vt:i4>
      </vt:variant>
    </vt:vector>
  </ep:HeadingPairs>
  <ep:TitlesOfParts>
    <vt:vector size="13" baseType="lpstr">
      <vt:lpstr>Office Theme</vt:lpstr>
      <vt:lpstr>슬라이드 1</vt:lpstr>
      <vt:lpstr>슬라이드 2</vt:lpstr>
      <vt:lpstr>슬라이드 3</vt:lpstr>
      <vt:lpstr>슬라이드 4</vt:lpstr>
      <vt:lpstr>슬라이드 5</vt:lpstr>
      <vt:lpstr>슬라이드 6</vt:lpstr>
      <vt:lpstr>슬라이드 7</vt:lpstr>
      <vt:lpstr>슬라이드 8</vt:lpstr>
      <vt:lpstr>슬라이드 9</vt:lpstr>
      <vt:lpstr>슬라이드 10</vt:lpstr>
      <vt:lpstr>슬라이드 11</vt:lpstr>
      <vt:lpstr>슬라이드 12</vt:lpstr>
    </vt:vector>
  </ep:TitlesOfParts>
  <ep:HyperlinkBase/>
  <ep:Application>Show</ep:Application>
  <ep:AppVersion>12.0000</ep:AppVersion>
</ep:Properties>
</file>

<file path=docProps/core.xml><?xml version="1.0" encoding="utf-8"?>
<cp:coreProperties xmlns:r="http://schemas.openxmlformats.org/officeDocument/2006/relationships"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2026-04-26T07:30:16.000</dcterms:created>
  <dc:creator>PptxGenJS</dc:creator>
  <cp:lastModifiedBy>KimSoonHa</cp:lastModifiedBy>
  <dcterms:modified xsi:type="dcterms:W3CDTF">2026-04-26T07:39:17.297</dcterms:modified>
  <cp:revision>2</cp:revision>
  <dc:subject>PptxGenJS Presentation</dc:subject>
  <dc:title>PptxGenJS Presentation</dc:title>
  <cp:version/>
</cp:coreProperties>
</file>

<file path=docProps/custom.xml><?xml version="1.0" encoding="utf-8"?>
<cfp:Properties xmlns:r="http://schemas.openxmlformats.org/officeDocument/2006/relationships" xmlns:cfp="http://schemas.openxmlformats.org/officeDocument/2006/custom-properties" xmlns:vt="http://schemas.openxmlformats.org/officeDocument/2006/docPropsVTypes"/>
</file>