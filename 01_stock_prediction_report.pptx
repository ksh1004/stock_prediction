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8" r:id="rId19"/>
    <p:sldId id="269" r:id="rId20"/>
    <p:sldId id="270" r:id="rId21"/>
    <p:sldId id="271" r:id="rId22"/>
    <p:sldId id="272" r:id="rId23"/>
    <p:sldId id="273" r:id="rId24"/>
    <p:sldId id="265" r:id="rId12"/>
    <p:sldId id="266" r:id="rId13"/>
    <p:sldId id="267" r:id="rId1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  <p:guideLst>
        <p:guide orient="horz" pos="161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5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764381"/>
            <a:ext cx="8286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1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주식 등락률 예측</a:t>
            </a:r>
            <a:r>
              <a:rPr lang="en-US" sz="41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
</a:t>
            </a:r>
            <a:r>
              <a:rPr lang="en-US" sz="41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AI 모델 개발</a:t>
            </a:r>
            <a:endParaRPr lang="en-US" sz="4150" dirty="0"/>
          </a:p>
        </p:txBody>
      </p:sp>
      <p:sp>
        <p:nvSpPr>
          <p:cNvPr id="4" name="Text 1"/>
          <p:cNvSpPr/>
          <p:nvPr/>
        </p:nvSpPr>
        <p:spPr>
          <a:xfrm>
            <a:off x="428625" y="2364581"/>
            <a:ext cx="6429375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KOSPI/KOSDAQ 전 종목 대상 9개 회귀 모델 비교 분석 및 실전 검증 보고서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428625" y="4729163"/>
            <a:ext cx="8286750" cy="27146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428625" y="4729163"/>
            <a:ext cx="8286750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4"/>
          <p:cNvSpPr/>
          <p:nvPr/>
        </p:nvSpPr>
        <p:spPr>
          <a:xfrm>
            <a:off x="428625" y="4829175"/>
            <a:ext cx="76973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1" kern="0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#데이터수집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398389" y="4829175"/>
            <a:ext cx="76973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1" kern="0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#기술적지표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2368153" y="4829175"/>
            <a:ext cx="49827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1" kern="0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#딥러닝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066455" y="4829175"/>
            <a:ext cx="63400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1" kern="0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#백테스팅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900488" y="4829175"/>
            <a:ext cx="99833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1" kern="0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#2025실전검증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934920" y="4845248"/>
            <a:ext cx="78045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2026. 04. 26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286000" cy="5143500"/>
          </a:xfrm>
          <a:prstGeom prst="rect">
            <a:avLst/>
          </a:prstGeom>
          <a:solidFill>
            <a:srgbClr val="1A202C"/>
          </a:solidFill>
          <a:ln/>
        </p:spPr>
      </p:sp>
      <p:sp>
        <p:nvSpPr>
          <p:cNvPr id="4" name="Text 1"/>
          <p:cNvSpPr/>
          <p:nvPr/>
        </p:nvSpPr>
        <p:spPr>
          <a:xfrm>
            <a:off x="428625" y="571500"/>
            <a:ext cx="1857375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spc="2" kern="0" dirty="0">
                <a:solidFill>
                  <a:srgbClr val="FFFFFF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CONTENTS</a:t>
            </a:r>
            <a:endParaRPr lang="en-US" sz="2450" dirty="0"/>
          </a:p>
        </p:txBody>
      </p:sp>
      <p:sp>
        <p:nvSpPr>
          <p:cNvPr id="5" name="Text 2"/>
          <p:cNvSpPr/>
          <p:nvPr/>
        </p:nvSpPr>
        <p:spPr>
          <a:xfrm>
            <a:off x="2857500" y="571500"/>
            <a:ext cx="5715000" cy="4625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목차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2857500" y="1685925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429000" y="1562695"/>
            <a:ext cx="51435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프로젝트 개요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429000" y="1860947"/>
            <a:ext cx="51435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연구 배경, 목적 및 데이터 범위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857500" y="2325291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429000" y="2202061"/>
            <a:ext cx="51435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기술 스택 &amp; 아키텍처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429000" y="2500313"/>
            <a:ext cx="51435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수집 파이프라인, 특성 공학, 모델 구조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2857500" y="2964656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429000" y="2841427"/>
            <a:ext cx="51435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모델별 상세 분석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429000" y="3139678"/>
            <a:ext cx="51435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LSTM, Random Forest, XGBoost 등 9개 모델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857500" y="3604022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429000" y="3480792"/>
            <a:ext cx="51435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성능 비교 및 실전 검증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429000" y="3779044"/>
            <a:ext cx="51435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모델별 지표 비교 및 2025년 OOS 검증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2857500" y="4243388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05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429000" y="4120158"/>
            <a:ext cx="51435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백테스팅 및 결론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429000" y="4418409"/>
            <a:ext cx="51435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전략 성과 분석 및 향후 개선 방향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01 프로젝트 개요: 시장 대표성 확보를 위한 데이터 설계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309092"/>
            <a:ext cx="25717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RESEARCH OBJECTIVE</a:t>
            </a:r>
            <a:endParaRPr lang="en-US" sz="700" dirty="0"/>
          </a:p>
        </p:txBody>
      </p:sp>
      <p:sp>
        <p:nvSpPr>
          <p:cNvPr id="5" name="Text 2"/>
          <p:cNvSpPr/>
          <p:nvPr/>
        </p:nvSpPr>
        <p:spPr>
          <a:xfrm>
            <a:off x="428625" y="1516261"/>
            <a:ext cx="257175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범용 모델 개발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28625" y="1862733"/>
            <a:ext cx="257175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단일 종목 분석의 한계를 극복하고 시장 규모별 다양한 패턴을 학습하는 AI 모델을 구축합니다.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3286125" y="1309092"/>
            <a:ext cx="25717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DATA SCOPE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3286125" y="1516261"/>
            <a:ext cx="257175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2,731개 전 종목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86125" y="1862733"/>
            <a:ext cx="257175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KOSPI/KOSDAQ 전 종목 데이터를 수집하여 시장 전체의 흐름을 반영하는 데이터셋을 구성했습니다.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143625" y="1309092"/>
            <a:ext cx="25717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VALIDATION SYSTEM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6143625" y="1516261"/>
            <a:ext cx="257175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2025 실전 검증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43625" y="1862733"/>
            <a:ext cx="257175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2019-2024 학습 데이터와 별개로 2025년 OOS 데이터를 통해 모델의 일반화 성능을 측정합니다.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28625" y="2916436"/>
            <a:ext cx="82867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STRATIFIED SAMPLING STRATEGY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428625" y="3180755"/>
            <a:ext cx="1667228" cy="3911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5" name="Shape 12"/>
          <p:cNvSpPr/>
          <p:nvPr/>
        </p:nvSpPr>
        <p:spPr>
          <a:xfrm>
            <a:off x="428625" y="3557588"/>
            <a:ext cx="1667228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3"/>
          <p:cNvSpPr/>
          <p:nvPr/>
        </p:nvSpPr>
        <p:spPr>
          <a:xfrm>
            <a:off x="428625" y="3180755"/>
            <a:ext cx="1667228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시가총액 구간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2095853" y="3180755"/>
            <a:ext cx="1271615" cy="3911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95853" y="3557588"/>
            <a:ext cx="1271615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2095853" y="3180755"/>
            <a:ext cx="1271615" cy="391120"/>
          </a:xfrm>
          <a:prstGeom prst="rect">
            <a:avLst/>
          </a:prstGeom>
          <a:noFill/>
          <a:ln/>
        </p:spPr>
        <p:txBody>
          <a:bodyPr wrap="non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샘플링 종목 수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367469" y="3180755"/>
            <a:ext cx="3021276" cy="3911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1" name="Shape 18"/>
          <p:cNvSpPr/>
          <p:nvPr/>
        </p:nvSpPr>
        <p:spPr>
          <a:xfrm>
            <a:off x="3367469" y="3557588"/>
            <a:ext cx="3021276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19"/>
          <p:cNvSpPr/>
          <p:nvPr/>
        </p:nvSpPr>
        <p:spPr>
          <a:xfrm>
            <a:off x="3367469" y="3180755"/>
            <a:ext cx="3021276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주요 특징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388745" y="3180755"/>
            <a:ext cx="2326630" cy="3911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388745" y="3557588"/>
            <a:ext cx="2326630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2"/>
          <p:cNvSpPr/>
          <p:nvPr/>
        </p:nvSpPr>
        <p:spPr>
          <a:xfrm>
            <a:off x="6388745" y="3180755"/>
            <a:ext cx="2326630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대표 종목 예시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428625" y="3579019"/>
            <a:ext cx="1667228" cy="387548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대형주 (상위 25%)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2210153" y="3698677"/>
            <a:ext cx="38040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3367469" y="3579019"/>
            <a:ext cx="3021276" cy="387548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외국인/기관 수급 중심, 지수 연동성 높음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388745" y="3579019"/>
            <a:ext cx="2326630" cy="387548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삼성전자, SK하이닉스, 현대차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428625" y="3966567"/>
            <a:ext cx="1667228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중대형주 (25~50%)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2210153" y="4089797"/>
            <a:ext cx="38040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367469" y="3966567"/>
            <a:ext cx="3021276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업종 대표주, 안정적인 펀더멘털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6388745" y="3966567"/>
            <a:ext cx="2326630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KB금융, 포스코홀딩스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428625" y="4357688"/>
            <a:ext cx="1667228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중소형주 (50~75%)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2210153" y="4480917"/>
            <a:ext cx="38040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3367469" y="4357688"/>
            <a:ext cx="3021276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개별 모멘텀 및 수급 영향력 확대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388745" y="4357688"/>
            <a:ext cx="2326630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대원제약, 율촌화학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428625" y="4748808"/>
            <a:ext cx="1667228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소형주 (하위 25%)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2210153" y="4872038"/>
            <a:ext cx="38040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3367469" y="4748808"/>
            <a:ext cx="3021276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높은 변동성, 테마 및 수급 중심 패턴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6388745" y="4748808"/>
            <a:ext cx="2326630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KR모터스, 영흥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02 기술 스택 &amp; 아키텍처: 고성능 예측 파이프라인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428625" y="1285261"/>
            <a:ext cx="2060972" cy="3348047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" name="Shape 2"/>
          <p:cNvSpPr/>
          <p:nvPr/>
        </p:nvSpPr>
        <p:spPr>
          <a:xfrm>
            <a:off x="428625" y="1285261"/>
            <a:ext cx="2060972" cy="28575"/>
          </a:xfrm>
          <a:prstGeom prst="rect">
            <a:avLst/>
          </a:prstGeom>
          <a:solidFill>
            <a:srgbClr val="2B6CB0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521005"/>
            <a:ext cx="28575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00075" y="1919269"/>
            <a:ext cx="1718072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STEP 01</a:t>
            </a:r>
            <a:endParaRPr lang="en-US" sz="700" dirty="0"/>
          </a:p>
        </p:txBody>
      </p:sp>
      <p:sp>
        <p:nvSpPr>
          <p:cNvPr id="8" name="Text 4"/>
          <p:cNvSpPr/>
          <p:nvPr/>
        </p:nvSpPr>
        <p:spPr>
          <a:xfrm>
            <a:off x="600075" y="2097863"/>
            <a:ext cx="171807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데이터 수집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00088" y="2655075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FinanceDataReader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700088" y="2821167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KOSPI/KOSDAQ 전 종목 시세 데이터 확보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700088" y="3215469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Parallel Processing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00088" y="3381561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ThreadPoolExecutor 기반 병렬 다운로드 최적화</a:t>
            </a:r>
            <a:endParaRPr lang="en-US" sz="750" dirty="0"/>
          </a:p>
        </p:txBody>
      </p:sp>
      <p:sp>
        <p:nvSpPr>
          <p:cNvPr id="13" name="Shape 9"/>
          <p:cNvSpPr/>
          <p:nvPr/>
        </p:nvSpPr>
        <p:spPr>
          <a:xfrm>
            <a:off x="2503884" y="1285261"/>
            <a:ext cx="2060972" cy="3348047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Shape 10"/>
          <p:cNvSpPr/>
          <p:nvPr/>
        </p:nvSpPr>
        <p:spPr>
          <a:xfrm>
            <a:off x="2503884" y="1285261"/>
            <a:ext cx="2060972" cy="28575"/>
          </a:xfrm>
          <a:prstGeom prst="rect">
            <a:avLst/>
          </a:prstGeom>
          <a:solidFill>
            <a:srgbClr val="2B6CB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5334" y="1521005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675334" y="1919269"/>
            <a:ext cx="1718072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STEP 02</a:t>
            </a:r>
            <a:endParaRPr lang="en-US" sz="700" dirty="0"/>
          </a:p>
        </p:txBody>
      </p:sp>
      <p:sp>
        <p:nvSpPr>
          <p:cNvPr id="17" name="Text 12"/>
          <p:cNvSpPr/>
          <p:nvPr/>
        </p:nvSpPr>
        <p:spPr>
          <a:xfrm>
            <a:off x="2675334" y="2097863"/>
            <a:ext cx="171807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종목 선정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2775347" y="2655075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Stratified Sampling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2775347" y="2821167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시가총액 4분위 기준 200종목 층화 추출</a:t>
            </a:r>
            <a:endParaRPr lang="en-US" sz="750" dirty="0"/>
          </a:p>
        </p:txBody>
      </p:sp>
      <p:sp>
        <p:nvSpPr>
          <p:cNvPr id="20" name="Text 15"/>
          <p:cNvSpPr/>
          <p:nvPr/>
        </p:nvSpPr>
        <p:spPr>
          <a:xfrm>
            <a:off x="2775347" y="3215469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Market Cap Tier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2775347" y="3381561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대/중/소형주 패턴의 균등한 학습 데이터 구성</a:t>
            </a:r>
            <a:endParaRPr lang="en-US" sz="750" dirty="0"/>
          </a:p>
        </p:txBody>
      </p:sp>
      <p:sp>
        <p:nvSpPr>
          <p:cNvPr id="22" name="Shape 17"/>
          <p:cNvSpPr/>
          <p:nvPr/>
        </p:nvSpPr>
        <p:spPr>
          <a:xfrm>
            <a:off x="4579144" y="1285261"/>
            <a:ext cx="2060972" cy="3348047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3" name="Shape 18"/>
          <p:cNvSpPr/>
          <p:nvPr/>
        </p:nvSpPr>
        <p:spPr>
          <a:xfrm>
            <a:off x="4579144" y="1285261"/>
            <a:ext cx="2060972" cy="28575"/>
          </a:xfrm>
          <a:prstGeom prst="rect">
            <a:avLst/>
          </a:prstGeom>
          <a:solidFill>
            <a:srgbClr val="2B6CB0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594" y="1521005"/>
            <a:ext cx="228600" cy="2286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750594" y="1919269"/>
            <a:ext cx="1718072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STEP 03</a:t>
            </a:r>
            <a:endParaRPr lang="en-US" sz="700" dirty="0"/>
          </a:p>
        </p:txBody>
      </p:sp>
      <p:sp>
        <p:nvSpPr>
          <p:cNvPr id="26" name="Text 20"/>
          <p:cNvSpPr/>
          <p:nvPr/>
        </p:nvSpPr>
        <p:spPr>
          <a:xfrm>
            <a:off x="4750594" y="2097863"/>
            <a:ext cx="171807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 구축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4850606" y="2655075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LSTM Architecture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4850606" y="2821167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3층 구조(128-64-32) 시계열 딥러닝 모델</a:t>
            </a:r>
            <a:endParaRPr lang="en-US" sz="750" dirty="0"/>
          </a:p>
        </p:txBody>
      </p:sp>
      <p:sp>
        <p:nvSpPr>
          <p:cNvPr id="29" name="Text 23"/>
          <p:cNvSpPr/>
          <p:nvPr/>
        </p:nvSpPr>
        <p:spPr>
          <a:xfrm>
            <a:off x="4850606" y="3215469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9 Regression Models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4850606" y="3381561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RF, XGB, Ridge, Lasso 등 다각도 성능 비교</a:t>
            </a:r>
            <a:endParaRPr lang="en-US" sz="750" dirty="0"/>
          </a:p>
        </p:txBody>
      </p:sp>
      <p:sp>
        <p:nvSpPr>
          <p:cNvPr id="31" name="Shape 25"/>
          <p:cNvSpPr/>
          <p:nvPr/>
        </p:nvSpPr>
        <p:spPr>
          <a:xfrm>
            <a:off x="6654403" y="1285261"/>
            <a:ext cx="2060972" cy="3348047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2" name="Shape 26"/>
          <p:cNvSpPr/>
          <p:nvPr/>
        </p:nvSpPr>
        <p:spPr>
          <a:xfrm>
            <a:off x="6654403" y="1285261"/>
            <a:ext cx="2060972" cy="28575"/>
          </a:xfrm>
          <a:prstGeom prst="rect">
            <a:avLst/>
          </a:prstGeom>
          <a:solidFill>
            <a:srgbClr val="2B6CB0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5853" y="1521005"/>
            <a:ext cx="228600" cy="22860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6825853" y="1919269"/>
            <a:ext cx="1718072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STEP 04</a:t>
            </a:r>
            <a:endParaRPr lang="en-US" sz="700" dirty="0"/>
          </a:p>
        </p:txBody>
      </p:sp>
      <p:sp>
        <p:nvSpPr>
          <p:cNvPr id="35" name="Text 28"/>
          <p:cNvSpPr/>
          <p:nvPr/>
        </p:nvSpPr>
        <p:spPr>
          <a:xfrm>
            <a:off x="6825853" y="2097863"/>
            <a:ext cx="171807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검증 및 분석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6925866" y="2655075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Evaluation Metrics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6925866" y="2821167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MAE, RMSE, 방향 정확도 기반 정밀 평가</a:t>
            </a:r>
            <a:endParaRPr lang="en-US" sz="750" dirty="0"/>
          </a:p>
        </p:txBody>
      </p:sp>
      <p:sp>
        <p:nvSpPr>
          <p:cNvPr id="38" name="Text 31"/>
          <p:cNvSpPr/>
          <p:nvPr/>
        </p:nvSpPr>
        <p:spPr>
          <a:xfrm>
            <a:off x="6925866" y="3215469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Backtesting Engine</a:t>
            </a:r>
            <a:endParaRPr lang="en-US" sz="800" dirty="0"/>
          </a:p>
        </p:txBody>
      </p:sp>
      <p:sp>
        <p:nvSpPr>
          <p:cNvPr id="39" name="Text 32"/>
          <p:cNvSpPr/>
          <p:nvPr/>
        </p:nvSpPr>
        <p:spPr>
          <a:xfrm>
            <a:off x="6925866" y="3381561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MDD, Sharpe Ratio 등 실전 투자 지표 산출</a:t>
            </a:r>
            <a:endParaRPr lang="en-US" sz="750" dirty="0"/>
          </a:p>
        </p:txBody>
      </p:sp>
      <p:sp>
        <p:nvSpPr>
          <p:cNvPr id="40" name="Shape 33"/>
          <p:cNvSpPr/>
          <p:nvPr/>
        </p:nvSpPr>
        <p:spPr>
          <a:xfrm>
            <a:off x="428625" y="4914286"/>
            <a:ext cx="960834" cy="1625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4"/>
          <p:cNvSpPr/>
          <p:nvPr/>
        </p:nvSpPr>
        <p:spPr>
          <a:xfrm>
            <a:off x="428625" y="4914286"/>
            <a:ext cx="960834" cy="162520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INFRASTRUCTURE</a:t>
            </a:r>
            <a:endParaRPr lang="en-US" sz="600" dirty="0"/>
          </a:p>
        </p:txBody>
      </p:sp>
      <p:sp>
        <p:nvSpPr>
          <p:cNvPr id="42" name="Text 35"/>
          <p:cNvSpPr/>
          <p:nvPr/>
        </p:nvSpPr>
        <p:spPr>
          <a:xfrm>
            <a:off x="1475184" y="4927681"/>
            <a:ext cx="4697016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Parquet 포맷 캐싱을 통한 고속 I/O 및 메모리 효율성 확보 | random_state=42 고정으로 실험 재현성 보장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02 입력 설계 근거: 60일 시퀀스와 11개 핵심 지표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281578"/>
            <a:ext cx="9144000" cy="251092"/>
          </a:xfrm>
          <a:prstGeom prst="rect">
            <a:avLst/>
          </a:prstGeom>
          <a:noFill/>
          <a:ln/>
        </p:spPr>
        <p:txBody>
          <a:bodyPr wrap="square" lIns="510286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SEQUENCE LENGTH: WHY 60 DAYS?</a:t>
            </a:r>
            <a:endParaRPr lang="en-US" sz="700" dirty="0"/>
          </a:p>
        </p:txBody>
      </p:sp>
      <p:sp>
        <p:nvSpPr>
          <p:cNvPr id="5" name="Text 2"/>
          <p:cNvSpPr/>
          <p:nvPr/>
        </p:nvSpPr>
        <p:spPr>
          <a:xfrm>
            <a:off x="428625" y="1832707"/>
            <a:ext cx="257175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중기 추세 학습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28625" y="2111313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MA_60 형성 전 과정을 입력에 포함하여 단기 노이즈</a:t>
            </a: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를 억제하고 </a:t>
            </a:r>
            <a:r>
              <a:rPr lang="en-US" sz="7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중기적 방향성</a:t>
            </a: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을 직접 학습합니다.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286125" y="1832707"/>
            <a:ext cx="257175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지표 수렴 구간 확보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286125" y="2111313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RSI, MACD 등 주요 지표의 계산 윈도우(14~26일)가 </a:t>
            </a: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충분히 수렴하여 </a:t>
            </a:r>
            <a:r>
              <a:rPr lang="en-US" sz="7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신뢰도 높은 신호</a:t>
            </a: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를 생성합니다.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6143625" y="1832707"/>
            <a:ext cx="257175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데이터 균형 달성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143625" y="2111313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총 31,894개 시퀀스를 생성하여 학습에 필요한 </a:t>
            </a:r>
            <a:r>
              <a:rPr lang="en-US" sz="7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충분한 </a:t>
            </a:r>
            <a:r>
              <a:rPr lang="en-US" sz="7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샘플 수</a:t>
            </a: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와 정보의 질 사이의 균형을 확보했습니다.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0" y="3012486"/>
            <a:ext cx="9144000" cy="251120"/>
          </a:xfrm>
          <a:prstGeom prst="rect">
            <a:avLst/>
          </a:prstGeom>
          <a:noFill/>
          <a:ln/>
        </p:spPr>
        <p:txBody>
          <a:bodyPr wrap="square" lIns="510286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FEATURE ENGINEERING: 11 TECHNICAL INDICATORS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428625" y="3406480"/>
            <a:ext cx="1071563" cy="314325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3" name="Shape 10"/>
          <p:cNvSpPr/>
          <p:nvPr/>
        </p:nvSpPr>
        <p:spPr>
          <a:xfrm>
            <a:off x="428625" y="3706518"/>
            <a:ext cx="1071563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1"/>
          <p:cNvSpPr/>
          <p:nvPr/>
        </p:nvSpPr>
        <p:spPr>
          <a:xfrm>
            <a:off x="428625" y="3406480"/>
            <a:ext cx="1071563" cy="314325"/>
          </a:xfrm>
          <a:prstGeom prst="rect">
            <a:avLst/>
          </a:prstGeom>
          <a:noFill/>
          <a:ln/>
        </p:spPr>
        <p:txBody>
          <a:bodyPr wrap="none" lIns="136017" tIns="102108" rIns="136017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카테고리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1500188" y="3412201"/>
            <a:ext cx="1785938" cy="314325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6" name="Shape 13"/>
          <p:cNvSpPr/>
          <p:nvPr/>
        </p:nvSpPr>
        <p:spPr>
          <a:xfrm>
            <a:off x="1500188" y="3712239"/>
            <a:ext cx="1785938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4"/>
          <p:cNvSpPr/>
          <p:nvPr/>
        </p:nvSpPr>
        <p:spPr>
          <a:xfrm>
            <a:off x="1500188" y="3412201"/>
            <a:ext cx="1785938" cy="314325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핵심 지표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286125" y="3412201"/>
            <a:ext cx="5429250" cy="314325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9" name="Shape 16"/>
          <p:cNvSpPr/>
          <p:nvPr/>
        </p:nvSpPr>
        <p:spPr>
          <a:xfrm>
            <a:off x="3286125" y="3712239"/>
            <a:ext cx="5429250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Text 17"/>
          <p:cNvSpPr/>
          <p:nvPr/>
        </p:nvSpPr>
        <p:spPr>
          <a:xfrm>
            <a:off x="3286125" y="3412201"/>
            <a:ext cx="5429250" cy="314325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설계 역할 및 기대 효과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542925" y="3810828"/>
            <a:ext cx="641152" cy="142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19"/>
          <p:cNvSpPr/>
          <p:nvPr/>
        </p:nvSpPr>
        <p:spPr>
          <a:xfrm>
            <a:off x="542925" y="3810828"/>
            <a:ext cx="641152" cy="142875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가격 &amp; 거래량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1500188" y="3725103"/>
            <a:ext cx="1785938" cy="317897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Close, Volume, Volume_Ratio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3286125" y="3725103"/>
            <a:ext cx="5429250" cy="317897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절대 가격 수준 정규화 및 매매 참여도/이상 거래 감지를 통한 수급 분석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42925" y="4132297"/>
            <a:ext cx="371475" cy="142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3"/>
          <p:cNvSpPr/>
          <p:nvPr/>
        </p:nvSpPr>
        <p:spPr>
          <a:xfrm>
            <a:off x="542925" y="4132297"/>
            <a:ext cx="371475" cy="142875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모멘텀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1500188" y="4043000"/>
            <a:ext cx="1785938" cy="321469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RSI, MACD, MACD_Signal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3286125" y="4043000"/>
            <a:ext cx="5429250" cy="321469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추세의 강도와 방향, 전환 타이밍 포착 (과매수/과매도 및 골든/데드크로스)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542925" y="4453765"/>
            <a:ext cx="371475" cy="142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7"/>
          <p:cNvSpPr/>
          <p:nvPr/>
        </p:nvSpPr>
        <p:spPr>
          <a:xfrm>
            <a:off x="542925" y="4453765"/>
            <a:ext cx="371475" cy="142875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변동성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1500188" y="4364468"/>
            <a:ext cx="1785938" cy="321469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BB_Pct, BB_Width, ATR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3286125" y="4364468"/>
            <a:ext cx="5429250" cy="321469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볼린저밴드 내 위치 및 시장 변동성 측정을 통한 리스크 및 돌파 신호 감지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542925" y="4775234"/>
            <a:ext cx="285750" cy="142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4" name="Text 31"/>
          <p:cNvSpPr/>
          <p:nvPr/>
        </p:nvSpPr>
        <p:spPr>
          <a:xfrm>
            <a:off x="542925" y="4775234"/>
            <a:ext cx="285750" cy="142875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추세</a:t>
            </a:r>
            <a:endParaRPr lang="en-US" sz="600" dirty="0"/>
          </a:p>
        </p:txBody>
      </p:sp>
      <p:sp>
        <p:nvSpPr>
          <p:cNvPr id="35" name="Text 32"/>
          <p:cNvSpPr/>
          <p:nvPr/>
        </p:nvSpPr>
        <p:spPr>
          <a:xfrm>
            <a:off x="1500188" y="4685937"/>
            <a:ext cx="1785938" cy="321469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MA_20, MA_60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286125" y="4685937"/>
            <a:ext cx="5429250" cy="321469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단기 및 중기 이동평균선을 활용한 정배열/역배열 등 전반적인 시장 흐름 파악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03 LSTM: 시계열 패턴 학습의 핵심 아키텍처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407319"/>
            <a:ext cx="3929063" cy="173236"/>
          </a:xfrm>
          <a:prstGeom prst="rect">
            <a:avLst/>
          </a:prstGeom>
          <a:noFill/>
          <a:ln/>
        </p:spPr>
        <p:txBody>
          <a:bodyPr wrap="square" lIns="102108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CORE MECHANISM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28625" y="1873448"/>
            <a:ext cx="39290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망각 게이트 (Forget Gate)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28625" y="2102048"/>
            <a:ext cx="39290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과거 기억 중 현재와 무관한 정보를 삭제하여 메모리를 효율적으로 관리합니다.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28625" y="2527102"/>
            <a:ext cx="39290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입력 게이트 (Input Gate)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28625" y="2755702"/>
            <a:ext cx="39290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현재 입력 중 중요한 정보를 선별하여 새로운 기억으로 저장합니다.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28625" y="3180755"/>
            <a:ext cx="39290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출력 게이트 (Output Gate)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28625" y="3409355"/>
            <a:ext cx="39290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저장된 누적 기억을 바탕으로 현재 시점의 최종 예측값을 출력합니다.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28625" y="3884414"/>
            <a:ext cx="189309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Huber Loss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28625" y="4021931"/>
            <a:ext cx="1893094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이상치에 강건한 손실 함수 채택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2464594" y="3884414"/>
            <a:ext cx="189309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Early Stopping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2464594" y="4021931"/>
            <a:ext cx="1893094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최적 에포크 자동 탐색 및 과적합 방지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4786313" y="1407319"/>
            <a:ext cx="3929063" cy="173236"/>
          </a:xfrm>
          <a:prstGeom prst="rect">
            <a:avLst/>
          </a:prstGeom>
          <a:noFill/>
          <a:ln/>
        </p:spPr>
        <p:txBody>
          <a:bodyPr wrap="square" lIns="102108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3-LAYER ARCHITECTURE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786313" y="1752005"/>
            <a:ext cx="3929063" cy="3136106"/>
          </a:xfrm>
          <a:prstGeom prst="rect">
            <a:avLst/>
          </a:prstGeom>
          <a:solidFill>
            <a:srgbClr val="F7FAFC"/>
          </a:solidFill>
          <a:ln w="18288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00625" y="1980605"/>
            <a:ext cx="3500438" cy="357188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114925" y="2066330"/>
            <a:ext cx="338613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INPUT LAYER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5114925" y="2187773"/>
            <a:ext cx="33861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(60, 11) Sequence Data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5000625" y="2423517"/>
            <a:ext cx="35004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600" dirty="0"/>
          </a:p>
        </p:txBody>
      </p:sp>
      <p:sp>
        <p:nvSpPr>
          <p:cNvPr id="21" name="Shape 18"/>
          <p:cNvSpPr/>
          <p:nvPr/>
        </p:nvSpPr>
        <p:spPr>
          <a:xfrm>
            <a:off x="5000625" y="2614613"/>
            <a:ext cx="3500438" cy="357188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114925" y="2700338"/>
            <a:ext cx="338613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LSTM LAYER 1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5114925" y="2821781"/>
            <a:ext cx="33861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 Units / BatchNorm / Dropout 0.2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5000625" y="3057525"/>
            <a:ext cx="35004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600" dirty="0"/>
          </a:p>
        </p:txBody>
      </p:sp>
      <p:sp>
        <p:nvSpPr>
          <p:cNvPr id="25" name="Shape 22"/>
          <p:cNvSpPr/>
          <p:nvPr/>
        </p:nvSpPr>
        <p:spPr>
          <a:xfrm>
            <a:off x="5000625" y="3248620"/>
            <a:ext cx="3500438" cy="357188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114925" y="3334345"/>
            <a:ext cx="338613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LSTM LAYER 2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5114925" y="3455789"/>
            <a:ext cx="33861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 Units / BatchNorm / Dropout 0.2</a:t>
            </a:r>
            <a:endParaRPr lang="en-US" sz="600" dirty="0"/>
          </a:p>
        </p:txBody>
      </p:sp>
      <p:sp>
        <p:nvSpPr>
          <p:cNvPr id="28" name="Text 25"/>
          <p:cNvSpPr/>
          <p:nvPr/>
        </p:nvSpPr>
        <p:spPr>
          <a:xfrm>
            <a:off x="5000625" y="3691533"/>
            <a:ext cx="35004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600" dirty="0"/>
          </a:p>
        </p:txBody>
      </p:sp>
      <p:sp>
        <p:nvSpPr>
          <p:cNvPr id="29" name="Shape 26"/>
          <p:cNvSpPr/>
          <p:nvPr/>
        </p:nvSpPr>
        <p:spPr>
          <a:xfrm>
            <a:off x="5000625" y="3882628"/>
            <a:ext cx="3500438" cy="357188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114925" y="3968353"/>
            <a:ext cx="338613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LSTM LAYER 3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5114925" y="4089797"/>
            <a:ext cx="33861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Units / Dropout 0.1</a:t>
            </a:r>
            <a:endParaRPr lang="en-US" sz="600" dirty="0"/>
          </a:p>
        </p:txBody>
      </p:sp>
      <p:sp>
        <p:nvSpPr>
          <p:cNvPr id="32" name="Text 29"/>
          <p:cNvSpPr/>
          <p:nvPr/>
        </p:nvSpPr>
        <p:spPr>
          <a:xfrm>
            <a:off x="5000625" y="4325541"/>
            <a:ext cx="35004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600" dirty="0"/>
          </a:p>
        </p:txBody>
      </p:sp>
      <p:sp>
        <p:nvSpPr>
          <p:cNvPr id="33" name="Shape 30"/>
          <p:cNvSpPr/>
          <p:nvPr/>
        </p:nvSpPr>
        <p:spPr>
          <a:xfrm>
            <a:off x="5000625" y="4516636"/>
            <a:ext cx="3500438" cy="35718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4" name="Text 31"/>
          <p:cNvSpPr/>
          <p:nvPr/>
        </p:nvSpPr>
        <p:spPr>
          <a:xfrm>
            <a:off x="5114925" y="4602361"/>
            <a:ext cx="338613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OUTPUT LAYER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5114925" y="4723805"/>
            <a:ext cx="33861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Dense 1 (Regression)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03 앙상블 모델: Random Forest &amp; XGBoost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239469"/>
            <a:ext cx="3929063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RANDOM FOREST (BAGGING)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28625" y="1718100"/>
            <a:ext cx="39290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CORE CONCEPT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428625" y="1896694"/>
            <a:ext cx="392906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집단지성 알고리즘: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300개의 결정 트리가 독립적으로 학습하여 평균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을 내는 방식으로 과적합을 억제하고 안정적인 예측을 제공합니다.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28625" y="2579591"/>
            <a:ext cx="39290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KEY PARAMETERS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28625" y="2758185"/>
            <a:ext cx="392906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n_estimators: </a:t>
            </a: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300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 max_depth: </a:t>
            </a: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8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 min_samples_leaf: </a:t>
            </a: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20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28625" y="3235365"/>
            <a:ext cx="39290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ADVANTAGE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28625" y="3413959"/>
            <a:ext cx="392906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데이터 노이즈에 강건하며, 파라미터 튜닝에 따른 성능 변화가 비교적 완만하여 안정적인 베이스라인 확보에 유리합니다.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786313" y="1239469"/>
            <a:ext cx="3929063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XGBOOST (BOOSTING)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786313" y="1718100"/>
            <a:ext cx="39290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CORE CONCEPT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4786313" y="1896694"/>
            <a:ext cx="392906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오답 노트 학습: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이전 트리의 오차를 다음 트리가 집중적으로 보완하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는 순차적 학습을 통해 예측 정확도를 극대화합니다.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786313" y="2579591"/>
            <a:ext cx="39290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KEY PARAMETERS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4786313" y="2758185"/>
            <a:ext cx="392906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n_estimators: </a:t>
            </a: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500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 learning_rate: </a:t>
            </a: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0.05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 subsample: </a:t>
            </a: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0.8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786313" y="3235365"/>
            <a:ext cx="39290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ADVANTAGE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4786313" y="3413959"/>
            <a:ext cx="392906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복잡한 비선형 패턴 포착 능력이 뛰어나며, Early Stopping을 통해 최적의 학습 시점을 자동으로 탐색할 수 있습니다.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28625" y="4341558"/>
            <a:ext cx="2666991" cy="801942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9" name="Text 16"/>
          <p:cNvSpPr/>
          <p:nvPr/>
        </p:nvSpPr>
        <p:spPr>
          <a:xfrm>
            <a:off x="571500" y="4484433"/>
            <a:ext cx="2381241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Training Speed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571500" y="4646954"/>
            <a:ext cx="2381241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딥러닝 대비 압도적 속도</a:t>
            </a: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
</a:t>
            </a: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(수십 초 내외 학습 완료)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3238491" y="4341558"/>
            <a:ext cx="2666991" cy="801942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2" name="Text 19"/>
          <p:cNvSpPr/>
          <p:nvPr/>
        </p:nvSpPr>
        <p:spPr>
          <a:xfrm>
            <a:off x="3381366" y="4484433"/>
            <a:ext cx="2381241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Interpretability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3381366" y="4646954"/>
            <a:ext cx="2381241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특성 중요도(Feature Importance)</a:t>
            </a: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
</a:t>
            </a: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산출을 통한 판단 근거 제시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6048356" y="4341558"/>
            <a:ext cx="2667019" cy="801942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5" name="Text 22"/>
          <p:cNvSpPr/>
          <p:nvPr/>
        </p:nvSpPr>
        <p:spPr>
          <a:xfrm>
            <a:off x="6191231" y="4484433"/>
            <a:ext cx="238126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Resource Efficiency</a:t>
            </a:r>
            <a:endParaRPr lang="en-US" sz="600" dirty="0"/>
          </a:p>
        </p:txBody>
      </p:sp>
      <p:sp>
        <p:nvSpPr>
          <p:cNvPr id="26" name="Text 23"/>
          <p:cNvSpPr/>
          <p:nvPr/>
        </p:nvSpPr>
        <p:spPr>
          <a:xfrm>
            <a:off x="6191231" y="4646954"/>
            <a:ext cx="2381269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GPU 없이 CPU만으로도</a:t>
            </a: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
</a:t>
            </a: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고성능 모델 구축 가능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08 선형 및 트리 모델: 해석 가능성과 기준점 확보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309092"/>
            <a:ext cx="4000500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LINEAR REGRESSION + L2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428625" y="1471613"/>
            <a:ext cx="40005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Ridge 회귀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28625" y="1789509"/>
            <a:ext cx="4000500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"모든 가중치를 조금씩 줄여 안정적인 예측을 만든다"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28625" y="2035243"/>
            <a:ext cx="400050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가중치가 커질수록 페널티를 주어 특정 지표에 과도하게 의존하는 것을 방지하고 모든 지표를 균형 있게 활용합니다.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428625" y="253385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PROS</a:t>
            </a:r>
            <a:endParaRPr lang="en-US" sz="600" dirty="0"/>
          </a:p>
        </p:txBody>
      </p:sp>
      <p:sp>
        <p:nvSpPr>
          <p:cNvPr id="9" name="Text 6"/>
          <p:cNvSpPr/>
          <p:nvPr/>
        </p:nvSpPr>
        <p:spPr>
          <a:xfrm>
            <a:off x="428625" y="2673158"/>
            <a:ext cx="101084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과적합 방지, 안정성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500313" y="253385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53E3E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CONS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2500313" y="2673158"/>
            <a:ext cx="112514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불필요 변수 제거 불가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714875" y="1309092"/>
            <a:ext cx="4000500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LINEAR REGRESSION + L1</a:t>
            </a:r>
            <a:endParaRPr lang="en-US" sz="600" dirty="0"/>
          </a:p>
        </p:txBody>
      </p:sp>
      <p:sp>
        <p:nvSpPr>
          <p:cNvPr id="13" name="Text 10"/>
          <p:cNvSpPr/>
          <p:nvPr/>
        </p:nvSpPr>
        <p:spPr>
          <a:xfrm>
            <a:off x="4714875" y="1471613"/>
            <a:ext cx="40005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Lasso 회귀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714875" y="1789509"/>
            <a:ext cx="4000500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"불필요한 지표를 자동으로 걸러내 핵심만 남긴다"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714875" y="2035243"/>
            <a:ext cx="400050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중요하지 않은 지표의 가중치를 정확히 0으로 만들어 모델을 단순화하고 예측에 결정적인 변수를 자동으로 선별합니다.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4714875" y="253385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4714875" y="2673158"/>
            <a:ext cx="130373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자동 변수 선택, 해석 용이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786563" y="253385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53E3E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CONS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786563" y="2673158"/>
            <a:ext cx="1500188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상관관계 높은 변수 임의 제거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28625" y="3447752"/>
            <a:ext cx="4000500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TREE BASED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428625" y="3610273"/>
            <a:ext cx="40005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결정 트리 (Decision Tree)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28625" y="3928170"/>
            <a:ext cx="4000500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"사람이 읽을 수 있는 직관적인 규칙 기반 예측"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428625" y="4173903"/>
            <a:ext cx="400050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RSI, 거래량 등의 지표를 기준으로 조건 분기를 반복하여 예측 결과를 도출하며, 판단 근거를 시각적으로 확인 가능합니다.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428625" y="467251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PROS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428625" y="4811818"/>
            <a:ext cx="1500188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최고의 해석성, 전처리 불필요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500313" y="467251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53E3E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CONS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2500313" y="4811818"/>
            <a:ext cx="1157288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과적합 위험, 성능 한계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714875" y="3447752"/>
            <a:ext cx="4000500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DISTANCE BASED</a:t>
            </a:r>
            <a:endParaRPr lang="en-US" sz="600" dirty="0"/>
          </a:p>
        </p:txBody>
      </p:sp>
      <p:sp>
        <p:nvSpPr>
          <p:cNvPr id="29" name="Text 26"/>
          <p:cNvSpPr/>
          <p:nvPr/>
        </p:nvSpPr>
        <p:spPr>
          <a:xfrm>
            <a:off x="4714875" y="3610273"/>
            <a:ext cx="40005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KNN 회귀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714875" y="3928170"/>
            <a:ext cx="4000500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"오늘과 가장 비슷했던 과거 사례들의 평균값 참조"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4714875" y="4173903"/>
            <a:ext cx="400050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현재 시장 상황과 가장 유사한 과거 k개의 시점을 찾아 그 당시의 등락률을 바탕으로 오늘의 결과를 예측합니다.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4714875" y="467251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PROS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4714875" y="4811818"/>
            <a:ext cx="141803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직관적 원리, 학습 과정 없음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6786563" y="467251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53E3E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CONS</a:t>
            </a:r>
            <a:endParaRPr lang="en-US" sz="600" dirty="0"/>
          </a:p>
        </p:txBody>
      </p:sp>
      <p:sp>
        <p:nvSpPr>
          <p:cNvPr id="35" name="Text 32"/>
          <p:cNvSpPr/>
          <p:nvPr/>
        </p:nvSpPr>
        <p:spPr>
          <a:xfrm>
            <a:off x="6786563" y="4811818"/>
            <a:ext cx="141803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예측 속도 느림, 차원의 저주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22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04 모델 성능 비교: 정확도와 효율성의 균형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276331"/>
            <a:ext cx="490535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MAE COMPARISON (LOWER IS BETTER)</a:t>
            </a:r>
            <a:endParaRPr lang="en-US" sz="7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512075"/>
            <a:ext cx="4904184" cy="17145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76856" y="1276331"/>
            <a:ext cx="3238491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KEY INSIGHTS</a:t>
            </a:r>
            <a:endParaRPr lang="en-US" sz="700" dirty="0"/>
          </a:p>
        </p:txBody>
      </p:sp>
      <p:sp>
        <p:nvSpPr>
          <p:cNvPr id="7" name="Text 3"/>
          <p:cNvSpPr/>
          <p:nvPr/>
        </p:nvSpPr>
        <p:spPr>
          <a:xfrm>
            <a:off x="5476856" y="1612088"/>
            <a:ext cx="3238491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LSTM의 압도적 우위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5476856" y="1796039"/>
            <a:ext cx="3238491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시퀀스 전체를 활용해 가장 낮은 MAE를 기록하며 시간적 패턴 학습 효과를 입증했습니다.</a:t>
            </a:r>
            <a:endParaRPr lang="en-US" sz="750" dirty="0"/>
          </a:p>
        </p:txBody>
      </p:sp>
      <p:sp>
        <p:nvSpPr>
          <p:cNvPr id="9" name="Text 5"/>
          <p:cNvSpPr/>
          <p:nvPr/>
        </p:nvSpPr>
        <p:spPr>
          <a:xfrm>
            <a:off x="5476856" y="2338964"/>
            <a:ext cx="3238491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방향 정확도의 한계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5476856" y="2522916"/>
            <a:ext cx="3238491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 모델이 51~54% 수준을 기록하며 단기 주가 예측의 근본적인 난이도를 시사합니다.</a:t>
            </a:r>
            <a:endParaRPr lang="en-US" sz="750" dirty="0"/>
          </a:p>
        </p:txBody>
      </p:sp>
      <p:sp>
        <p:nvSpPr>
          <p:cNvPr id="11" name="Shape 7"/>
          <p:cNvSpPr/>
          <p:nvPr/>
        </p:nvSpPr>
        <p:spPr>
          <a:xfrm>
            <a:off x="428625" y="3565317"/>
            <a:ext cx="2419080" cy="275034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2" name="Shape 8"/>
          <p:cNvSpPr/>
          <p:nvPr/>
        </p:nvSpPr>
        <p:spPr>
          <a:xfrm>
            <a:off x="428625" y="3826064"/>
            <a:ext cx="2419080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9"/>
          <p:cNvSpPr/>
          <p:nvPr/>
        </p:nvSpPr>
        <p:spPr>
          <a:xfrm>
            <a:off x="428625" y="3565317"/>
            <a:ext cx="241908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모델명</a:t>
            </a:r>
            <a:endParaRPr lang="en-US" sz="650" dirty="0"/>
          </a:p>
        </p:txBody>
      </p:sp>
      <p:sp>
        <p:nvSpPr>
          <p:cNvPr id="14" name="Shape 10"/>
          <p:cNvSpPr/>
          <p:nvPr/>
        </p:nvSpPr>
        <p:spPr>
          <a:xfrm>
            <a:off x="2847705" y="3565317"/>
            <a:ext cx="1401570" cy="275034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5" name="Shape 11"/>
          <p:cNvSpPr/>
          <p:nvPr/>
        </p:nvSpPr>
        <p:spPr>
          <a:xfrm>
            <a:off x="2847705" y="3826064"/>
            <a:ext cx="1401570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2"/>
          <p:cNvSpPr/>
          <p:nvPr/>
        </p:nvSpPr>
        <p:spPr>
          <a:xfrm>
            <a:off x="2847705" y="3565317"/>
            <a:ext cx="140157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MAE (%)</a:t>
            </a:r>
            <a:endParaRPr lang="en-US" sz="650" dirty="0"/>
          </a:p>
        </p:txBody>
      </p:sp>
      <p:sp>
        <p:nvSpPr>
          <p:cNvPr id="17" name="Shape 13"/>
          <p:cNvSpPr/>
          <p:nvPr/>
        </p:nvSpPr>
        <p:spPr>
          <a:xfrm>
            <a:off x="4249276" y="3565317"/>
            <a:ext cx="1512410" cy="275034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8" name="Shape 14"/>
          <p:cNvSpPr/>
          <p:nvPr/>
        </p:nvSpPr>
        <p:spPr>
          <a:xfrm>
            <a:off x="4249276" y="3826064"/>
            <a:ext cx="1512410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5"/>
          <p:cNvSpPr/>
          <p:nvPr/>
        </p:nvSpPr>
        <p:spPr>
          <a:xfrm>
            <a:off x="4249276" y="3565317"/>
            <a:ext cx="151241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RMSE (%)</a:t>
            </a:r>
            <a:endParaRPr lang="en-US" sz="650" dirty="0"/>
          </a:p>
        </p:txBody>
      </p:sp>
      <p:sp>
        <p:nvSpPr>
          <p:cNvPr id="20" name="Shape 16"/>
          <p:cNvSpPr/>
          <p:nvPr/>
        </p:nvSpPr>
        <p:spPr>
          <a:xfrm>
            <a:off x="5761686" y="3565317"/>
            <a:ext cx="1579718" cy="275034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1" name="Shape 17"/>
          <p:cNvSpPr/>
          <p:nvPr/>
        </p:nvSpPr>
        <p:spPr>
          <a:xfrm>
            <a:off x="5761686" y="3826064"/>
            <a:ext cx="1579718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18"/>
          <p:cNvSpPr/>
          <p:nvPr/>
        </p:nvSpPr>
        <p:spPr>
          <a:xfrm>
            <a:off x="5761686" y="3565317"/>
            <a:ext cx="1579718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방향 정확도</a:t>
            </a:r>
            <a:endParaRPr lang="en-US" sz="650" dirty="0"/>
          </a:p>
        </p:txBody>
      </p:sp>
      <p:sp>
        <p:nvSpPr>
          <p:cNvPr id="23" name="Shape 19"/>
          <p:cNvSpPr/>
          <p:nvPr/>
        </p:nvSpPr>
        <p:spPr>
          <a:xfrm>
            <a:off x="7341403" y="3565317"/>
            <a:ext cx="1373944" cy="275034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4" name="Shape 20"/>
          <p:cNvSpPr/>
          <p:nvPr/>
        </p:nvSpPr>
        <p:spPr>
          <a:xfrm>
            <a:off x="7341403" y="3826064"/>
            <a:ext cx="1373944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1"/>
          <p:cNvSpPr/>
          <p:nvPr/>
        </p:nvSpPr>
        <p:spPr>
          <a:xfrm>
            <a:off x="7341403" y="3565317"/>
            <a:ext cx="1373944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학습 시간</a:t>
            </a:r>
            <a:endParaRPr lang="en-US" sz="650" dirty="0"/>
          </a:p>
        </p:txBody>
      </p:sp>
      <p:sp>
        <p:nvSpPr>
          <p:cNvPr id="26" name="Text 22"/>
          <p:cNvSpPr/>
          <p:nvPr/>
        </p:nvSpPr>
        <p:spPr>
          <a:xfrm>
            <a:off x="542925" y="3920412"/>
            <a:ext cx="26253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4A556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LSTM</a:t>
            </a:r>
            <a:endParaRPr lang="en-US" sz="650" dirty="0"/>
          </a:p>
        </p:txBody>
      </p:sp>
      <p:sp>
        <p:nvSpPr>
          <p:cNvPr id="27" name="Shape 23"/>
          <p:cNvSpPr/>
          <p:nvPr/>
        </p:nvSpPr>
        <p:spPr>
          <a:xfrm>
            <a:off x="889397" y="3925770"/>
            <a:ext cx="271463" cy="116086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4"/>
          <p:cNvSpPr/>
          <p:nvPr/>
        </p:nvSpPr>
        <p:spPr>
          <a:xfrm>
            <a:off x="889397" y="3925770"/>
            <a:ext cx="271463" cy="116086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t">
            <a:spAutoFit/>
          </a:bodyPr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BEST</a:t>
            </a:r>
            <a:endParaRPr lang="en-US" sz="500" dirty="0"/>
          </a:p>
        </p:txBody>
      </p:sp>
      <p:sp>
        <p:nvSpPr>
          <p:cNvPr id="29" name="Text 25"/>
          <p:cNvSpPr/>
          <p:nvPr/>
        </p:nvSpPr>
        <p:spPr>
          <a:xfrm>
            <a:off x="2847705" y="3842724"/>
            <a:ext cx="1401570" cy="271463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2.8 ~ 3.5</a:t>
            </a:r>
            <a:endParaRPr lang="en-US" sz="650" dirty="0"/>
          </a:p>
        </p:txBody>
      </p:sp>
      <p:sp>
        <p:nvSpPr>
          <p:cNvPr id="30" name="Text 26"/>
          <p:cNvSpPr/>
          <p:nvPr/>
        </p:nvSpPr>
        <p:spPr>
          <a:xfrm>
            <a:off x="4249276" y="3842724"/>
            <a:ext cx="1512410" cy="271463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 ~ 5.2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5761686" y="3842724"/>
            <a:ext cx="1579718" cy="271463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 ~ 54 %</a:t>
            </a:r>
            <a:endParaRPr lang="en-US" sz="650" dirty="0"/>
          </a:p>
        </p:txBody>
      </p:sp>
      <p:sp>
        <p:nvSpPr>
          <p:cNvPr id="32" name="Text 28"/>
          <p:cNvSpPr/>
          <p:nvPr/>
        </p:nvSpPr>
        <p:spPr>
          <a:xfrm>
            <a:off x="7341403" y="3842724"/>
            <a:ext cx="1373944" cy="271463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~15분</a:t>
            </a:r>
            <a:endParaRPr lang="en-US" sz="650" dirty="0"/>
          </a:p>
        </p:txBody>
      </p:sp>
      <p:sp>
        <p:nvSpPr>
          <p:cNvPr id="33" name="Text 29"/>
          <p:cNvSpPr/>
          <p:nvPr/>
        </p:nvSpPr>
        <p:spPr>
          <a:xfrm>
            <a:off x="428625" y="4114186"/>
            <a:ext cx="241908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XGBoost</a:t>
            </a:r>
            <a:endParaRPr lang="en-US" sz="650" dirty="0"/>
          </a:p>
        </p:txBody>
      </p:sp>
      <p:sp>
        <p:nvSpPr>
          <p:cNvPr id="34" name="Text 30"/>
          <p:cNvSpPr/>
          <p:nvPr/>
        </p:nvSpPr>
        <p:spPr>
          <a:xfrm>
            <a:off x="2847705" y="4114186"/>
            <a:ext cx="140157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 ~ 3.7</a:t>
            </a:r>
            <a:endParaRPr lang="en-US" sz="650" dirty="0"/>
          </a:p>
        </p:txBody>
      </p:sp>
      <p:sp>
        <p:nvSpPr>
          <p:cNvPr id="35" name="Text 31"/>
          <p:cNvSpPr/>
          <p:nvPr/>
        </p:nvSpPr>
        <p:spPr>
          <a:xfrm>
            <a:off x="4249276" y="4114186"/>
            <a:ext cx="151241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 ~ 5.3</a:t>
            </a:r>
            <a:endParaRPr lang="en-US" sz="650" dirty="0"/>
          </a:p>
        </p:txBody>
      </p:sp>
      <p:sp>
        <p:nvSpPr>
          <p:cNvPr id="36" name="Text 32"/>
          <p:cNvSpPr/>
          <p:nvPr/>
        </p:nvSpPr>
        <p:spPr>
          <a:xfrm>
            <a:off x="5761686" y="4114186"/>
            <a:ext cx="1579718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~ 53 %</a:t>
            </a:r>
            <a:endParaRPr lang="en-US" sz="650" dirty="0"/>
          </a:p>
        </p:txBody>
      </p:sp>
      <p:sp>
        <p:nvSpPr>
          <p:cNvPr id="37" name="Text 33"/>
          <p:cNvSpPr/>
          <p:nvPr/>
        </p:nvSpPr>
        <p:spPr>
          <a:xfrm>
            <a:off x="7341403" y="4114186"/>
            <a:ext cx="1373944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~45초</a:t>
            </a:r>
            <a:endParaRPr lang="en-US" sz="650" dirty="0"/>
          </a:p>
        </p:txBody>
      </p:sp>
      <p:sp>
        <p:nvSpPr>
          <p:cNvPr id="38" name="Text 34"/>
          <p:cNvSpPr/>
          <p:nvPr/>
        </p:nvSpPr>
        <p:spPr>
          <a:xfrm>
            <a:off x="428625" y="4389220"/>
            <a:ext cx="241908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Random Forest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2847705" y="4389220"/>
            <a:ext cx="140157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 ~ 3.8</a:t>
            </a:r>
            <a:endParaRPr lang="en-US" sz="650" dirty="0"/>
          </a:p>
        </p:txBody>
      </p:sp>
      <p:sp>
        <p:nvSpPr>
          <p:cNvPr id="40" name="Text 36"/>
          <p:cNvSpPr/>
          <p:nvPr/>
        </p:nvSpPr>
        <p:spPr>
          <a:xfrm>
            <a:off x="4249276" y="4389220"/>
            <a:ext cx="151241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 ~ 5.5</a:t>
            </a:r>
            <a:endParaRPr lang="en-US" sz="650" dirty="0"/>
          </a:p>
        </p:txBody>
      </p:sp>
      <p:sp>
        <p:nvSpPr>
          <p:cNvPr id="41" name="Text 37"/>
          <p:cNvSpPr/>
          <p:nvPr/>
        </p:nvSpPr>
        <p:spPr>
          <a:xfrm>
            <a:off x="5761686" y="4389220"/>
            <a:ext cx="1579718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~ 53 %</a:t>
            </a:r>
            <a:endParaRPr lang="en-US" sz="650" dirty="0"/>
          </a:p>
        </p:txBody>
      </p:sp>
      <p:sp>
        <p:nvSpPr>
          <p:cNvPr id="42" name="Text 38"/>
          <p:cNvSpPr/>
          <p:nvPr/>
        </p:nvSpPr>
        <p:spPr>
          <a:xfrm>
            <a:off x="7341403" y="4389220"/>
            <a:ext cx="1373944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~30초</a:t>
            </a:r>
            <a:endParaRPr lang="en-US" sz="650" dirty="0"/>
          </a:p>
        </p:txBody>
      </p:sp>
      <p:sp>
        <p:nvSpPr>
          <p:cNvPr id="43" name="Text 39"/>
          <p:cNvSpPr/>
          <p:nvPr/>
        </p:nvSpPr>
        <p:spPr>
          <a:xfrm>
            <a:off x="428625" y="4664255"/>
            <a:ext cx="241908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선형 회귀 (Baseline)</a:t>
            </a:r>
            <a:endParaRPr lang="en-US" sz="650" dirty="0"/>
          </a:p>
        </p:txBody>
      </p:sp>
      <p:sp>
        <p:nvSpPr>
          <p:cNvPr id="44" name="Text 40"/>
          <p:cNvSpPr/>
          <p:nvPr/>
        </p:nvSpPr>
        <p:spPr>
          <a:xfrm>
            <a:off x="2847705" y="4664255"/>
            <a:ext cx="140157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 ~ 4.1</a:t>
            </a:r>
            <a:endParaRPr lang="en-US" sz="650" dirty="0"/>
          </a:p>
        </p:txBody>
      </p:sp>
      <p:sp>
        <p:nvSpPr>
          <p:cNvPr id="45" name="Text 41"/>
          <p:cNvSpPr/>
          <p:nvPr/>
        </p:nvSpPr>
        <p:spPr>
          <a:xfrm>
            <a:off x="4249276" y="4664255"/>
            <a:ext cx="151241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4.8 ~ 5.9</a:t>
            </a:r>
            <a:endParaRPr lang="en-US" sz="650" dirty="0"/>
          </a:p>
        </p:txBody>
      </p:sp>
      <p:sp>
        <p:nvSpPr>
          <p:cNvPr id="46" name="Text 42"/>
          <p:cNvSpPr/>
          <p:nvPr/>
        </p:nvSpPr>
        <p:spPr>
          <a:xfrm>
            <a:off x="5761686" y="4664255"/>
            <a:ext cx="1579718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 ~ 51 %</a:t>
            </a:r>
            <a:endParaRPr lang="en-US" sz="650" dirty="0"/>
          </a:p>
        </p:txBody>
      </p:sp>
      <p:sp>
        <p:nvSpPr>
          <p:cNvPr id="47" name="Text 43"/>
          <p:cNvSpPr/>
          <p:nvPr/>
        </p:nvSpPr>
        <p:spPr>
          <a:xfrm>
            <a:off x="7341403" y="4664255"/>
            <a:ext cx="1373944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 1초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10 2025년 실전 검증: 일반화 성능의 입증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656736"/>
            <a:ext cx="31432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VALIDATION DESIGN</a:t>
            </a:r>
            <a:endParaRPr lang="en-US" sz="700" dirty="0"/>
          </a:p>
        </p:txBody>
      </p:sp>
      <p:sp>
        <p:nvSpPr>
          <p:cNvPr id="5" name="Text 2"/>
          <p:cNvSpPr/>
          <p:nvPr/>
        </p:nvSpPr>
        <p:spPr>
          <a:xfrm>
            <a:off x="428625" y="1892480"/>
            <a:ext cx="48220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검증 기간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2223492" y="1892480"/>
            <a:ext cx="1348383" cy="1268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marL="0" indent="0" algn="l">
              <a:buNone/>
              <a:defRPr/>
            </a:pPr>
            <a:r>
              <a:rPr lang="en-US" sz="850">
                <a:solidFill>
                  <a:srgbClr val="4a5568"/>
                </a:solidFill>
                <a:latin typeface="Inter"/>
                <a:ea typeface="Inter"/>
                <a:cs typeface="Inter"/>
              </a:rPr>
              <a:t>2025.01.02 ~ 2025.</a:t>
            </a:r>
            <a:r>
              <a:rPr lang="en-US" altLang="ko-KR" sz="850">
                <a:solidFill>
                  <a:srgbClr val="4a5568"/>
                </a:solidFill>
                <a:latin typeface="Inter"/>
                <a:ea typeface="Inter"/>
                <a:cs typeface="Inter"/>
              </a:rPr>
              <a:t>12</a:t>
            </a:r>
            <a:r>
              <a:rPr lang="en-US" sz="850">
                <a:solidFill>
                  <a:srgbClr val="4a5568"/>
                </a:solidFill>
                <a:latin typeface="Inter"/>
                <a:ea typeface="Inter"/>
                <a:cs typeface="Inter"/>
              </a:rPr>
              <a:t>.</a:t>
            </a:r>
            <a:r>
              <a:rPr lang="en-US" altLang="ko-KR" sz="850">
                <a:solidFill>
                  <a:srgbClr val="4a5568"/>
                </a:solidFill>
                <a:latin typeface="Inter"/>
                <a:ea typeface="Inter"/>
                <a:cs typeface="Inter"/>
              </a:rPr>
              <a:t>31</a:t>
            </a:r>
            <a:endParaRPr lang="en-US" altLang="ko-KR" sz="850">
              <a:solidFill>
                <a:srgbClr val="4a5568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7" name="Text 4"/>
          <p:cNvSpPr/>
          <p:nvPr/>
        </p:nvSpPr>
        <p:spPr>
          <a:xfrm>
            <a:off x="428625" y="2197875"/>
            <a:ext cx="48220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검증 대상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171700" y="2197875"/>
            <a:ext cx="1400175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학습 외 20개 대형주 (OOS)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28625" y="2503270"/>
            <a:ext cx="59650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입력 데이터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2043113" y="2503270"/>
            <a:ext cx="1528763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거래일 기준 직전 60일 시퀀스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428625" y="2808666"/>
            <a:ext cx="48220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평가 지표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84189" y="2808666"/>
            <a:ext cx="1487686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MAE, 방향 정확도 (Hit Ratio)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000500" y="1656736"/>
            <a:ext cx="47148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MAE COMPARISON (TRAIN VS OOS)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4000500" y="1892480"/>
            <a:ext cx="1316738" cy="314325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모델명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5317238" y="1892480"/>
            <a:ext cx="1279764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학습셋 (2019-24)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6597002" y="1892480"/>
            <a:ext cx="1256658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2025 실전 (OOS)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7853660" y="1892480"/>
            <a:ext cx="861715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차이 (Gap)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000500" y="2206805"/>
            <a:ext cx="1316738" cy="31968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LSTM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317238" y="2206805"/>
            <a:ext cx="1279764" cy="319683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597002" y="2206805"/>
            <a:ext cx="1256658" cy="319683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7853660" y="2206805"/>
            <a:ext cx="861715" cy="319683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+0.4%p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000500" y="2526488"/>
            <a:ext cx="1316738" cy="316111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Random Forest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5317238" y="2526488"/>
            <a:ext cx="1279764" cy="31611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3.5%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97002" y="2526488"/>
            <a:ext cx="1256658" cy="31611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853660" y="2526488"/>
            <a:ext cx="861715" cy="31611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+0.4%p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4000500" y="2842599"/>
            <a:ext cx="1316738" cy="316111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XGBoost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5317238" y="2842599"/>
            <a:ext cx="1279764" cy="31611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3.3%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597002" y="2842599"/>
            <a:ext cx="1256658" cy="31611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3.8%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7853660" y="2842599"/>
            <a:ext cx="861715" cy="31611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+0.5%p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28625" y="3795703"/>
            <a:ext cx="1943100" cy="1347797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1" name="Text 28"/>
          <p:cNvSpPr/>
          <p:nvPr/>
        </p:nvSpPr>
        <p:spPr>
          <a:xfrm>
            <a:off x="571500" y="3938578"/>
            <a:ext cx="165735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방향 정확도 유지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71500" y="4179680"/>
            <a:ext cx="165735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2025년 평균 50.3~52.8%의 방향 정확도를 유지하며 랜덤 대비 우위 확보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2543175" y="3795703"/>
            <a:ext cx="1943100" cy="1347797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4" name="Text 31"/>
          <p:cNvSpPr/>
          <p:nvPr/>
        </p:nvSpPr>
        <p:spPr>
          <a:xfrm>
            <a:off x="2686050" y="3938578"/>
            <a:ext cx="165735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과적합 억제 성공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2686050" y="4179680"/>
            <a:ext cx="1657350" cy="450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학습셋 대비 MAE 증가폭이 0.5%p 미만으로 억제되어 우수한 일반화 성능 입증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4657725" y="3795703"/>
            <a:ext cx="1943100" cy="1347797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7" name="Text 34"/>
          <p:cNvSpPr/>
          <p:nvPr/>
        </p:nvSpPr>
        <p:spPr>
          <a:xfrm>
            <a:off x="4800600" y="3938578"/>
            <a:ext cx="165735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외생 이벤트 취약성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4800600" y="4179680"/>
            <a:ext cx="165735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급격한 시장 변동성 확대 구간에서는 일시적인 방향성 예측력 하락 관찰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772275" y="3795703"/>
            <a:ext cx="1943100" cy="1347797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40" name="Text 37"/>
          <p:cNvSpPr/>
          <p:nvPr/>
        </p:nvSpPr>
        <p:spPr>
          <a:xfrm>
            <a:off x="6915150" y="3938578"/>
            <a:ext cx="165735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종목별 편차 존재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6915150" y="4179680"/>
            <a:ext cx="165735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삼성전자(53.1%) 등 대형주 위주에서 상대적으로 높은 신뢰도 확인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11 백테스팅 결과: AI 신호 기반 전략의 수익성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428625" y="1544836"/>
            <a:ext cx="1964531" cy="153590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" name="Shape 2"/>
          <p:cNvSpPr/>
          <p:nvPr/>
        </p:nvSpPr>
        <p:spPr>
          <a:xfrm>
            <a:off x="428625" y="1544836"/>
            <a:ext cx="1964531" cy="28575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6" name="Text 3"/>
          <p:cNvSpPr/>
          <p:nvPr/>
        </p:nvSpPr>
        <p:spPr>
          <a:xfrm>
            <a:off x="600075" y="1716286"/>
            <a:ext cx="1621631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ANNUAL RETURN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600075" y="1923455"/>
            <a:ext cx="1621631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+8.2%</a:t>
            </a:r>
            <a:endParaRPr lang="en-US" sz="2450" dirty="0"/>
          </a:p>
        </p:txBody>
      </p:sp>
      <p:sp>
        <p:nvSpPr>
          <p:cNvPr id="8" name="Text 5"/>
          <p:cNvSpPr/>
          <p:nvPr/>
        </p:nvSpPr>
        <p:spPr>
          <a:xfrm>
            <a:off x="600075" y="2394942"/>
            <a:ext cx="1621631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전략 연평균 수익률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2536031" y="1544836"/>
            <a:ext cx="1964531" cy="153590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2536031" y="1544836"/>
            <a:ext cx="1964531" cy="28575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1" name="Text 8"/>
          <p:cNvSpPr/>
          <p:nvPr/>
        </p:nvSpPr>
        <p:spPr>
          <a:xfrm>
            <a:off x="2707481" y="1716286"/>
            <a:ext cx="1621631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ALPHA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2707481" y="1923455"/>
            <a:ext cx="1621631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+2.1%p</a:t>
            </a:r>
            <a:endParaRPr lang="en-US" sz="2450" dirty="0"/>
          </a:p>
        </p:txBody>
      </p:sp>
      <p:sp>
        <p:nvSpPr>
          <p:cNvPr id="13" name="Text 10"/>
          <p:cNvSpPr/>
          <p:nvPr/>
        </p:nvSpPr>
        <p:spPr>
          <a:xfrm>
            <a:off x="2707481" y="2394942"/>
            <a:ext cx="1621631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Buy-Hold 대비 초과수익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4643438" y="1544836"/>
            <a:ext cx="1964531" cy="153590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5" name="Shape 12"/>
          <p:cNvSpPr/>
          <p:nvPr/>
        </p:nvSpPr>
        <p:spPr>
          <a:xfrm>
            <a:off x="4643438" y="1544836"/>
            <a:ext cx="1964531" cy="28575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3"/>
          <p:cNvSpPr/>
          <p:nvPr/>
        </p:nvSpPr>
        <p:spPr>
          <a:xfrm>
            <a:off x="4814888" y="1716286"/>
            <a:ext cx="1621631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MAX DRAWDOWN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4814888" y="1923455"/>
            <a:ext cx="1621631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-18.4%</a:t>
            </a:r>
            <a:endParaRPr lang="en-US" sz="2450" dirty="0"/>
          </a:p>
        </p:txBody>
      </p:sp>
      <p:sp>
        <p:nvSpPr>
          <p:cNvPr id="18" name="Text 15"/>
          <p:cNvSpPr/>
          <p:nvPr/>
        </p:nvSpPr>
        <p:spPr>
          <a:xfrm>
            <a:off x="4814888" y="2394942"/>
            <a:ext cx="1621631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최대 낙폭 관리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750844" y="1544836"/>
            <a:ext cx="1964531" cy="153590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0" name="Shape 17"/>
          <p:cNvSpPr/>
          <p:nvPr/>
        </p:nvSpPr>
        <p:spPr>
          <a:xfrm>
            <a:off x="6750844" y="1544836"/>
            <a:ext cx="1964531" cy="28575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1" name="Text 18"/>
          <p:cNvSpPr/>
          <p:nvPr/>
        </p:nvSpPr>
        <p:spPr>
          <a:xfrm>
            <a:off x="6922294" y="1716286"/>
            <a:ext cx="1621631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SHARPE RATIO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922294" y="1923455"/>
            <a:ext cx="1621631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0.71</a:t>
            </a:r>
            <a:endParaRPr lang="en-US" sz="2450" dirty="0"/>
          </a:p>
        </p:txBody>
      </p:sp>
      <p:sp>
        <p:nvSpPr>
          <p:cNvPr id="23" name="Text 20"/>
          <p:cNvSpPr/>
          <p:nvPr/>
        </p:nvSpPr>
        <p:spPr>
          <a:xfrm>
            <a:off x="6922294" y="2394942"/>
            <a:ext cx="1621631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위험 대비 수익 효율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428625" y="3509367"/>
            <a:ext cx="3929063" cy="24110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Signal Generation Logic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28625" y="3979069"/>
            <a:ext cx="103751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매수 조건 (Score ≥ 2)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2732484" y="3979069"/>
            <a:ext cx="1625203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RSI &lt; 30 &amp; MACD Golden Cross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428625" y="4216598"/>
            <a:ext cx="108573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매도 조건 (Score ≤ -2)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2844998" y="4216598"/>
            <a:ext cx="1512689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RSI &gt; 70 &amp; MACD Dead Cross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428625" y="4454128"/>
            <a:ext cx="451842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보조 지표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3093244" y="4454128"/>
            <a:ext cx="1264444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Bollinger Band &amp; MA_20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4786313" y="3509367"/>
            <a:ext cx="3929063" cy="24110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Market Screening Results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786313" y="3893344"/>
            <a:ext cx="1262044" cy="41433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3" name="Text 30"/>
          <p:cNvSpPr/>
          <p:nvPr/>
        </p:nvSpPr>
        <p:spPr>
          <a:xfrm>
            <a:off x="4786313" y="4000500"/>
            <a:ext cx="1262044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58개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786313" y="4193381"/>
            <a:ext cx="126204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매수 신호 (2.2%)</a:t>
            </a:r>
            <a:endParaRPr lang="en-US" sz="600" dirty="0"/>
          </a:p>
        </p:txBody>
      </p:sp>
      <p:sp>
        <p:nvSpPr>
          <p:cNvPr id="35" name="Shape 32"/>
          <p:cNvSpPr/>
          <p:nvPr/>
        </p:nvSpPr>
        <p:spPr>
          <a:xfrm>
            <a:off x="6119794" y="3893344"/>
            <a:ext cx="1262072" cy="41433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6" name="Text 33"/>
          <p:cNvSpPr/>
          <p:nvPr/>
        </p:nvSpPr>
        <p:spPr>
          <a:xfrm>
            <a:off x="6119794" y="4000500"/>
            <a:ext cx="1262072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43개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119794" y="4193381"/>
            <a:ext cx="126207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매도 신호 (1.6%)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7453303" y="3893344"/>
            <a:ext cx="1262072" cy="41433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9" name="Text 36"/>
          <p:cNvSpPr/>
          <p:nvPr/>
        </p:nvSpPr>
        <p:spPr>
          <a:xfrm>
            <a:off x="7453303" y="4000500"/>
            <a:ext cx="1262072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54.3%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453303" y="4173736"/>
            <a:ext cx="126207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전략 승률</a:t>
            </a:r>
            <a:endParaRPr lang="en-US" sz="600" dirty="0"/>
          </a:p>
        </p:txBody>
      </p:sp>
      <p:sp>
        <p:nvSpPr>
          <p:cNvPr id="41" name="Text 38"/>
          <p:cNvSpPr/>
          <p:nvPr/>
        </p:nvSpPr>
        <p:spPr>
          <a:xfrm>
            <a:off x="4786313" y="4450556"/>
            <a:ext cx="3929063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KOSPI/KOSDAQ 2,700여 종목 대상 실시간 스크리닝 결과 기반</a:t>
            </a:r>
            <a:r>
              <a:rPr lang="en-US" sz="7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7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삼성전자 단일 종목 백테스팅 시 Buy-Hold 대비 우수한 방어력 입증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05 결론 및 향후 과제: 모델 고도화 방향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227525"/>
            <a:ext cx="3929063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PROJECT SUMMARY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28625" y="1591856"/>
            <a:ext cx="39290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효율적 데이터 파이프라인 구축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28625" y="1820456"/>
            <a:ext cx="39290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층화 샘플링을 통해 전 종목 학습의 메모리 한계를 극복하고, 시장 규모별 패턴을 고르게 학습하는 범용 모델의 기반을 마련했습니다.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28625" y="2320519"/>
            <a:ext cx="39290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모델별 특성 및 우위 확인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28625" y="2549119"/>
            <a:ext cx="39290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LSTM의 시계열 패턴 인식 우수성과 트리 기반 모델의 빠른 학습 및 해석 가능성이라는 상호 보완적 강점을 확인했습니다.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28625" y="3049181"/>
            <a:ext cx="39290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실전 검증을 통한 신뢰성 확보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28625" y="3277781"/>
            <a:ext cx="39290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2025년 OOS 데이터를 활용한 검증 결과, 학습 외 기간에서도 안정적인 방향 정확도를 유지하며 모델의 일반화 성능을 입증했습니다.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786313" y="1227525"/>
            <a:ext cx="3929063" cy="3172411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2" name="Text 9"/>
          <p:cNvSpPr/>
          <p:nvPr/>
        </p:nvSpPr>
        <p:spPr>
          <a:xfrm>
            <a:off x="4872038" y="1313250"/>
            <a:ext cx="3757613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872038" y="1611502"/>
            <a:ext cx="732234" cy="148233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4872038" y="1611502"/>
            <a:ext cx="732234" cy="148233"/>
          </a:xfrm>
          <a:prstGeom prst="rect">
            <a:avLst/>
          </a:prstGeom>
          <a:noFill/>
          <a:ln/>
        </p:spPr>
        <p:txBody>
          <a:bodyPr wrap="none" lIns="85090" tIns="25527" rIns="85090" bIns="25527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ROBUSTNESS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4872038" y="1816884"/>
            <a:ext cx="37576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거시경제 지표 및 외부 변수 추가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872038" y="2045484"/>
            <a:ext cx="37576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금리, 환율, 산업별 인덱스 등 거시 지표를 모델 입력에 추가하여 시장 국면 변화에 대한 강건성을 확보할 예정입니다.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872038" y="2479467"/>
            <a:ext cx="762595" cy="148233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5"/>
          <p:cNvSpPr/>
          <p:nvPr/>
        </p:nvSpPr>
        <p:spPr>
          <a:xfrm>
            <a:off x="4872038" y="2479467"/>
            <a:ext cx="762595" cy="148233"/>
          </a:xfrm>
          <a:prstGeom prst="rect">
            <a:avLst/>
          </a:prstGeom>
          <a:noFill/>
          <a:ln/>
        </p:spPr>
        <p:txBody>
          <a:bodyPr wrap="none" lIns="85090" tIns="25527" rIns="85090" bIns="25527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INTELLIGENCE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4872038" y="2684850"/>
            <a:ext cx="37576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멀티모달 및 NLP 데이터 결합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872038" y="2913450"/>
            <a:ext cx="37576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뉴스 감성 및 재무 데이터를 시계열과 결합해 정성적 정보 부재 문제를 해결하는 하이브리드 모델을 구축합니다.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872038" y="3347433"/>
            <a:ext cx="609005" cy="148233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2" name="Text 19"/>
          <p:cNvSpPr/>
          <p:nvPr/>
        </p:nvSpPr>
        <p:spPr>
          <a:xfrm>
            <a:off x="4872038" y="3347433"/>
            <a:ext cx="609005" cy="148233"/>
          </a:xfrm>
          <a:prstGeom prst="rect">
            <a:avLst/>
          </a:prstGeom>
          <a:noFill/>
          <a:ln/>
        </p:spPr>
        <p:txBody>
          <a:bodyPr wrap="none" lIns="85090" tIns="25527" rIns="85090" bIns="25527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STRATEGY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4872038" y="3552816"/>
            <a:ext cx="37576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강화학습 기반 트레이딩 에이전트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872038" y="3781416"/>
            <a:ext cx="37576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시장 상황에 따라 동적으로 포지션 비중과 매매 임계값을 조절하는 RL 기반 지능형 트레이딩 시스템을 도입할 계획입니다.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0" y="4485661"/>
            <a:ext cx="9144000" cy="65783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0" y="4485661"/>
            <a:ext cx="9144000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4"/>
          <p:cNvSpPr/>
          <p:nvPr/>
        </p:nvSpPr>
        <p:spPr>
          <a:xfrm>
            <a:off x="428625" y="4580930"/>
            <a:ext cx="828675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"All models are wrong, but some are useful."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28625" y="4811316"/>
            <a:ext cx="8286750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— George E. P. Box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A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AA817"/>
                </a:solidFill>
              </a:rPr>
              <a:t>선형 계열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73152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</a:rPr>
              <a:t>선형 회귀 (Linear Regression)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8521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가장 단순한 예측 공식 — 다른 모델 성능의 기준선(Baseline) 역할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7315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E293B"/>
                </a:solidFill>
              </a:rPr>
              <a:t>10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05840"/>
            <a:ext cx="91440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05156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AA817"/>
                </a:solidFill>
              </a:rPr>
              <a:t>한 줄 요약   |   "각 지표에 가중치를 곱해 더하면 등락률이 나온다"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비유로 이해하기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48256"/>
            <a:ext cx="3977639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키와 몸무게의 관계처럼,
"RSI가 1 오르면 등락률 0.03% 변화"
이런 공식을 데이터에서 자동으로 찾습니다.
수만 개의 과거 날짜를 보면서
"어떤 가중치 조합이 정답에 가장
 가까운지"를 계산합니다.
예:  y = 0.03×RSI + 0.02×MACD
       + 0.01×거래량 + 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7448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어떻게 작동하나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48256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11개 지표 각각에 가중치를 부여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2450592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가중치×지표를 모두 더함 = 예측값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85292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오차를 최소화하는 가중치를 학습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가중치를 보면 어떤 지표가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365760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   중요한지 바로 알 수 있음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4370832"/>
            <a:ext cx="4251960" cy="1664208"/>
          </a:xfrm>
          <a:prstGeom prst="rect">
            <a:avLst/>
          </a:prstGeom>
          <a:solidFill>
            <a:srgbClr val="102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</a:rPr>
              <a:t>✅  장점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학습 시간 0.1초 미만 — 9개 중 가장 빠름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가중치를 보면 지표별 영향력 즉시 파악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다른 모델의 성능 비교 기준선 역할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27448" y="4370832"/>
            <a:ext cx="4251960" cy="1664208"/>
          </a:xfrm>
          <a:prstGeom prst="rect">
            <a:avLst/>
          </a:prstGeom>
          <a:solidFill>
            <a:srgbClr val="26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</a:rPr>
              <a:t>⚠  단점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"RSI 높고 거래량 급증" 같은 조합 효과 미반영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비선형 복잡한 시장 패턴 표현 한계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규제 없으면 과적합 위험 (→ Ridge/Lasso)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199632"/>
            <a:ext cx="9144000" cy="201168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217920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주식 등락률 예측 AI 모델 개발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2179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10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A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AA817"/>
                </a:solidFill>
              </a:rPr>
              <a:t>선형 계열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73152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</a:rPr>
              <a:t>Ridge 회귀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8521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선형 회귀 + "너무 극단적인 답을 내지 마" 제약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7315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E293B"/>
                </a:solidFill>
              </a:rPr>
              <a:t>11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05840"/>
            <a:ext cx="91440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05156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AA817"/>
                </a:solidFill>
              </a:rPr>
              <a:t>한 줄 요약   |   "모든 가중치를 조금씩 줄여 안정적인 예측을 만든다"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비유로 이해하기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48256"/>
            <a:ext cx="3977639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"답안을 너무 극단적으로 쓰지 마세요"
라는 채점 규정을 상상해 보세요.
선형 회귀는 가중치가 지나치게 클 수 있어요.
→ "이 지표가 무조건 1,000% 중요해!"
Ridge는 가중치가 커질수록 페널티를 주어
"모든 지표를 균형 있게 활용"하도록 합니다.
Alpha(α)가 클수록 가중치를 더 강하게 억제
→ 탐색 결과: α = 0.1 선택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7448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어떻게 작동하나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48256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선형 회귀처럼 가중치 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2450592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가중치² 합산에 페널티 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85292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Alpha(α)로 페널티 강도 조절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모든 가중치를 0이 아닌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365760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   작은 값으로 유지 (완전 제거 X)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4370832"/>
            <a:ext cx="4251960" cy="1664208"/>
          </a:xfrm>
          <a:prstGeom prst="rect">
            <a:avLst/>
          </a:prstGeom>
          <a:solidFill>
            <a:srgbClr val="102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</a:rPr>
              <a:t>✅  장점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과적합 방지 — 선형 회귀보다 안정적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모든 지표를 균형 있게 조금씩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학습 시간 1초 미만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27448" y="4370832"/>
            <a:ext cx="4251960" cy="1664208"/>
          </a:xfrm>
          <a:prstGeom prst="rect">
            <a:avLst/>
          </a:prstGeom>
          <a:solidFill>
            <a:srgbClr val="26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</a:rPr>
              <a:t>⚠  단점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불필요한 지표도 완전히 제거하지 않음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Alpha 최적값을 별도 탐색해야 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비선형 관계 표현 불가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199632"/>
            <a:ext cx="9144000" cy="201168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217920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주식 등락률 예측 AI 모델 개발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2179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11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A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AA817"/>
                </a:solidFill>
              </a:rPr>
              <a:t>선형 계열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73152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</a:rPr>
              <a:t>Lasso 회귀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8521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중요하지 않은 지표를 완전히 0으로 만들어 자동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7315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E293B"/>
                </a:solidFill>
              </a:rPr>
              <a:t>12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05840"/>
            <a:ext cx="91440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05156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AA817"/>
                </a:solidFill>
              </a:rPr>
              <a:t>한 줄 요약   |   "불필요한 지표를 자동으로 걸러내 진짜 중요한 것만 남긴다"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비유로 이해하기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48256"/>
            <a:ext cx="3977639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11명이 투자 의견을 말하는데,
"설득력 없는 의견은 아예 발언권 0으로"
만드는 사회자를 상상해 보세요.
Ridge: 11명 모두 발언, 극단적 주장만 줄임
Lasso: 핵심 멤버만 남기고 나머지 침묵
→ Lasso 결과: 예측에 중요한 지표만 남고
   나머지 가중치가 정확히 0이 됩니다.
→ 탐색 결과: α = 0.001 선택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7448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어떻게 작동하나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48256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선형 회귀처럼 가중치 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2450592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가중치 절댓값 합산에 페널티 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85292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페널티가 강해지면 일부 가중치 →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가중치 0인 지표 = 예측에 불필요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365760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   → 자동으로 변수 선택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4370832"/>
            <a:ext cx="4251960" cy="1664208"/>
          </a:xfrm>
          <a:prstGeom prst="rect">
            <a:avLst/>
          </a:prstGeom>
          <a:solidFill>
            <a:srgbClr val="102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</a:rPr>
              <a:t>✅  장점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자동 변수 선택 — 중요한 지표가 무엇인지 밝힘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불필요한 지표를 완전 제거해 모델 단순화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과적합 방지 + 해석 가능성 동시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27448" y="4370832"/>
            <a:ext cx="4251960" cy="1664208"/>
          </a:xfrm>
          <a:prstGeom prst="rect">
            <a:avLst/>
          </a:prstGeom>
          <a:solidFill>
            <a:srgbClr val="26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</a:rPr>
              <a:t>⚠  단점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상관관계 높은 지표 중 하나를 임의 제거 가능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Alpha가 너무 크면 모든 가중치가 0이 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비선형 관계 표현 불가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199632"/>
            <a:ext cx="9144000" cy="201168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217920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주식 등락률 예측 AI 모델 개발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2179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12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A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AA817"/>
                </a:solidFill>
              </a:rPr>
              <a:t>선형 계열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73152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</a:rPr>
              <a:t>ElasticNet 회귀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8521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Ridge + Lasso를 섞은 하이브리드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7315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E293B"/>
                </a:solidFill>
              </a:rPr>
              <a:t>13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05840"/>
            <a:ext cx="91440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05156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AA817"/>
                </a:solidFill>
              </a:rPr>
              <a:t>한 줄 요약   |   "Ridge의 안정성 + Lasso의 변수 선택을 동시에 얻는다"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비유로 이해하기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48256"/>
            <a:ext cx="3977639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두 가지 다이어트 방법이 있다고 해요.
Ridge식: 모든 음식을 조금씩 줄이기
Lasso식: 나쁜 음식은 완전히 끊기
ElasticNet은 "둘을 반반씩" 하는 방식.
l1_ratio = 0.5
→ Ridge 50% + Lasso 50% 동시 적용
→ 탐색 결과: α=0.001, l1_ratio=0.5 선택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7448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어떻게 작동하나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48256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Ridge 페널티 + Lasso 페널티 동시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2450592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l1_ratio로 두 방식의 비율 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85292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일부 계수 → 0 (Lasso 효과)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나머지 계수는 고르게 억제 (Ridge 효과)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365760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⑤ 두 하이퍼파라미터(α, l1_ratio) 탐색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4370832"/>
            <a:ext cx="4251960" cy="1664208"/>
          </a:xfrm>
          <a:prstGeom prst="rect">
            <a:avLst/>
          </a:prstGeom>
          <a:solidFill>
            <a:srgbClr val="102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</a:rPr>
              <a:t>✅  장점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Ridge + Lasso 장점 동시에 누림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지표 간 상관관계가 높을 때 특히 효과적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가장 유연한 선형 모델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27448" y="4370832"/>
            <a:ext cx="4251960" cy="1664208"/>
          </a:xfrm>
          <a:prstGeom prst="rect">
            <a:avLst/>
          </a:prstGeom>
          <a:solidFill>
            <a:srgbClr val="26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</a:rPr>
              <a:t>⚠  단점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탐색해야 할 하이퍼파라미터가 2개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Ridge나 Lasso보다 해석이 약간 복잡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비선형 관계 표현 불가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199632"/>
            <a:ext cx="9144000" cy="201168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217920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주식 등락률 예측 AI 모델 개발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2179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13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78BFA"/>
                </a:solidFill>
              </a:rPr>
              <a:t>트리 계열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73152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</a:rPr>
              <a:t>결정 트리 (Decision Tree)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8521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조건 분기를 반복해 예측하는 규칙 기반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7315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E293B"/>
                </a:solidFill>
              </a:rPr>
              <a:t>14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05840"/>
            <a:ext cx="91440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05156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78BFA"/>
                </a:solidFill>
              </a:rPr>
              <a:t>한 줄 요약   |   "RSI가 낮고 거래량이 높으면 상승" — 사람이 읽을 수 있는 규칙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</a:rPr>
              <a:t>비유로 이해하기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48256"/>
            <a:ext cx="3977639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병원 응급실 환자 분류를 떠올려 보세요.
"체온 &gt; 38도?"
  Yes → "혈압 정상?"
          No → "즉시 입원"
주식도 마찬가지:
"RSI &lt; 30?" (과매도)
  Yes → "거래량 급증?"
          Yes → "상승 +2.3% 예측"
max_depth=8: 분기를 8번으로 제한
→ 너무 깊어지면 훈련 데이터만 외움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7448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</a:rPr>
              <a:t>어떻게 작동하나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48256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어떤 지표를 어떤 기준으로 나눌지 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2450592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나눌 때마다 오차가 가장 줄어드는 분기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85292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max_depth=8 에서 분기 중단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마지막 그룹(Leaf)의 평균 = 예측값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365760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⑤ 규칙을 출력하면 사람이 직접 읽기 가능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4370832"/>
            <a:ext cx="4251960" cy="1664208"/>
          </a:xfrm>
          <a:prstGeom prst="rect">
            <a:avLst/>
          </a:prstGeom>
          <a:solidFill>
            <a:srgbClr val="102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</a:rPr>
              <a:t>✅  장점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예측 규칙을 직접 읽을 수 있어 해석성 최고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데이터 전처리(정규화 등) 불필요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비선형 관계 및 지표 간 조합 포착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27448" y="4370832"/>
            <a:ext cx="4251960" cy="1664208"/>
          </a:xfrm>
          <a:prstGeom prst="rect">
            <a:avLst/>
          </a:prstGeom>
          <a:solidFill>
            <a:srgbClr val="26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</a:rPr>
              <a:t>⚠  단점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깊어질수록 훈련 데이터를 외워버림 (과적합)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9개 모델 중 2025년 실전 과적합 갭 가장 큼 (+0.7%p)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RF/XGB보다 성능 낮음 (트리 1개의 한계)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199632"/>
            <a:ext cx="9144000" cy="201168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217920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주식 등락률 예측 AI 모델 개발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2179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14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2D3EE"/>
                </a:solidFill>
              </a:rPr>
              <a:t>거리 기반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73152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</a:rPr>
              <a:t>KNN 회귀 (K-Nearest Neighbors)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8521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"오늘과 가장 비슷했던 과거 날들의 결과 평균" = 예측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7315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E293B"/>
                </a:solidFill>
              </a:rPr>
              <a:t>15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05840"/>
            <a:ext cx="91440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05156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D3EE"/>
                </a:solidFill>
              </a:rPr>
              <a:t>한 줄 요약   |   "오늘 날씨 같은 날 다음엔 어땠지?" — 유사한 과거 k개를 참조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</a:rPr>
              <a:t>비유로 이해하기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48256"/>
            <a:ext cx="3977639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동네 부동산 가격 예측을 생각해 보세요.
"이 집과 비슷한 집 20채를 찾아보자.
 그 집들의 실거래가 평균이 이 집 가격."
주식도 마찬가지:
오늘: RSI=42, 거래량=1.2배, MACD=0.3...
→ 과거에 이런 상황이었던 날 20개 검색
→ 그 날들의 5일 후 등락률 평균 = 예측
k=20: 가장 비슷한 20개 날 참조
(탐색에서 k=20일 때 MAE 최소)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7448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</a:rPr>
              <a:t>어떻게 작동하나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48256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학습 = 훈련 데이터를 통째로 저장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2450592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예측 = 오늘과 거리 가장 가까운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85292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   k=20개 날 탐색 (11개 지표 기준)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20개 날의 5일 후 등락률 평균 = 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365760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데이터 많을수록 참조 후보 증가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4370832"/>
            <a:ext cx="4251960" cy="1664208"/>
          </a:xfrm>
          <a:prstGeom prst="rect">
            <a:avLst/>
          </a:prstGeom>
          <a:solidFill>
            <a:srgbClr val="102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</a:rPr>
              <a:t>✅  장점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학습 과정 없음 — 즉시 사용 가능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"비슷한 과거 = 비슷한 미래" 직관적 원리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데이터 추가만 하면 자동으로 모델 개선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27448" y="4370832"/>
            <a:ext cx="4251960" cy="1664208"/>
          </a:xfrm>
          <a:prstGeom prst="rect">
            <a:avLst/>
          </a:prstGeom>
          <a:solidFill>
            <a:srgbClr val="26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</a:rPr>
              <a:t>⚠  단점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예측마다 전체 훈련 데이터 탐색 → 느림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11개 지표가 모두 동등하게 취급됨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지표 수가 늘면 거리 의미 희석 (차원의 저주)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199632"/>
            <a:ext cx="9144000" cy="201168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217920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주식 등락률 예측 AI 모델 개발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2179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15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1321</ep:Words>
  <ep:PresentationFormat>On-screen Show (16:9)</ep:PresentationFormat>
  <ep:Paragraphs>309</ep:Paragraphs>
  <ep:Slides>12</ep:Slides>
  <ep:Notes>12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ep:HeadingPairs>
  <ep:TitlesOfParts>
    <vt:vector size="13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2026-04-26T07:30:16.000</dcterms:created>
  <dc:creator>PptxGenJS</dc:creator>
  <cp:lastModifiedBy>KimSoonHa</cp:lastModifiedBy>
  <dcterms:modified xsi:type="dcterms:W3CDTF">2026-04-26T07:39:17.297</dcterms:modified>
  <cp:revision>2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